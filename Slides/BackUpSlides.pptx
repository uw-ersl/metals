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2"/>
  </p:sldMasterIdLst>
  <p:notesMasterIdLst>
    <p:notesMasterId r:id="rId5"/>
  </p:notesMasterIdLst>
  <p:handoutMasterIdLst>
    <p:handoutMasterId r:id="rId6"/>
  </p:handoutMasterIdLst>
  <p:sldIdLst>
    <p:sldId id="2382" r:id="rId3"/>
    <p:sldId id="2383" r:id="rId4"/>
  </p:sldIdLst>
  <p:sldSz cx="12192000" cy="6858000"/>
  <p:notesSz cx="7010400" cy="92964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FA7938-4788-6276-2657-75E2870939EC}" name="Avi Wolnek" initials="AW" userId="S::avwo7040@colorado.edu::06ac8d62-84ed-4108-a5c6-2e55b190c0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37" autoAdjust="0"/>
    <p:restoredTop sz="94645" autoAdjust="0"/>
  </p:normalViewPr>
  <p:slideViewPr>
    <p:cSldViewPr snapToGrid="0" showGuides="1">
      <p:cViewPr varScale="1">
        <p:scale>
          <a:sx n="70" d="100"/>
          <a:sy n="70" d="100"/>
        </p:scale>
        <p:origin x="1253" y="53"/>
      </p:cViewPr>
      <p:guideLst>
        <p:guide orient="horz" pos="2162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58"/>
    </p:cViewPr>
  </p:sorterViewPr>
  <p:notesViewPr>
    <p:cSldViewPr snapToGrid="0" showGuides="1">
      <p:cViewPr varScale="1">
        <p:scale>
          <a:sx n="83" d="100"/>
          <a:sy n="83" d="100"/>
        </p:scale>
        <p:origin x="3894" y="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microsoft.com/office/2018/10/relationships/authors" Target="author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45904C4-010F-4896-9D22-0FDDB5A0FF93}" type="datetimeFigureOut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11/23/2025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Distribution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899D1F1-6DC0-4977-808C-FD0BF7AD2565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592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92715C0D-0E45-40B4-BE1B-664AAA8E6B7F}" type="datetimeFigureOut">
              <a:rPr lang="en-US" smtClean="0"/>
              <a:pPr/>
              <a:t>11/23/2025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953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648200"/>
            <a:ext cx="5608320" cy="395097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Distribution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639B577F-6036-4BCD-9021-A736CBC287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63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DBF03-658B-E235-B4A7-545E3A42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3BB43-78DC-875B-6151-EB44F6E81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59015-48C9-AE7A-EEE0-016F33799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28E5F-FBAC-E3F1-6608-364C91489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192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CF23-82A6-F402-E2D6-F963E3A7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0D6B6-445F-3CE5-1E6D-EBAD4CFBE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655BC-E8C7-97B3-584A-A29C4DED2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27305-A8A0-1093-46EB-F715385AE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926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0167" y="1456511"/>
            <a:ext cx="103632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0574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19796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834195" y="4049487"/>
            <a:ext cx="8524567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53367" y="4790049"/>
            <a:ext cx="48767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  <p:sp>
        <p:nvSpPr>
          <p:cNvPr id="2" name="flSlideMaster.Title_SlideFooter">
            <a:extLst>
              <a:ext uri="{FF2B5EF4-FFF2-40B4-BE49-F238E27FC236}">
                <a16:creationId xmlns:a16="http://schemas.microsoft.com/office/drawing/2014/main" id="{A05B99A9-B302-9A2A-05E2-F8139F1A186E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SlideHeader">
            <a:extLst>
              <a:ext uri="{FF2B5EF4-FFF2-40B4-BE49-F238E27FC236}">
                <a16:creationId xmlns:a16="http://schemas.microsoft.com/office/drawing/2014/main" id="{C6DE5E5D-C731-E68E-4068-74BD4EC2B3A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61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@@TI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0167" y="1456511"/>
            <a:ext cx="103632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0574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19796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834195" y="4049487"/>
            <a:ext cx="8524567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53367" y="4790049"/>
            <a:ext cx="48767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  <p:sp>
        <p:nvSpPr>
          <p:cNvPr id="2" name="flSlideMaster.Title_SlideFooter">
            <a:extLst>
              <a:ext uri="{FF2B5EF4-FFF2-40B4-BE49-F238E27FC236}">
                <a16:creationId xmlns:a16="http://schemas.microsoft.com/office/drawing/2014/main" id="{A05B99A9-B302-9A2A-05E2-F8139F1A186E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SlideHeader">
            <a:extLst>
              <a:ext uri="{FF2B5EF4-FFF2-40B4-BE49-F238E27FC236}">
                <a16:creationId xmlns:a16="http://schemas.microsoft.com/office/drawing/2014/main" id="{C6DE5E5D-C731-E68E-4068-74BD4EC2B3A8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1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3198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Slide_No SubtitleFooter">
            <a:extLst>
              <a:ext uri="{FF2B5EF4-FFF2-40B4-BE49-F238E27FC236}">
                <a16:creationId xmlns:a16="http://schemas.microsoft.com/office/drawing/2014/main" id="{A774DFFD-655B-B6D3-918B-96B85966FB9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_Slide_No SubtitleHeader">
            <a:extLst>
              <a:ext uri="{FF2B5EF4-FFF2-40B4-BE49-F238E27FC236}">
                <a16:creationId xmlns:a16="http://schemas.microsoft.com/office/drawing/2014/main" id="{CE56B7C1-087A-82B3-382E-FFCD1A0D51A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68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3198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352798"/>
            <a:ext cx="10363200" cy="465138"/>
          </a:xfrm>
        </p:spPr>
        <p:txBody>
          <a:bodyPr/>
          <a:lstStyle>
            <a:lvl1pPr algn="ctr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flSlideMaster.Title_Slide_SubtitleFooter">
            <a:extLst>
              <a:ext uri="{FF2B5EF4-FFF2-40B4-BE49-F238E27FC236}">
                <a16:creationId xmlns:a16="http://schemas.microsoft.com/office/drawing/2014/main" id="{18C8FEBF-90FD-D2CD-7151-C56CECFBFE49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_Slide_SubtitleHeader">
            <a:extLst>
              <a:ext uri="{FF2B5EF4-FFF2-40B4-BE49-F238E27FC236}">
                <a16:creationId xmlns:a16="http://schemas.microsoft.com/office/drawing/2014/main" id="{450C4271-7FD7-2892-C130-A39742F3BCE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11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876300" y="4329372"/>
            <a:ext cx="10363200" cy="1461828"/>
          </a:xfrm>
        </p:spPr>
        <p:txBody>
          <a:bodyPr anchor="t"/>
          <a:lstStyle>
            <a:lvl1pPr algn="l">
              <a:defRPr sz="2400" b="1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4341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892629" y="2954111"/>
            <a:ext cx="10363200" cy="1379538"/>
          </a:xfrm>
        </p:spPr>
        <p:txBody>
          <a:bodyPr anchor="b"/>
          <a:lstStyle>
            <a:lvl1pPr algn="l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lSlideMaster.Section_HeaderFooter">
            <a:extLst>
              <a:ext uri="{FF2B5EF4-FFF2-40B4-BE49-F238E27FC236}">
                <a16:creationId xmlns:a16="http://schemas.microsoft.com/office/drawing/2014/main" id="{78B20C65-A441-DAD8-4DAE-AB77364F799F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Section_HeaderHeader">
            <a:extLst>
              <a:ext uri="{FF2B5EF4-FFF2-40B4-BE49-F238E27FC236}">
                <a16:creationId xmlns:a16="http://schemas.microsoft.com/office/drawing/2014/main" id="{2493CD1E-BB99-C36A-6927-55E7D3DD8C32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37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558800" y="1143000"/>
            <a:ext cx="110744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0DF5F8F-A9F1-75D7-8ABB-8E82A22272C4}"/>
              </a:ext>
            </a:extLst>
          </p:cNvPr>
          <p:cNvGrpSpPr/>
          <p:nvPr userDrawn="1"/>
        </p:nvGrpSpPr>
        <p:grpSpPr>
          <a:xfrm>
            <a:off x="8575027" y="300404"/>
            <a:ext cx="3108973" cy="397171"/>
            <a:chOff x="5682659" y="68098"/>
            <a:chExt cx="3108973" cy="397171"/>
          </a:xfrm>
        </p:grpSpPr>
        <p:pic>
          <p:nvPicPr>
            <p:cNvPr id="10" name="Picture 8" descr="TSC-C+1.png">
              <a:extLst>
                <a:ext uri="{FF2B5EF4-FFF2-40B4-BE49-F238E27FC236}">
                  <a16:creationId xmlns:a16="http://schemas.microsoft.com/office/drawing/2014/main" id="{3828648B-D94E-1098-93AC-2E0479BC2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2659" y="111204"/>
              <a:ext cx="1647175" cy="175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" descr=" ">
              <a:extLst>
                <a:ext uri="{FF2B5EF4-FFF2-40B4-BE49-F238E27FC236}">
                  <a16:creationId xmlns:a16="http://schemas.microsoft.com/office/drawing/2014/main" id="{DB72F38F-8023-4416-6B4A-E42C3AD90D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7283" y="68098"/>
              <a:ext cx="974904" cy="19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UW logo, flush">
              <a:extLst>
                <a:ext uri="{FF2B5EF4-FFF2-40B4-BE49-F238E27FC236}">
                  <a16:creationId xmlns:a16="http://schemas.microsoft.com/office/drawing/2014/main" id="{B13CFD18-2DB8-75C4-9C3B-E57B431303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9" t="25154" r="7434" b="25497"/>
            <a:stretch/>
          </p:blipFill>
          <p:spPr bwMode="auto">
            <a:xfrm>
              <a:off x="6969244" y="222700"/>
              <a:ext cx="648039" cy="22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umiami-horizontal">
              <a:extLst>
                <a:ext uri="{FF2B5EF4-FFF2-40B4-BE49-F238E27FC236}">
                  <a16:creationId xmlns:a16="http://schemas.microsoft.com/office/drawing/2014/main" id="{C022895C-8AD0-ABEB-FF3C-C825D93BB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0114" y="282389"/>
              <a:ext cx="731518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0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and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30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4400C65-9CAE-6F84-2225-EB6370DE5455}"/>
              </a:ext>
            </a:extLst>
          </p:cNvPr>
          <p:cNvGrpSpPr/>
          <p:nvPr userDrawn="1"/>
        </p:nvGrpSpPr>
        <p:grpSpPr>
          <a:xfrm>
            <a:off x="8575027" y="300404"/>
            <a:ext cx="3108973" cy="397171"/>
            <a:chOff x="5682659" y="68098"/>
            <a:chExt cx="3108973" cy="397171"/>
          </a:xfrm>
        </p:grpSpPr>
        <p:pic>
          <p:nvPicPr>
            <p:cNvPr id="9" name="Picture 8" descr="TSC-C+1.png">
              <a:extLst>
                <a:ext uri="{FF2B5EF4-FFF2-40B4-BE49-F238E27FC236}">
                  <a16:creationId xmlns:a16="http://schemas.microsoft.com/office/drawing/2014/main" id="{96D00A77-7223-462C-A00D-27521DAB4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2659" y="111204"/>
              <a:ext cx="1647175" cy="175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 descr=" ">
              <a:extLst>
                <a:ext uri="{FF2B5EF4-FFF2-40B4-BE49-F238E27FC236}">
                  <a16:creationId xmlns:a16="http://schemas.microsoft.com/office/drawing/2014/main" id="{D6D80852-252B-90E6-6696-49463BAE4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7283" y="68098"/>
              <a:ext cx="974904" cy="19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UW logo, flush">
              <a:extLst>
                <a:ext uri="{FF2B5EF4-FFF2-40B4-BE49-F238E27FC236}">
                  <a16:creationId xmlns:a16="http://schemas.microsoft.com/office/drawing/2014/main" id="{B672A6B2-BDB0-9E70-9866-03CF33F69B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9" t="25154" r="7434" b="25497"/>
            <a:stretch/>
          </p:blipFill>
          <p:spPr bwMode="auto">
            <a:xfrm>
              <a:off x="6969244" y="222700"/>
              <a:ext cx="648039" cy="22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umiami-horizontal">
              <a:extLst>
                <a:ext uri="{FF2B5EF4-FFF2-40B4-BE49-F238E27FC236}">
                  <a16:creationId xmlns:a16="http://schemas.microsoft.com/office/drawing/2014/main" id="{B86DAF68-5BCE-1FCF-306C-6F53C455AC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0114" y="282389"/>
              <a:ext cx="731518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flSlideMaster.Logo_and_Title_OnlyFooter">
            <a:extLst>
              <a:ext uri="{FF2B5EF4-FFF2-40B4-BE49-F238E27FC236}">
                <a16:creationId xmlns:a16="http://schemas.microsoft.com/office/drawing/2014/main" id="{6DBA7C73-0299-9A07-B3F7-5323B031750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Logo_and_Title_OnlyHeader">
            <a:extLst>
              <a:ext uri="{FF2B5EF4-FFF2-40B4-BE49-F238E27FC236}">
                <a16:creationId xmlns:a16="http://schemas.microsoft.com/office/drawing/2014/main" id="{09E30537-76C4-F414-AEE4-8585863DF3E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46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wo_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11074400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09600" y="3581400"/>
            <a:ext cx="11074400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wo_RowsFooter">
            <a:extLst>
              <a:ext uri="{FF2B5EF4-FFF2-40B4-BE49-F238E27FC236}">
                <a16:creationId xmlns:a16="http://schemas.microsoft.com/office/drawing/2014/main" id="{802D341F-2D89-EB77-AD5C-28FBA83C4B09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Custom_Two_RowsHeader">
            <a:extLst>
              <a:ext uri="{FF2B5EF4-FFF2-40B4-BE49-F238E27FC236}">
                <a16:creationId xmlns:a16="http://schemas.microsoft.com/office/drawing/2014/main" id="{768F3A5E-5AD9-178D-17FB-0284FBF4B225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8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53848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197600" y="1066800"/>
            <a:ext cx="53848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wo_ColumnsFooter">
            <a:extLst>
              <a:ext uri="{FF2B5EF4-FFF2-40B4-BE49-F238E27FC236}">
                <a16:creationId xmlns:a16="http://schemas.microsoft.com/office/drawing/2014/main" id="{D638CAFE-542B-1485-FEF9-7095996D3C4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Custom_Two_ColumnsHeader">
            <a:extLst>
              <a:ext uri="{FF2B5EF4-FFF2-40B4-BE49-F238E27FC236}">
                <a16:creationId xmlns:a16="http://schemas.microsoft.com/office/drawing/2014/main" id="{8FEF1D76-E372-80C1-5E33-B76C0C779C4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95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hree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43688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5"/>
          </p:nvPr>
        </p:nvSpPr>
        <p:spPr>
          <a:xfrm>
            <a:off x="81280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hree_ColumnsFooter">
            <a:extLst>
              <a:ext uri="{FF2B5EF4-FFF2-40B4-BE49-F238E27FC236}">
                <a16:creationId xmlns:a16="http://schemas.microsoft.com/office/drawing/2014/main" id="{626561F2-5FF0-862C-D425-26D0596AB726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Custom_Three_ColumnsHeader">
            <a:extLst>
              <a:ext uri="{FF2B5EF4-FFF2-40B4-BE49-F238E27FC236}">
                <a16:creationId xmlns:a16="http://schemas.microsoft.com/office/drawing/2014/main" id="{DBD2F3F8-123F-C592-5167-A6FF0D0F141E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18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Four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4" y="1066800"/>
            <a:ext cx="5377545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193975" y="1066800"/>
            <a:ext cx="5490031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5"/>
          </p:nvPr>
        </p:nvSpPr>
        <p:spPr>
          <a:xfrm>
            <a:off x="6193970" y="3521528"/>
            <a:ext cx="5490031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6"/>
          </p:nvPr>
        </p:nvSpPr>
        <p:spPr>
          <a:xfrm>
            <a:off x="605976" y="3529693"/>
            <a:ext cx="5377545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30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Four_BoxesFooter">
            <a:extLst>
              <a:ext uri="{FF2B5EF4-FFF2-40B4-BE49-F238E27FC236}">
                <a16:creationId xmlns:a16="http://schemas.microsoft.com/office/drawing/2014/main" id="{F1895CCB-6FA1-C581-F8AC-336FB0DE546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9" name="hlSlideMaster.Custom_Four_BoxesHeader">
            <a:extLst>
              <a:ext uri="{FF2B5EF4-FFF2-40B4-BE49-F238E27FC236}">
                <a16:creationId xmlns:a16="http://schemas.microsoft.com/office/drawing/2014/main" id="{44838B24-CEF5-8944-8FFB-283B4B4838C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95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flSlideMaster.Concluding_SlideFooter">
            <a:extLst>
              <a:ext uri="{FF2B5EF4-FFF2-40B4-BE49-F238E27FC236}">
                <a16:creationId xmlns:a16="http://schemas.microsoft.com/office/drawing/2014/main" id="{54A9BE34-D9AB-C407-7557-A40C321C4DDD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Concluding_SlideHeader">
            <a:extLst>
              <a:ext uri="{FF2B5EF4-FFF2-40B4-BE49-F238E27FC236}">
                <a16:creationId xmlns:a16="http://schemas.microsoft.com/office/drawing/2014/main" id="{E4F9E603-FA5A-A730-57B7-13C6AF113A8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281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86E5-4329-75C5-19CC-49E390DD7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DD135-F564-B09B-4500-C80E59D4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42C85-0F79-3841-CEAA-B32EF65F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FFB-C0C0-44D3-BCF1-8D1278055A1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CB208-185D-61F4-FAA4-26E0D718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2CD6E-96C1-6120-45E1-E2A9E369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F288-DD1F-4FB2-928E-6564E570F3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lSlideMaster.Title SlideFooter">
            <a:extLst>
              <a:ext uri="{FF2B5EF4-FFF2-40B4-BE49-F238E27FC236}">
                <a16:creationId xmlns:a16="http://schemas.microsoft.com/office/drawing/2014/main" id="{374CAB07-C3BB-355D-7A91-19727E3960A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 SlideHeader">
            <a:extLst>
              <a:ext uri="{FF2B5EF4-FFF2-40B4-BE49-F238E27FC236}">
                <a16:creationId xmlns:a16="http://schemas.microsoft.com/office/drawing/2014/main" id="{6475E2D7-A351-68FE-C855-DCF2FE89079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49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C9C1-E79A-5D39-0BF8-C6035D28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7AF37-F066-848B-932D-ED2996130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4C6B-AAAA-975E-6428-9ED63830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FFB-C0C0-44D3-BCF1-8D1278055A1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F54EA-F8D4-E7A8-4103-31A7EC1B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35ACE-E6EC-0281-552D-B1782ED5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F288-DD1F-4FB2-928E-6564E570F3F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lSlideMaster.Title and ContentFooter">
            <a:extLst>
              <a:ext uri="{FF2B5EF4-FFF2-40B4-BE49-F238E27FC236}">
                <a16:creationId xmlns:a16="http://schemas.microsoft.com/office/drawing/2014/main" id="{E2AB5A1B-E7EB-5436-5A9B-A7EAFC8A036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 and ContentHeader">
            <a:extLst>
              <a:ext uri="{FF2B5EF4-FFF2-40B4-BE49-F238E27FC236}">
                <a16:creationId xmlns:a16="http://schemas.microsoft.com/office/drawing/2014/main" id="{CAB0C7A5-FDEA-0D46-D3E7-30B1B475747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083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B034AA-7780-40E2-8260-58CBA5532E4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006512-F5A6-47D0-AAA5-F7CEDE50D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0"/>
            <a:ext cx="9296400" cy="332656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lSlideMaster.Custom LayoutFooter">
            <a:extLst>
              <a:ext uri="{FF2B5EF4-FFF2-40B4-BE49-F238E27FC236}">
                <a16:creationId xmlns:a16="http://schemas.microsoft.com/office/drawing/2014/main" id="{3809092D-B7DF-80F7-DDE2-1A35269CA97B}"/>
              </a:ext>
            </a:extLst>
          </p:cNvPr>
          <p:cNvSpPr txBox="1"/>
          <p:nvPr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Custom LayoutHeader">
            <a:extLst>
              <a:ext uri="{FF2B5EF4-FFF2-40B4-BE49-F238E27FC236}">
                <a16:creationId xmlns:a16="http://schemas.microsoft.com/office/drawing/2014/main" id="{FDF3FDFA-74D6-B630-84F3-747B5AFE4728}"/>
              </a:ext>
            </a:extLst>
          </p:cNvPr>
          <p:cNvSpPr txBox="1"/>
          <p:nvPr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53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1219200"/>
            <a:ext cx="11176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78000" y="6550026"/>
            <a:ext cx="8636000" cy="2984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9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3240" y="6553200"/>
            <a:ext cx="1016000" cy="29210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fld id="{231CC523-8BC6-4921-807A-66BD262F3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Placeholder 9"/>
          <p:cNvSpPr>
            <a:spLocks noGrp="1"/>
          </p:cNvSpPr>
          <p:nvPr>
            <p:ph type="title"/>
          </p:nvPr>
        </p:nvSpPr>
        <p:spPr bwMode="auto">
          <a:xfrm>
            <a:off x="508001" y="152400"/>
            <a:ext cx="1117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4E2C-28A1-4ACF-BE1C-DC6E3E3FF6B4}" type="datetimeFigureOut">
              <a:rPr lang="en-US" smtClean="0"/>
              <a:t>11/23/2025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34" r:id="rId2"/>
    <p:sldLayoutId id="2147483719" r:id="rId3"/>
    <p:sldLayoutId id="2147483722" r:id="rId4"/>
    <p:sldLayoutId id="2147483720" r:id="rId5"/>
    <p:sldLayoutId id="2147483721" r:id="rId6"/>
    <p:sldLayoutId id="2147483723" r:id="rId7"/>
    <p:sldLayoutId id="2147483725" r:id="rId8"/>
    <p:sldLayoutId id="2147483726" r:id="rId9"/>
    <p:sldLayoutId id="2147483729" r:id="rId10"/>
    <p:sldLayoutId id="2147483728" r:id="rId11"/>
    <p:sldLayoutId id="2147483731" r:id="rId12"/>
    <p:sldLayoutId id="2147483732" r:id="rId13"/>
    <p:sldLayoutId id="2147483733" r:id="rId14"/>
    <p:sldLayoutId id="2147483736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3A483-6391-61B4-CA0B-2AEBFAC2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55D3294D-EA67-402D-96C1-5470FD104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36" y="1289209"/>
            <a:ext cx="2994546" cy="2354203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83F99E04-F62D-72A8-BB25-61D06526F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Topology Optimization: All Materials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97D38E-448C-D37A-4764-D666BE2D8346}"/>
              </a:ext>
            </a:extLst>
          </p:cNvPr>
          <p:cNvSpPr/>
          <p:nvPr/>
        </p:nvSpPr>
        <p:spPr>
          <a:xfrm>
            <a:off x="214599" y="844673"/>
            <a:ext cx="3728529" cy="56105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67DC66-50E2-393F-4150-55B8AABA01DA}"/>
              </a:ext>
            </a:extLst>
          </p:cNvPr>
          <p:cNvSpPr txBox="1"/>
          <p:nvPr/>
        </p:nvSpPr>
        <p:spPr>
          <a:xfrm>
            <a:off x="380262" y="3854141"/>
            <a:ext cx="3212024" cy="2031325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Min  Mass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Stress Limit SF &gt; 1.25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Fatigue Limit SF &gt; 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Temp Limit SF &gt; 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Mean Criticality &lt; 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PBR &lt; 1.8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Compliance &lt; 2.5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1FE4C-F79E-0A87-710E-9A6DD0A0A3F6}"/>
              </a:ext>
            </a:extLst>
          </p:cNvPr>
          <p:cNvSpPr txBox="1"/>
          <p:nvPr/>
        </p:nvSpPr>
        <p:spPr>
          <a:xfrm>
            <a:off x="125858" y="931408"/>
            <a:ext cx="1216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 =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80659-92B4-29FE-A722-43A8259F6821}"/>
              </a:ext>
            </a:extLst>
          </p:cNvPr>
          <p:cNvSpPr txBox="1"/>
          <p:nvPr/>
        </p:nvSpPr>
        <p:spPr>
          <a:xfrm>
            <a:off x="1736791" y="2198915"/>
            <a:ext cx="1577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T</a:t>
            </a:r>
            <a:r>
              <a:rPr lang="en-US" sz="1600" baseline="-25000" dirty="0">
                <a:solidFill>
                  <a:srgbClr val="FF0000"/>
                </a:solidFill>
              </a:rPr>
              <a:t>max</a:t>
            </a:r>
            <a:r>
              <a:rPr lang="en-US" sz="1600" dirty="0">
                <a:solidFill>
                  <a:srgbClr val="FF0000"/>
                </a:solidFill>
              </a:rPr>
              <a:t> = 1000 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DBCC70-E5FF-50CF-A171-4EB515223E59}"/>
              </a:ext>
            </a:extLst>
          </p:cNvPr>
          <p:cNvSpPr txBox="1"/>
          <p:nvPr/>
        </p:nvSpPr>
        <p:spPr>
          <a:xfrm>
            <a:off x="9155425" y="816389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Y(T)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362EA-C036-2C5C-0EEE-BAB58C30E598}"/>
              </a:ext>
            </a:extLst>
          </p:cNvPr>
          <p:cNvSpPr txBox="1"/>
          <p:nvPr/>
        </p:nvSpPr>
        <p:spPr>
          <a:xfrm>
            <a:off x="5538367" y="788495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E(T)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5C7A56-AE4F-30DA-1113-E324ADDBEC91}"/>
              </a:ext>
            </a:extLst>
          </p:cNvPr>
          <p:cNvSpPr txBox="1"/>
          <p:nvPr/>
        </p:nvSpPr>
        <p:spPr>
          <a:xfrm>
            <a:off x="2520034" y="2556716"/>
            <a:ext cx="14230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 = 5000N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F7D0A2-7BAC-6F02-05D5-6E73E7682FBD}"/>
              </a:ext>
            </a:extLst>
          </p:cNvPr>
          <p:cNvSpPr txBox="1"/>
          <p:nvPr/>
        </p:nvSpPr>
        <p:spPr>
          <a:xfrm>
            <a:off x="5374128" y="3854141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K(T)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EA2818-274F-85E7-1CD1-0F3891F06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448" y="1107645"/>
            <a:ext cx="3650074" cy="27351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E18F6F-E3D1-C83B-42EA-184F25A0F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434" y="1107645"/>
            <a:ext cx="3503396" cy="26768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E02B390-6B77-19CA-95D1-4F65485DE1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5370" y="4186346"/>
            <a:ext cx="3497064" cy="265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08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57BC-032A-3FEA-9C8D-4D65E145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55F9B92-C977-6285-B678-FC8D45C385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Topology Optimization: All Materials; higher temperature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017D34B-7A9B-D30A-4B53-968090A0D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455" y="1229432"/>
            <a:ext cx="2744332" cy="253126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A303309-D53B-628F-51C9-026429AB2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13" y="903362"/>
            <a:ext cx="4281203" cy="406052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9F1EA93-ADD0-FA51-5080-48B1103AE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31" y="925133"/>
            <a:ext cx="3332468" cy="304438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0181D7E-4AF4-104D-716B-8C4C336FA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621" y="4348406"/>
            <a:ext cx="5524979" cy="219475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0846A3C-AF70-4BFD-5DF5-6B274800C884}"/>
              </a:ext>
            </a:extLst>
          </p:cNvPr>
          <p:cNvSpPr txBox="1"/>
          <p:nvPr/>
        </p:nvSpPr>
        <p:spPr>
          <a:xfrm>
            <a:off x="3553561" y="4511831"/>
            <a:ext cx="2945215" cy="2031325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Min  Mass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Stress Limit SF &gt; 1.25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Fatigue Limit SF &gt; 1</a:t>
            </a:r>
          </a:p>
          <a:p>
            <a:pPr marL="285750" indent="-285750">
              <a:buClr>
                <a:srgbClr val="00B050"/>
              </a:buClr>
              <a:buFont typeface="Courier New" panose="02070309020205020404" pitchFamily="49" charset="0"/>
              <a:buChar char="o"/>
            </a:pPr>
            <a:r>
              <a:rPr lang="en-US" dirty="0"/>
              <a:t>Temp Limit SF &gt; 1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Mean Criticality &lt; 1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PBR &lt; 1.8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Compliance &lt; 2.5</a:t>
            </a:r>
          </a:p>
        </p:txBody>
      </p:sp>
    </p:spTree>
    <p:extLst>
      <p:ext uri="{BB962C8B-B14F-4D97-AF65-F5344CB8AC3E}">
        <p14:creationId xmlns:p14="http://schemas.microsoft.com/office/powerpoint/2010/main" val="33460993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CIDATA" val="NO"/>
  <p:tag name="INCLUDEFOOTER" val="No"/>
  <p:tag name="UNRESCOMPEXT" val="YES"/>
  <p:tag name="COMPSENS" val="NO"/>
  <p:tag name="CONFLEGPRI" val="NO"/>
  <p:tag name="PIIDATA" val="NO"/>
  <p:tag name="CUIDATA" val="NO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2225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Updated_DARPA_Template_20190102_1237.pptx" id="{73648ED9-5A49-4BD0-BC42-DE32C2E6CF09}" vid="{D0B459EC-B9B7-4546-9243-8AF0A3298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c908d5f5-b87f-439c-b15e-efda66ad98d8</TitusGUID>
  <TitusMetadata xmlns="">eyJucyI6Imh0dHA6XC9cL3d3dy50aXR1cy5jb21cL25zXC9GTElSIiwicHJvcHMiOlt7Im4iOiJFQ0lEYXRhIiwidmFscyI6W3sidmFsdWUiOiJOTyJ9XX0seyJuIjoiSW5jbHVkZUZvb3RlciIsInZhbHMiOlt7InZhbHVlIjoiTm8ifV19LHsibiI6Ik5vbkVDSU1hcmtpbmciLCJ2YWxzIjpbXX0seyJuIjoiUHVibGljUmVsZWFzZSIsInZhbHMiOltdfSx7Im4iOiJSZWZOdW1iZXIiLCJ2YWxzIjpbXX0seyJuIjoiU2VjdXJpdHlSZXZpZXdObyIsInZhbHMiOltdfSx7Im4iOiJFQ0lKdXJpcyIsInZhbHMiOltdfSx7Im4iOiJFQ0lJVEFSQ2xhc3MiLCJ2YWxzIjpbXX0seyJuIjoiRUNJRUFSQ2xhc3MiLCJ2YWxzIjpbXX0seyJuIjoibm9uVVNDb3VudHJ5IiwidmFscyI6W119LHsibiI6Im5vblVTRUNJSnVyaXMiLCJ2YWxzIjpbXX0seyJuIjoiVW5yZXNDb21wRXh0IiwidmFscyI6W3sidmFsdWUiOiJZRVMifV19LHsibiI6IkNvbXBTZW5zIiwidmFscyI6W3sidmFsdWUiOiJOTyJ9XX0seyJuIjoiSW5jbHVkZUNvbXBTZW5zTWFya2luZyIsInZhbHMiOltdfSx7Im4iOiJDb25mTGVnUHJpIiwidmFscyI6W3sidmFsdWUiOiJOTyJ9XX0seyJuIjoiUElJRGF0YSIsInZhbHMiOlt7InZhbHVlIjoiTk8ifV19LHsibiI6IkNVSURhdGEiLCJ2YWxzIjpbeyJ2YWx1ZSI6Ik5PIn1dfSx7Im4iOiJJbmNsdWRlQ1VJTWFya2luZyIsInZhbHMiOltdfSx7Im4iOiJDVUlDYXRlZ29yeSIsInZhbHMiOltdfSx7Im4iOiJEaXNzZW1pbmF0aW9uIiwidmFscyI6W119LHsibiI6IlJlbFRvIiwidmFscyI6W119LHsibiI6IkRpc3BsYXlPbmx5IiwidmFscyI6W119LHsibiI6IkNvbnRyb2xsZWRCeSIsInZhbHMiOltdfSx7Im4iOiJDb250cm9sbGVkQnkyIiwidmFscyI6W119LHsibiI6IkNvbnRhY3RJbmZvIiwidmFscyI6W119XX0=</TitusMetadata>
</titus>
</file>

<file path=customXml/itemProps1.xml><?xml version="1.0" encoding="utf-8"?>
<ds:datastoreItem xmlns:ds="http://schemas.openxmlformats.org/officeDocument/2006/customXml" ds:itemID="{2C64902B-2757-4E75-BED8-D9F84FEFAD44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3878</TotalTime>
  <Words>93</Words>
  <Application>Microsoft Office PowerPoint</Application>
  <PresentationFormat>Widescreen</PresentationFormat>
  <Paragraphs>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Courier New</vt:lpstr>
      <vt:lpstr>Microsoft Sans Serif</vt:lpstr>
      <vt:lpstr>Tahoma</vt:lpstr>
      <vt:lpstr>Wingdings</vt:lpstr>
      <vt:lpstr>Office Theme</vt:lpstr>
      <vt:lpstr>Topology Optimization: All Materials</vt:lpstr>
      <vt:lpstr>Topology Optimization: All Materials; higher temperature</vt:lpstr>
    </vt:vector>
  </TitlesOfParts>
  <Company>DARPA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Carter, William B CIV (US)</dc:creator>
  <cp:lastModifiedBy>Krishnan Suresh</cp:lastModifiedBy>
  <cp:revision>362</cp:revision>
  <cp:lastPrinted>2011-09-22T20:00:03Z</cp:lastPrinted>
  <dcterms:created xsi:type="dcterms:W3CDTF">2021-07-08T14:28:18Z</dcterms:created>
  <dcterms:modified xsi:type="dcterms:W3CDTF">2025-11-23T15:00:25Z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c908d5f5-b87f-439c-b15e-efda66ad98d8</vt:lpwstr>
  </property>
  <property fmtid="{D5CDD505-2E9C-101B-9397-08002B2CF9AE}" pid="3" name="ECIData">
    <vt:lpwstr>NO</vt:lpwstr>
  </property>
  <property fmtid="{D5CDD505-2E9C-101B-9397-08002B2CF9AE}" pid="4" name="IncludeFooter">
    <vt:lpwstr>No</vt:lpwstr>
  </property>
  <property fmtid="{D5CDD505-2E9C-101B-9397-08002B2CF9AE}" pid="5" name="UnresCompExt">
    <vt:lpwstr>YES</vt:lpwstr>
  </property>
  <property fmtid="{D5CDD505-2E9C-101B-9397-08002B2CF9AE}" pid="6" name="CompSens">
    <vt:lpwstr>NO</vt:lpwstr>
  </property>
  <property fmtid="{D5CDD505-2E9C-101B-9397-08002B2CF9AE}" pid="7" name="ConfLegPri">
    <vt:lpwstr>NO</vt:lpwstr>
  </property>
  <property fmtid="{D5CDD505-2E9C-101B-9397-08002B2CF9AE}" pid="8" name="PIIData">
    <vt:lpwstr>NO</vt:lpwstr>
  </property>
  <property fmtid="{D5CDD505-2E9C-101B-9397-08002B2CF9AE}" pid="9" name="CUIData">
    <vt:lpwstr>NO</vt:lpwstr>
  </property>
</Properties>
</file>