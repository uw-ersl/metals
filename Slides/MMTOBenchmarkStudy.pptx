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344" r:id="rId2"/>
    <p:sldId id="2352" r:id="rId3"/>
    <p:sldId id="2343" r:id="rId4"/>
    <p:sldId id="2381" r:id="rId5"/>
    <p:sldId id="2384" r:id="rId6"/>
    <p:sldId id="238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6" d="100"/>
          <a:sy n="66" d="100"/>
        </p:scale>
        <p:origin x="114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BC63F-E652-456B-B880-2F318D1A192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65DCE-AB5F-46FA-B07C-E9C2FA202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9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2511-8B4B-89B2-7667-C1A25FE9A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457D6-580D-82D3-E580-E61C70894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77E62-71C6-AFF0-22D5-88BD1F6C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C5DB-1A12-E644-E213-B4575442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71BF5-C276-C51F-4B7F-954EF3C0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3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FEB0-96DE-174B-31AC-320FF784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E04DB-3DA6-15DA-E034-BE111400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C104-193F-E0BE-58A8-6DC26F3F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9851-23A2-FF77-90D2-5D3FEC23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0BCF-CCA8-7064-2EA7-F9FB3794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FD85-33A4-04FF-6164-4454A6EF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9931-0FB0-9171-CE3C-BC670C1B5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012E-8400-632B-410D-2C764CF8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F6E2F-C8DB-9479-FA52-D89E612C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68E0-3AC3-220F-2B51-864908E7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4EA7-01EB-8AA0-5619-F7B06E99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3D5C6-E7F3-439D-AD89-E25D2AE7B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CEC15-2409-2B4D-7825-527ECED6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BE98-26E3-8D23-2350-A972AF04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D656-0C5B-DB07-918B-DADD9F43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6BE08-19A6-93E7-3B2E-21539D3D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3B1B-6C89-87D8-783D-B713F861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31DBE-318B-BC02-EEFD-BED880323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11DAC-C51C-7526-13CD-2D6E8802B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6EC80-94EF-E5FB-23DF-E07B491C7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F387F-C489-B6EC-60EE-C909DE9C4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241A0-BBA5-D8DB-4325-C4A831E5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F47EB-B808-F09F-8D01-39CBA84F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9359-2E83-1D5B-F061-07361D46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8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900D-A811-EF23-F8A1-AE51FD31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C503C-9176-CF2C-06B9-AF292779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AC571-50BE-21AA-C729-3C307B60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4C2DE-5563-9201-1C47-E7A2C401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4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57C9E-18D9-B611-A4D6-8D33A880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C2DD6-7065-FCDF-24EB-B2032184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7D967-DDE3-9040-0478-2DD991DC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77CE-FD57-4B95-2DAC-0442441A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B0C6-5D43-3005-F1B8-21555EE3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82AED-BEC1-5525-E364-1A3C16006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4F75D-BCD9-A48B-87A2-C6A429C1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51453-1C7C-1FFA-397A-F31403A0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E4D9C-02BA-1B5A-9AE7-8E2107AF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4D4B-5366-92C3-59D3-50693A5C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6B78B-A2EC-CC14-A349-AA9CED269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CEE1C-A1A2-74C9-635D-E50FB4630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04D90-842D-3201-CDD6-2632892F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0DCF2-BA1B-93B5-BF7F-BD819610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CDDCA-2A6B-422F-8DC0-DC603D23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9F7D-AE69-CC47-6713-526C186F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78506-2A5C-CBFA-A31D-233EBCE54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65F3-5A9B-7557-97C0-F1A8EFE6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7616-AC41-CCA5-FB5E-65C3926C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8FC5-380A-AB24-5631-87E5424F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2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248E9-D3C7-6BE2-CF1D-C050F25E2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2620F-CEC7-B36C-E0A5-A318BEEF3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13526-2001-C706-E871-1DC40D4F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EE5C3-8F04-ADDB-3339-5E49968D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ADB9-B500-1797-4DA5-BA053642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3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381000" y="1143000"/>
            <a:ext cx="112522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5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92AA6-9341-EA9F-B7D4-287FC038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46B7-5586-DDCA-0568-200B219A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47A2-342A-2BD1-C0EC-9704E35C0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B4303-DE67-4DA8-B375-7E6264E8BDE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D170-5168-B6B7-C383-0381F7934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0C7B2-DEB6-C941-D77B-010A348EF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3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49AF-0729-9DE4-82CF-704ACCF0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C71777-8260-3F81-7A1A-BC6D7AAEF7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F292E22-B977-D223-5F50-5B6E260DF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Benchmark Problem: 3 Materials, 3 Attributes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D45253-3CE5-AD13-0238-DBA807A6E6FD}"/>
              </a:ext>
            </a:extLst>
          </p:cNvPr>
          <p:cNvSpPr txBox="1"/>
          <p:nvPr/>
        </p:nvSpPr>
        <p:spPr>
          <a:xfrm>
            <a:off x="169863" y="4065365"/>
            <a:ext cx="48507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Minimize  Compliance</a:t>
            </a:r>
          </a:p>
          <a:p>
            <a:pPr algn="ctr"/>
            <a:r>
              <a:rPr lang="en-US" sz="2000" b="1" dirty="0"/>
              <a:t>Mass fraction &lt; 0.4</a:t>
            </a:r>
          </a:p>
          <a:p>
            <a:pPr algn="ctr"/>
            <a:r>
              <a:rPr lang="en-US" sz="2000" b="1" dirty="0"/>
              <a:t>Cost fraction &lt; 0.3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ECF50C-C0F4-2F83-A6E3-D06075A6EF2C}"/>
              </a:ext>
            </a:extLst>
          </p:cNvPr>
          <p:cNvSpPr txBox="1"/>
          <p:nvPr/>
        </p:nvSpPr>
        <p:spPr>
          <a:xfrm>
            <a:off x="605419" y="5926907"/>
            <a:ext cx="10854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Zuo, W. and Saitou, K., 2017. Multi-material topology optimization using ordered SIMP interpolation.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Structural and Multidisciplinary Optimization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55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pp.477-491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09C1AF-7B19-47C6-3C7C-B0CC7C13E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" y="1289892"/>
            <a:ext cx="5012332" cy="23187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8B076D-35A3-6F38-9957-FEE0BB063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620" y="1004064"/>
            <a:ext cx="6825606" cy="129959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D824779-7D0D-AD71-B1B2-E16C9FC3AABE}"/>
              </a:ext>
            </a:extLst>
          </p:cNvPr>
          <p:cNvGrpSpPr/>
          <p:nvPr/>
        </p:nvGrpSpPr>
        <p:grpSpPr>
          <a:xfrm>
            <a:off x="5020620" y="2715762"/>
            <a:ext cx="4757684" cy="1906124"/>
            <a:chOff x="6112397" y="2885580"/>
            <a:chExt cx="4757684" cy="190612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E4BB65F-0DDA-2B78-078C-55610533C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2397" y="2885580"/>
              <a:ext cx="4757684" cy="1906124"/>
            </a:xfrm>
            <a:prstGeom prst="rect">
              <a:avLst/>
            </a:prstGeom>
          </p:spPr>
        </p:pic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DB85BAD-BE19-891A-2001-7FEF6CD654C1}"/>
                </a:ext>
              </a:extLst>
            </p:cNvPr>
            <p:cNvSpPr/>
            <p:nvPr/>
          </p:nvSpPr>
          <p:spPr>
            <a:xfrm>
              <a:off x="6543419" y="2963119"/>
              <a:ext cx="1131864" cy="995423"/>
            </a:xfrm>
            <a:custGeom>
              <a:avLst/>
              <a:gdLst>
                <a:gd name="connsiteX0" fmla="*/ 204622 w 1131864"/>
                <a:gd name="connsiteY0" fmla="*/ 0 h 995423"/>
                <a:gd name="connsiteX1" fmla="*/ 204622 w 1131864"/>
                <a:gd name="connsiteY1" fmla="*/ 0 h 995423"/>
                <a:gd name="connsiteX2" fmla="*/ 77300 w 1131864"/>
                <a:gd name="connsiteY2" fmla="*/ 69448 h 995423"/>
                <a:gd name="connsiteX3" fmla="*/ 7852 w 1131864"/>
                <a:gd name="connsiteY3" fmla="*/ 520861 h 995423"/>
                <a:gd name="connsiteX4" fmla="*/ 19427 w 1131864"/>
                <a:gd name="connsiteY4" fmla="*/ 891251 h 995423"/>
                <a:gd name="connsiteX5" fmla="*/ 146748 w 1131864"/>
                <a:gd name="connsiteY5" fmla="*/ 949124 h 995423"/>
                <a:gd name="connsiteX6" fmla="*/ 239346 w 1131864"/>
                <a:gd name="connsiteY6" fmla="*/ 972273 h 995423"/>
                <a:gd name="connsiteX7" fmla="*/ 366667 w 1131864"/>
                <a:gd name="connsiteY7" fmla="*/ 995423 h 995423"/>
                <a:gd name="connsiteX8" fmla="*/ 760206 w 1131864"/>
                <a:gd name="connsiteY8" fmla="*/ 972273 h 995423"/>
                <a:gd name="connsiteX9" fmla="*/ 783356 w 1131864"/>
                <a:gd name="connsiteY9" fmla="*/ 914400 h 995423"/>
                <a:gd name="connsiteX10" fmla="*/ 818080 w 1131864"/>
                <a:gd name="connsiteY10" fmla="*/ 868101 h 995423"/>
                <a:gd name="connsiteX11" fmla="*/ 852804 w 1131864"/>
                <a:gd name="connsiteY11" fmla="*/ 775504 h 995423"/>
                <a:gd name="connsiteX12" fmla="*/ 887528 w 1131864"/>
                <a:gd name="connsiteY12" fmla="*/ 717630 h 995423"/>
                <a:gd name="connsiteX13" fmla="*/ 899103 w 1131864"/>
                <a:gd name="connsiteY13" fmla="*/ 682906 h 995423"/>
                <a:gd name="connsiteX14" fmla="*/ 1037999 w 1131864"/>
                <a:gd name="connsiteY14" fmla="*/ 625033 h 995423"/>
                <a:gd name="connsiteX15" fmla="*/ 1061148 w 1131864"/>
                <a:gd name="connsiteY15" fmla="*/ 567159 h 995423"/>
                <a:gd name="connsiteX16" fmla="*/ 1119022 w 1131864"/>
                <a:gd name="connsiteY16" fmla="*/ 497711 h 995423"/>
                <a:gd name="connsiteX17" fmla="*/ 1130596 w 1131864"/>
                <a:gd name="connsiteY17" fmla="*/ 416689 h 995423"/>
                <a:gd name="connsiteX18" fmla="*/ 1072723 w 1131864"/>
                <a:gd name="connsiteY18" fmla="*/ 266218 h 995423"/>
                <a:gd name="connsiteX19" fmla="*/ 1037999 w 1131864"/>
                <a:gd name="connsiteY19" fmla="*/ 219919 h 995423"/>
                <a:gd name="connsiteX20" fmla="*/ 806505 w 1131864"/>
                <a:gd name="connsiteY20" fmla="*/ 208344 h 995423"/>
                <a:gd name="connsiteX21" fmla="*/ 528713 w 1131864"/>
                <a:gd name="connsiteY21" fmla="*/ 150471 h 995423"/>
                <a:gd name="connsiteX22" fmla="*/ 389816 w 1131864"/>
                <a:gd name="connsiteY22" fmla="*/ 46299 h 995423"/>
                <a:gd name="connsiteX23" fmla="*/ 204622 w 1131864"/>
                <a:gd name="connsiteY23" fmla="*/ 0 h 99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31864" h="995423">
                  <a:moveTo>
                    <a:pt x="204622" y="0"/>
                  </a:moveTo>
                  <a:lnTo>
                    <a:pt x="204622" y="0"/>
                  </a:lnTo>
                  <a:cubicBezTo>
                    <a:pt x="162181" y="23149"/>
                    <a:pt x="100778" y="27188"/>
                    <a:pt x="77300" y="69448"/>
                  </a:cubicBezTo>
                  <a:cubicBezTo>
                    <a:pt x="46375" y="125112"/>
                    <a:pt x="16008" y="447460"/>
                    <a:pt x="7852" y="520861"/>
                  </a:cubicBezTo>
                  <a:cubicBezTo>
                    <a:pt x="11710" y="644324"/>
                    <a:pt x="-18681" y="773753"/>
                    <a:pt x="19427" y="891251"/>
                  </a:cubicBezTo>
                  <a:cubicBezTo>
                    <a:pt x="33809" y="935596"/>
                    <a:pt x="103003" y="933008"/>
                    <a:pt x="146748" y="949124"/>
                  </a:cubicBezTo>
                  <a:cubicBezTo>
                    <a:pt x="176602" y="960123"/>
                    <a:pt x="208345" y="965119"/>
                    <a:pt x="239346" y="972273"/>
                  </a:cubicBezTo>
                  <a:cubicBezTo>
                    <a:pt x="281413" y="981981"/>
                    <a:pt x="324122" y="988332"/>
                    <a:pt x="366667" y="995423"/>
                  </a:cubicBezTo>
                  <a:cubicBezTo>
                    <a:pt x="497847" y="987706"/>
                    <a:pt x="631215" y="997355"/>
                    <a:pt x="760206" y="972273"/>
                  </a:cubicBezTo>
                  <a:cubicBezTo>
                    <a:pt x="780601" y="968307"/>
                    <a:pt x="773266" y="932562"/>
                    <a:pt x="783356" y="914400"/>
                  </a:cubicBezTo>
                  <a:cubicBezTo>
                    <a:pt x="792725" y="897537"/>
                    <a:pt x="809453" y="885356"/>
                    <a:pt x="818080" y="868101"/>
                  </a:cubicBezTo>
                  <a:cubicBezTo>
                    <a:pt x="832822" y="838617"/>
                    <a:pt x="838990" y="805434"/>
                    <a:pt x="852804" y="775504"/>
                  </a:cubicBezTo>
                  <a:cubicBezTo>
                    <a:pt x="862232" y="755077"/>
                    <a:pt x="877467" y="737752"/>
                    <a:pt x="887528" y="717630"/>
                  </a:cubicBezTo>
                  <a:cubicBezTo>
                    <a:pt x="892984" y="706717"/>
                    <a:pt x="888712" y="689300"/>
                    <a:pt x="899103" y="682906"/>
                  </a:cubicBezTo>
                  <a:cubicBezTo>
                    <a:pt x="941820" y="656619"/>
                    <a:pt x="991700" y="644324"/>
                    <a:pt x="1037999" y="625033"/>
                  </a:cubicBezTo>
                  <a:cubicBezTo>
                    <a:pt x="1045715" y="605742"/>
                    <a:pt x="1051058" y="585322"/>
                    <a:pt x="1061148" y="567159"/>
                  </a:cubicBezTo>
                  <a:cubicBezTo>
                    <a:pt x="1078343" y="536207"/>
                    <a:pt x="1095851" y="520882"/>
                    <a:pt x="1119022" y="497711"/>
                  </a:cubicBezTo>
                  <a:cubicBezTo>
                    <a:pt x="1122880" y="470704"/>
                    <a:pt x="1135946" y="443441"/>
                    <a:pt x="1130596" y="416689"/>
                  </a:cubicBezTo>
                  <a:cubicBezTo>
                    <a:pt x="1120057" y="363994"/>
                    <a:pt x="1104966" y="309209"/>
                    <a:pt x="1072723" y="266218"/>
                  </a:cubicBezTo>
                  <a:cubicBezTo>
                    <a:pt x="1061148" y="250785"/>
                    <a:pt x="1056850" y="224017"/>
                    <a:pt x="1037999" y="219919"/>
                  </a:cubicBezTo>
                  <a:cubicBezTo>
                    <a:pt x="962501" y="203506"/>
                    <a:pt x="883670" y="212202"/>
                    <a:pt x="806505" y="208344"/>
                  </a:cubicBezTo>
                  <a:cubicBezTo>
                    <a:pt x="591133" y="154502"/>
                    <a:pt x="684450" y="169939"/>
                    <a:pt x="528713" y="150471"/>
                  </a:cubicBezTo>
                  <a:cubicBezTo>
                    <a:pt x="519530" y="142599"/>
                    <a:pt x="421953" y="51120"/>
                    <a:pt x="389816" y="46299"/>
                  </a:cubicBezTo>
                  <a:cubicBezTo>
                    <a:pt x="332583" y="37714"/>
                    <a:pt x="235488" y="7716"/>
                    <a:pt x="2046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E5EFC68-F4C6-6A4E-165C-2F0BD9195C43}"/>
              </a:ext>
            </a:extLst>
          </p:cNvPr>
          <p:cNvSpPr txBox="1"/>
          <p:nvPr/>
        </p:nvSpPr>
        <p:spPr>
          <a:xfrm>
            <a:off x="6366831" y="4621886"/>
            <a:ext cx="32431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2D; 5000 elements</a:t>
            </a:r>
          </a:p>
          <a:p>
            <a:pPr algn="ctr"/>
            <a:r>
              <a:rPr lang="en-US" sz="2400" b="1" dirty="0"/>
              <a:t>Final compliance: </a:t>
            </a:r>
            <a:r>
              <a:rPr lang="en-US" sz="2400" b="1" dirty="0">
                <a:solidFill>
                  <a:srgbClr val="00B050"/>
                </a:solidFill>
              </a:rPr>
              <a:t>238</a:t>
            </a:r>
          </a:p>
        </p:txBody>
      </p:sp>
    </p:spTree>
    <p:extLst>
      <p:ext uri="{BB962C8B-B14F-4D97-AF65-F5344CB8AC3E}">
        <p14:creationId xmlns:p14="http://schemas.microsoft.com/office/powerpoint/2010/main" val="1080462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EB4B-34B4-D888-D837-4CF34A1FA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DE2A086-242C-7E7F-B290-29F3BC37F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2" y="2764208"/>
            <a:ext cx="5509634" cy="10490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699FAA-07DB-5E70-D701-ABE651094C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771A70-E437-3E6D-22FF-497E5DA58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NN Training Parameters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D9F817E-12A9-0A10-60C2-548098B883E8}"/>
              </a:ext>
            </a:extLst>
          </p:cNvPr>
          <p:cNvSpPr/>
          <p:nvPr/>
        </p:nvSpPr>
        <p:spPr>
          <a:xfrm rot="16200000">
            <a:off x="6052631" y="2982402"/>
            <a:ext cx="301906" cy="6126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4987A1-D133-01F1-2713-BF3AFF19D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71" y="4317431"/>
            <a:ext cx="5336138" cy="15347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E38704-D3AC-556F-EBAA-FFE5385AB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065" y="4887884"/>
            <a:ext cx="5146771" cy="1843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18294A-E296-84D8-C9E7-21D38A339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1373" y="899319"/>
            <a:ext cx="5000156" cy="39784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7FB6B7-513F-5768-9678-0099C831C382}"/>
              </a:ext>
            </a:extLst>
          </p:cNvPr>
          <p:cNvSpPr txBox="1"/>
          <p:nvPr/>
        </p:nvSpPr>
        <p:spPr>
          <a:xfrm>
            <a:off x="5651189" y="2533375"/>
            <a:ext cx="1104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 mins</a:t>
            </a:r>
          </a:p>
        </p:txBody>
      </p:sp>
    </p:spTree>
    <p:extLst>
      <p:ext uri="{BB962C8B-B14F-4D97-AF65-F5344CB8AC3E}">
        <p14:creationId xmlns:p14="http://schemas.microsoft.com/office/powerpoint/2010/main" val="4158166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3E84-1932-3C37-5E28-531D23E0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787D3F-1F7E-1585-FF07-9305D9A99B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0799" y="6430254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73D362F-21C7-211B-20C2-76B8A8ACC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Optimization Parameters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E0A9B-8794-8033-40FA-9E37A4132CD6}"/>
              </a:ext>
            </a:extLst>
          </p:cNvPr>
          <p:cNvSpPr txBox="1"/>
          <p:nvPr/>
        </p:nvSpPr>
        <p:spPr>
          <a:xfrm>
            <a:off x="467997" y="1358843"/>
            <a:ext cx="3502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3D; 10,000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009068-ADF7-FF22-614A-32D2D663C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42" y="1882063"/>
            <a:ext cx="3935550" cy="137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5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2AB9-3C4F-7EE5-5414-906B0218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09EF4D-F594-919E-C850-C770ACF712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0799" y="6430254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7958ED7-7E4D-A9FF-1BDC-2E023AB75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Optimal Topology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718E9-9378-824E-D79E-0C71AA53EC1F}"/>
              </a:ext>
            </a:extLst>
          </p:cNvPr>
          <p:cNvSpPr txBox="1"/>
          <p:nvPr/>
        </p:nvSpPr>
        <p:spPr>
          <a:xfrm>
            <a:off x="1188947" y="4318977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Compliance: </a:t>
            </a:r>
            <a:r>
              <a:rPr lang="en-US" sz="2400" b="1" dirty="0">
                <a:solidFill>
                  <a:srgbClr val="00B050"/>
                </a:solidFill>
              </a:rPr>
              <a:t>243.56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84B12-86D9-82E6-F95A-7AC000A02CA1}"/>
              </a:ext>
            </a:extLst>
          </p:cNvPr>
          <p:cNvSpPr txBox="1"/>
          <p:nvPr/>
        </p:nvSpPr>
        <p:spPr>
          <a:xfrm>
            <a:off x="381000" y="1148884"/>
            <a:ext cx="6094070" cy="267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b="1" dirty="0" err="1">
                <a:effectLst/>
                <a:latin typeface="Consolas" panose="020B0609020204030204" pitchFamily="49" charset="0"/>
              </a:rPr>
              <a:t>to_params.RelativeFilterRadius</a:t>
            </a:r>
            <a:r>
              <a:rPr lang="en-US" b="1" dirty="0">
                <a:effectLst/>
                <a:latin typeface="Consolas" panose="020B0609020204030204" pitchFamily="49" charset="0"/>
              </a:rPr>
              <a:t> = 1.5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968B03-0D5F-6D51-A4A8-14946257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01" y="1517854"/>
            <a:ext cx="5532731" cy="2475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14CE83-FE3D-4ECA-4E31-8710AF8DB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646" y="950090"/>
            <a:ext cx="3828892" cy="27940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7D66F1-CC9B-9A66-CC56-0A494F976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870" y="3890962"/>
            <a:ext cx="5678130" cy="28993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6AA792-6919-4CF5-6106-D7E0955E7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51" y="4840384"/>
            <a:ext cx="5588529" cy="176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53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8615F-6FF6-42F0-F346-DCA5FE20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8E8D1-7B3B-25F2-DB7F-5CE0597A31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0799" y="6430254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5C08549-AA26-4F91-E444-D300E8EE0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Optimal Topology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1CDBE8-C6F2-B7E8-D2B0-67721357ED54}"/>
              </a:ext>
            </a:extLst>
          </p:cNvPr>
          <p:cNvSpPr txBox="1"/>
          <p:nvPr/>
        </p:nvSpPr>
        <p:spPr>
          <a:xfrm>
            <a:off x="1188947" y="4318977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Compliance: </a:t>
            </a:r>
            <a:r>
              <a:rPr lang="en-US" sz="2400" b="1" dirty="0">
                <a:solidFill>
                  <a:srgbClr val="00B050"/>
                </a:solidFill>
              </a:rPr>
              <a:t>245.65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57EC7-36D3-5583-E923-B959CD6722CF}"/>
              </a:ext>
            </a:extLst>
          </p:cNvPr>
          <p:cNvSpPr txBox="1"/>
          <p:nvPr/>
        </p:nvSpPr>
        <p:spPr>
          <a:xfrm>
            <a:off x="381000" y="1148884"/>
            <a:ext cx="6094070" cy="267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b="1" dirty="0" err="1">
                <a:effectLst/>
                <a:latin typeface="Consolas" panose="020B0609020204030204" pitchFamily="49" charset="0"/>
              </a:rPr>
              <a:t>to_params.RelativeFilterRadius</a:t>
            </a:r>
            <a:r>
              <a:rPr lang="en-US" b="1" dirty="0">
                <a:effectLst/>
                <a:latin typeface="Consolas" panose="020B0609020204030204" pitchFamily="49" charset="0"/>
              </a:rPr>
              <a:t> = </a:t>
            </a:r>
            <a:r>
              <a:rPr lang="en-US" b="1" dirty="0">
                <a:latin typeface="Consolas" panose="020B0609020204030204" pitchFamily="49" charset="0"/>
              </a:rPr>
              <a:t>3</a:t>
            </a:r>
            <a:endParaRPr lang="en-US" b="1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1332E-1AAD-61EC-EA08-FB8D7442C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84" y="1493680"/>
            <a:ext cx="5466716" cy="24966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F5A7C1-5096-4D56-AFC5-4A09903E7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373" y="1071213"/>
            <a:ext cx="3840706" cy="29191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36ECE9-CB89-5135-FE3C-E2F57639F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400" y="3990363"/>
            <a:ext cx="5370653" cy="27412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ED7F4E-9CA9-08A6-B3B1-772EB414E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4780642"/>
            <a:ext cx="5392741" cy="195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86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E0C0A-D982-7DFD-BF45-B96790AC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AEB54-FCB6-E8A3-D2CE-D4195BB81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Discussion Topics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BD5AAC-1F16-19B2-16A7-781E51F8E8A9}"/>
              </a:ext>
            </a:extLst>
          </p:cNvPr>
          <p:cNvSpPr txBox="1"/>
          <p:nvPr/>
        </p:nvSpPr>
        <p:spPr>
          <a:xfrm>
            <a:off x="121961" y="3589507"/>
            <a:ext cx="773314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 Do</a:t>
            </a:r>
            <a:r>
              <a:rPr lang="en-US" sz="2400" dirty="0"/>
              <a:t>:</a:t>
            </a:r>
          </a:p>
          <a:p>
            <a:pPr marL="342900" indent="-342900">
              <a:buAutoNum type="arabicPeriod"/>
            </a:pPr>
            <a:r>
              <a:rPr lang="en-US" sz="2400" dirty="0"/>
              <a:t>Non-monotonic material database</a:t>
            </a:r>
          </a:p>
          <a:p>
            <a:pPr marL="342900" indent="-342900">
              <a:buAutoNum type="arabicPeriod"/>
            </a:pPr>
            <a:r>
              <a:rPr lang="en-US" sz="2400" dirty="0"/>
              <a:t>Impact of material initialization: ORIGIN to UNIFORM? </a:t>
            </a:r>
          </a:p>
          <a:p>
            <a:pPr marL="342900" indent="-342900">
              <a:buAutoNum type="arabicPeriod"/>
            </a:pPr>
            <a:r>
              <a:rPr lang="en-US" sz="2400" dirty="0"/>
              <a:t>Filter radius impact?</a:t>
            </a:r>
          </a:p>
          <a:p>
            <a:pPr marL="342900" indent="-342900">
              <a:buAutoNum type="arabicPeriod"/>
            </a:pPr>
            <a:r>
              <a:rPr lang="en-US" sz="2400" dirty="0"/>
              <a:t>Pure mass constraint?</a:t>
            </a:r>
          </a:p>
          <a:p>
            <a:pPr marL="342900" indent="-342900">
              <a:buAutoNum type="arabicPeriod"/>
            </a:pPr>
            <a:r>
              <a:rPr lang="en-US" sz="2400" dirty="0"/>
              <a:t>Add more materials?</a:t>
            </a:r>
          </a:p>
          <a:p>
            <a:pPr marL="342900" indent="-342900">
              <a:buAutoNum type="arabicPeriod"/>
            </a:pPr>
            <a:r>
              <a:rPr lang="en-US" sz="2400" dirty="0"/>
              <a:t>Additional benchmark studies?</a:t>
            </a:r>
          </a:p>
          <a:p>
            <a:pPr marL="342900" indent="-342900">
              <a:buFontTx/>
              <a:buAutoNum type="arabicPeriod"/>
            </a:pPr>
            <a:r>
              <a:rPr lang="en-US" sz="2400" dirty="0"/>
              <a:t>Impact of NN training parameters?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C3129-205A-D3B3-E123-0EE2BAB972D2}"/>
              </a:ext>
            </a:extLst>
          </p:cNvPr>
          <p:cNvSpPr txBox="1"/>
          <p:nvPr/>
        </p:nvSpPr>
        <p:spPr>
          <a:xfrm>
            <a:off x="121961" y="916810"/>
            <a:ext cx="11302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Concerns</a:t>
            </a:r>
            <a:r>
              <a:rPr lang="en-US" sz="24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Can we reduce NN training time?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impact of NN parameters on the latent space and optimal design is hard to understand (Ex:  Are these parameters applicable for all material tables?)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Filtering after penalization is not working (bug in backward prop).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Termination criteria?</a:t>
            </a:r>
          </a:p>
        </p:txBody>
      </p:sp>
    </p:spTree>
    <p:extLst>
      <p:ext uri="{BB962C8B-B14F-4D97-AF65-F5344CB8AC3E}">
        <p14:creationId xmlns:p14="http://schemas.microsoft.com/office/powerpoint/2010/main" val="385629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186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Microsoft Sans Serif</vt:lpstr>
      <vt:lpstr>Tahoma</vt:lpstr>
      <vt:lpstr>Office Theme</vt:lpstr>
      <vt:lpstr>Benchmark Problem: 3 Materials, 3 Attributes</vt:lpstr>
      <vt:lpstr>NN Training Parameters</vt:lpstr>
      <vt:lpstr>Optimization Parameters</vt:lpstr>
      <vt:lpstr>Optimal Topology</vt:lpstr>
      <vt:lpstr>Optimal Topology</vt:lpstr>
      <vt:lpstr>Discussion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Girish Deodhare</dc:creator>
  <cp:lastModifiedBy>Krishnan Suresh</cp:lastModifiedBy>
  <cp:revision>293</cp:revision>
  <dcterms:created xsi:type="dcterms:W3CDTF">2025-08-22T00:14:33Z</dcterms:created>
  <dcterms:modified xsi:type="dcterms:W3CDTF">2025-10-25T11:16:14Z</dcterms:modified>
</cp:coreProperties>
</file>