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403" r:id="rId2"/>
    <p:sldId id="2404" r:id="rId3"/>
    <p:sldId id="2405" r:id="rId4"/>
    <p:sldId id="2396" r:id="rId5"/>
    <p:sldId id="2381" r:id="rId6"/>
    <p:sldId id="2395" r:id="rId7"/>
    <p:sldId id="2406" r:id="rId8"/>
    <p:sldId id="2385" r:id="rId9"/>
    <p:sldId id="2386" r:id="rId10"/>
    <p:sldId id="2387" r:id="rId11"/>
    <p:sldId id="2388" r:id="rId12"/>
    <p:sldId id="2393" r:id="rId13"/>
    <p:sldId id="2394" r:id="rId14"/>
    <p:sldId id="2390" r:id="rId15"/>
    <p:sldId id="2391" r:id="rId16"/>
    <p:sldId id="239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66" d="100"/>
          <a:sy n="66" d="100"/>
        </p:scale>
        <p:origin x="114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BC63F-E652-456B-B880-2F318D1A192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865DCE-AB5F-46FA-B07C-E9C2FA202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691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E921-FB76-0F4E-CF67-342D99434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B462-56C8-46A7-CCE8-306B8EEB4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38E72-6F95-C42B-2756-4A763FFE7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7CD1C-4385-157B-93D0-0E661B20C0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7389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72511-8B4B-89B2-7667-C1A25FE9A4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457D6-580D-82D3-E580-E61C70894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77E62-71C6-AFF0-22D5-88BD1F6CB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3C5DB-1A12-E644-E213-B4575442B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71BF5-C276-C51F-4B7F-954EF3C00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032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2FEB0-96DE-174B-31AC-320FF7846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E04DB-3DA6-15DA-E034-BE1114009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C104-193F-E0BE-58A8-6DC26F3F3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19851-23A2-FF77-90D2-5D3FEC231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60BCF-CCA8-7064-2EA7-F9FB3794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63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3FD85-33A4-04FF-6164-4454A6EF0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59931-0FB0-9171-CE3C-BC670C1B5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38012E-8400-632B-410D-2C764CF85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F6E2F-C8DB-9479-FA52-D89E612C1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A68E0-3AC3-220F-2B51-864908E71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3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24EA7-01EB-8AA0-5619-F7B06E99E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3D5C6-E7F3-439D-AD89-E25D2AE7B0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ECEC15-2409-2B4D-7825-527ECED6D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C0BE98-26E3-8D23-2350-A972AF042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B4D656-0C5B-DB07-918B-DADD9F43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6BE08-19A6-93E7-3B2E-21539D3D7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228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E3B1B-6C89-87D8-783D-B713F86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C31DBE-318B-BC02-EEFD-BED880323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011DAC-C51C-7526-13CD-2D6E8802B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B6EC80-94EF-E5FB-23DF-E07B491C74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3F387F-C489-B6EC-60EE-C909DE9C4B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3241A0-BBA5-D8DB-4325-C4A831E5C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F47EB-B808-F09F-8D01-39CBA84F1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AF9359-2E83-1D5B-F061-07361D46D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185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900D-A811-EF23-F8A1-AE51FD316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5C503C-9176-CF2C-06B9-AF292779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AC571-50BE-21AA-C729-3C307B60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4C2DE-5563-9201-1C47-E7A2C401E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45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257C9E-18D9-B611-A4D6-8D33A880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CC2DD6-7065-FCDF-24EB-B20321847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7D967-DDE3-9040-0478-2DD991DC0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84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777CE-FD57-4B95-2DAC-0442441A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FB0C6-5D43-3005-F1B8-21555EE33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82AED-BEC1-5525-E364-1A3C16006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4F75D-BCD9-A48B-87A2-C6A429C1A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151453-1C7C-1FFA-397A-F31403A04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E4D9C-02BA-1B5A-9AE7-8E2107AFC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82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C4D4B-5366-92C3-59D3-50693A5C9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6B78B-A2EC-CC14-A349-AA9CED269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CEE1C-A1A2-74C9-635D-E50FB46307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604D90-842D-3201-CDD6-2632892F3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0DCF2-BA1B-93B5-BF7F-BD819610B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CDDCA-2A6B-422F-8DC0-DC603D23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16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9F7D-AE69-CC47-6713-526C186F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578506-2A5C-CBFA-A31D-233EBCE54D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E65F3-5A9B-7557-97C0-F1A8EFE6F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D7616-AC41-CCA5-FB5E-65C3926CC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38FC5-380A-AB24-5631-87E5424F7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520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2248E9-D3C7-6BE2-CF1D-C050F25E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2620F-CEC7-B36C-E0A5-A318BEEF35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13526-2001-C706-E871-1DC40D4FA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EE5C3-8F04-ADDB-3339-5E49968D8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8ADB9-B500-1797-4DA5-BA053642D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33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Distribution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Content Placeholder 10"/>
          <p:cNvSpPr>
            <a:spLocks noGrp="1"/>
          </p:cNvSpPr>
          <p:nvPr>
            <p:ph sz="quarter" idx="13"/>
          </p:nvPr>
        </p:nvSpPr>
        <p:spPr>
          <a:xfrm>
            <a:off x="381000" y="1143000"/>
            <a:ext cx="11252200" cy="5334000"/>
          </a:xfrm>
        </p:spPr>
        <p:txBody>
          <a:bodyPr/>
          <a:lstStyle>
            <a:lvl1pPr marL="342900" indent="-342900">
              <a:buFont typeface="Arial" pitchFamily="34" charset="0"/>
              <a:buChar char="•"/>
              <a:defRPr sz="180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>
              <a:buFont typeface="Arial" pitchFamily="34" charset="0"/>
              <a:buChar char="•"/>
              <a:defRPr sz="1600"/>
            </a:lvl2pPr>
            <a:lvl3pPr marL="1143000" indent="-228600">
              <a:buFont typeface="Arial" pitchFamily="34" charset="0"/>
              <a:buChar char="•"/>
              <a:defRPr sz="1400"/>
            </a:lvl3pPr>
            <a:lvl4pPr marL="1600200" indent="-228600">
              <a:buFont typeface="Arial" pitchFamily="34" charset="0"/>
              <a:buChar char="•"/>
              <a:defRPr sz="1300"/>
            </a:lvl4pPr>
            <a:lvl5pPr marL="2057400" indent="-228600">
              <a:buFont typeface="Arial" pitchFamily="34" charset="0"/>
              <a:buChar char="•"/>
              <a:defRPr sz="13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381000" y="151418"/>
            <a:ext cx="11302999" cy="612648"/>
          </a:xfrm>
        </p:spPr>
        <p:txBody>
          <a:bodyPr>
            <a:normAutofit/>
          </a:bodyPr>
          <a:lstStyle>
            <a:lvl1pPr algn="l">
              <a:defRPr sz="2400" b="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/>
          <p:cNvCxnSpPr>
            <a:cxnSpLocks noChangeShapeType="1"/>
          </p:cNvCxnSpPr>
          <p:nvPr userDrawn="1"/>
        </p:nvCxnSpPr>
        <p:spPr bwMode="auto">
          <a:xfrm>
            <a:off x="381000" y="841689"/>
            <a:ext cx="11302999" cy="0"/>
          </a:xfrm>
          <a:prstGeom prst="line">
            <a:avLst/>
          </a:prstGeom>
          <a:noFill/>
          <a:ln w="22225">
            <a:solidFill>
              <a:srgbClr val="0F5E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flSlideMaster.Title_and_ContentFooter">
            <a:extLst>
              <a:ext uri="{FF2B5EF4-FFF2-40B4-BE49-F238E27FC236}">
                <a16:creationId xmlns:a16="http://schemas.microsoft.com/office/drawing/2014/main" id="{F05F7EFF-3110-B928-68C2-871312C89898}"/>
              </a:ext>
            </a:extLst>
          </p:cNvPr>
          <p:cNvSpPr txBox="1"/>
          <p:nvPr userDrawn="1"/>
        </p:nvSpPr>
        <p:spPr>
          <a:xfrm>
            <a:off x="0" y="6537960"/>
            <a:ext cx="12192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endParaRPr lang="en-US" sz="850" b="0" i="0" u="none" baseline="0">
              <a:solidFill>
                <a:srgbClr val="666666"/>
              </a:solidFill>
              <a:latin typeface="Microsoft Sans Serif" panose="020B0604020202020204" pitchFamily="34" charset="0"/>
            </a:endParaRPr>
          </a:p>
        </p:txBody>
      </p:sp>
      <p:sp>
        <p:nvSpPr>
          <p:cNvPr id="8" name="hlSlideMaster.Title_and_ContentHeader">
            <a:extLst>
              <a:ext uri="{FF2B5EF4-FFF2-40B4-BE49-F238E27FC236}">
                <a16:creationId xmlns:a16="http://schemas.microsoft.com/office/drawing/2014/main" id="{44F40F80-E77B-F084-C964-B32D14012E01}"/>
              </a:ext>
            </a:extLst>
          </p:cNvPr>
          <p:cNvSpPr txBox="1"/>
          <p:nvPr userDrawn="1"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859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892AA6-9341-EA9F-B7D4-287FC0389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C46B7-5586-DDCA-0568-200B219A4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547A2-342A-2BD1-C0EC-9704E35C0D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5B4303-DE67-4DA8-B375-7E6264E8BDE4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D170-5168-B6B7-C383-0381F79340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0C7B2-DEB6-C941-D77B-010A348EF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36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9AB31-8040-8323-B077-BC801A1BA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E6319-EB59-2F14-7917-A039812DB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F4CBB14-5163-3CAF-43FE-009FFE315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54651" y="3414294"/>
            <a:ext cx="8739851" cy="88603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Results and observations for </a:t>
            </a:r>
            <a:r>
              <a:rPr lang="en-US" b="1" dirty="0"/>
              <a:t>constant-temperature</a:t>
            </a:r>
            <a:r>
              <a:rPr lang="en-US" dirty="0"/>
              <a:t> MMTO</a:t>
            </a:r>
            <a:br>
              <a:rPr lang="en-US" dirty="0"/>
            </a:br>
            <a:r>
              <a:rPr lang="en-US" dirty="0"/>
              <a:t>See MMTO_main.py</a:t>
            </a:r>
          </a:p>
        </p:txBody>
      </p:sp>
    </p:spTree>
    <p:extLst>
      <p:ext uri="{BB962C8B-B14F-4D97-AF65-F5344CB8AC3E}">
        <p14:creationId xmlns:p14="http://schemas.microsoft.com/office/powerpoint/2010/main" val="3517157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E2807-C806-ECBE-4D19-A0809673F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BEC2196-6572-1F93-2F8A-89FD5830A830}"/>
              </a:ext>
            </a:extLst>
          </p:cNvPr>
          <p:cNvGrpSpPr/>
          <p:nvPr/>
        </p:nvGrpSpPr>
        <p:grpSpPr>
          <a:xfrm>
            <a:off x="4051697" y="1006934"/>
            <a:ext cx="4757684" cy="1906124"/>
            <a:chOff x="6112397" y="2885580"/>
            <a:chExt cx="4757684" cy="190612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AB36607-B077-4CA4-5864-968BEDFE58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2397" y="2885580"/>
              <a:ext cx="4757684" cy="1906124"/>
            </a:xfrm>
            <a:prstGeom prst="rect">
              <a:avLst/>
            </a:prstGeom>
          </p:spPr>
        </p:pic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C32E6F7-D940-D522-2CF3-E13450EE1AC9}"/>
                </a:ext>
              </a:extLst>
            </p:cNvPr>
            <p:cNvSpPr/>
            <p:nvPr/>
          </p:nvSpPr>
          <p:spPr>
            <a:xfrm>
              <a:off x="6543419" y="2963119"/>
              <a:ext cx="1131864" cy="995423"/>
            </a:xfrm>
            <a:custGeom>
              <a:avLst/>
              <a:gdLst>
                <a:gd name="connsiteX0" fmla="*/ 204622 w 1131864"/>
                <a:gd name="connsiteY0" fmla="*/ 0 h 995423"/>
                <a:gd name="connsiteX1" fmla="*/ 204622 w 1131864"/>
                <a:gd name="connsiteY1" fmla="*/ 0 h 995423"/>
                <a:gd name="connsiteX2" fmla="*/ 77300 w 1131864"/>
                <a:gd name="connsiteY2" fmla="*/ 69448 h 995423"/>
                <a:gd name="connsiteX3" fmla="*/ 7852 w 1131864"/>
                <a:gd name="connsiteY3" fmla="*/ 520861 h 995423"/>
                <a:gd name="connsiteX4" fmla="*/ 19427 w 1131864"/>
                <a:gd name="connsiteY4" fmla="*/ 891251 h 995423"/>
                <a:gd name="connsiteX5" fmla="*/ 146748 w 1131864"/>
                <a:gd name="connsiteY5" fmla="*/ 949124 h 995423"/>
                <a:gd name="connsiteX6" fmla="*/ 239346 w 1131864"/>
                <a:gd name="connsiteY6" fmla="*/ 972273 h 995423"/>
                <a:gd name="connsiteX7" fmla="*/ 366667 w 1131864"/>
                <a:gd name="connsiteY7" fmla="*/ 995423 h 995423"/>
                <a:gd name="connsiteX8" fmla="*/ 760206 w 1131864"/>
                <a:gd name="connsiteY8" fmla="*/ 972273 h 995423"/>
                <a:gd name="connsiteX9" fmla="*/ 783356 w 1131864"/>
                <a:gd name="connsiteY9" fmla="*/ 914400 h 995423"/>
                <a:gd name="connsiteX10" fmla="*/ 818080 w 1131864"/>
                <a:gd name="connsiteY10" fmla="*/ 868101 h 995423"/>
                <a:gd name="connsiteX11" fmla="*/ 852804 w 1131864"/>
                <a:gd name="connsiteY11" fmla="*/ 775504 h 995423"/>
                <a:gd name="connsiteX12" fmla="*/ 887528 w 1131864"/>
                <a:gd name="connsiteY12" fmla="*/ 717630 h 995423"/>
                <a:gd name="connsiteX13" fmla="*/ 899103 w 1131864"/>
                <a:gd name="connsiteY13" fmla="*/ 682906 h 995423"/>
                <a:gd name="connsiteX14" fmla="*/ 1037999 w 1131864"/>
                <a:gd name="connsiteY14" fmla="*/ 625033 h 995423"/>
                <a:gd name="connsiteX15" fmla="*/ 1061148 w 1131864"/>
                <a:gd name="connsiteY15" fmla="*/ 567159 h 995423"/>
                <a:gd name="connsiteX16" fmla="*/ 1119022 w 1131864"/>
                <a:gd name="connsiteY16" fmla="*/ 497711 h 995423"/>
                <a:gd name="connsiteX17" fmla="*/ 1130596 w 1131864"/>
                <a:gd name="connsiteY17" fmla="*/ 416689 h 995423"/>
                <a:gd name="connsiteX18" fmla="*/ 1072723 w 1131864"/>
                <a:gd name="connsiteY18" fmla="*/ 266218 h 995423"/>
                <a:gd name="connsiteX19" fmla="*/ 1037999 w 1131864"/>
                <a:gd name="connsiteY19" fmla="*/ 219919 h 995423"/>
                <a:gd name="connsiteX20" fmla="*/ 806505 w 1131864"/>
                <a:gd name="connsiteY20" fmla="*/ 208344 h 995423"/>
                <a:gd name="connsiteX21" fmla="*/ 528713 w 1131864"/>
                <a:gd name="connsiteY21" fmla="*/ 150471 h 995423"/>
                <a:gd name="connsiteX22" fmla="*/ 389816 w 1131864"/>
                <a:gd name="connsiteY22" fmla="*/ 46299 h 995423"/>
                <a:gd name="connsiteX23" fmla="*/ 204622 w 1131864"/>
                <a:gd name="connsiteY23" fmla="*/ 0 h 995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131864" h="995423">
                  <a:moveTo>
                    <a:pt x="204622" y="0"/>
                  </a:moveTo>
                  <a:lnTo>
                    <a:pt x="204622" y="0"/>
                  </a:lnTo>
                  <a:cubicBezTo>
                    <a:pt x="162181" y="23149"/>
                    <a:pt x="100778" y="27188"/>
                    <a:pt x="77300" y="69448"/>
                  </a:cubicBezTo>
                  <a:cubicBezTo>
                    <a:pt x="46375" y="125112"/>
                    <a:pt x="16008" y="447460"/>
                    <a:pt x="7852" y="520861"/>
                  </a:cubicBezTo>
                  <a:cubicBezTo>
                    <a:pt x="11710" y="644324"/>
                    <a:pt x="-18681" y="773753"/>
                    <a:pt x="19427" y="891251"/>
                  </a:cubicBezTo>
                  <a:cubicBezTo>
                    <a:pt x="33809" y="935596"/>
                    <a:pt x="103003" y="933008"/>
                    <a:pt x="146748" y="949124"/>
                  </a:cubicBezTo>
                  <a:cubicBezTo>
                    <a:pt x="176602" y="960123"/>
                    <a:pt x="208345" y="965119"/>
                    <a:pt x="239346" y="972273"/>
                  </a:cubicBezTo>
                  <a:cubicBezTo>
                    <a:pt x="281413" y="981981"/>
                    <a:pt x="324122" y="988332"/>
                    <a:pt x="366667" y="995423"/>
                  </a:cubicBezTo>
                  <a:cubicBezTo>
                    <a:pt x="497847" y="987706"/>
                    <a:pt x="631215" y="997355"/>
                    <a:pt x="760206" y="972273"/>
                  </a:cubicBezTo>
                  <a:cubicBezTo>
                    <a:pt x="780601" y="968307"/>
                    <a:pt x="773266" y="932562"/>
                    <a:pt x="783356" y="914400"/>
                  </a:cubicBezTo>
                  <a:cubicBezTo>
                    <a:pt x="792725" y="897537"/>
                    <a:pt x="809453" y="885356"/>
                    <a:pt x="818080" y="868101"/>
                  </a:cubicBezTo>
                  <a:cubicBezTo>
                    <a:pt x="832822" y="838617"/>
                    <a:pt x="838990" y="805434"/>
                    <a:pt x="852804" y="775504"/>
                  </a:cubicBezTo>
                  <a:cubicBezTo>
                    <a:pt x="862232" y="755077"/>
                    <a:pt x="877467" y="737752"/>
                    <a:pt x="887528" y="717630"/>
                  </a:cubicBezTo>
                  <a:cubicBezTo>
                    <a:pt x="892984" y="706717"/>
                    <a:pt x="888712" y="689300"/>
                    <a:pt x="899103" y="682906"/>
                  </a:cubicBezTo>
                  <a:cubicBezTo>
                    <a:pt x="941820" y="656619"/>
                    <a:pt x="991700" y="644324"/>
                    <a:pt x="1037999" y="625033"/>
                  </a:cubicBezTo>
                  <a:cubicBezTo>
                    <a:pt x="1045715" y="605742"/>
                    <a:pt x="1051058" y="585322"/>
                    <a:pt x="1061148" y="567159"/>
                  </a:cubicBezTo>
                  <a:cubicBezTo>
                    <a:pt x="1078343" y="536207"/>
                    <a:pt x="1095851" y="520882"/>
                    <a:pt x="1119022" y="497711"/>
                  </a:cubicBezTo>
                  <a:cubicBezTo>
                    <a:pt x="1122880" y="470704"/>
                    <a:pt x="1135946" y="443441"/>
                    <a:pt x="1130596" y="416689"/>
                  </a:cubicBezTo>
                  <a:cubicBezTo>
                    <a:pt x="1120057" y="363994"/>
                    <a:pt x="1104966" y="309209"/>
                    <a:pt x="1072723" y="266218"/>
                  </a:cubicBezTo>
                  <a:cubicBezTo>
                    <a:pt x="1061148" y="250785"/>
                    <a:pt x="1056850" y="224017"/>
                    <a:pt x="1037999" y="219919"/>
                  </a:cubicBezTo>
                  <a:cubicBezTo>
                    <a:pt x="962501" y="203506"/>
                    <a:pt x="883670" y="212202"/>
                    <a:pt x="806505" y="208344"/>
                  </a:cubicBezTo>
                  <a:cubicBezTo>
                    <a:pt x="591133" y="154502"/>
                    <a:pt x="684450" y="169939"/>
                    <a:pt x="528713" y="150471"/>
                  </a:cubicBezTo>
                  <a:cubicBezTo>
                    <a:pt x="519530" y="142599"/>
                    <a:pt x="421953" y="51120"/>
                    <a:pt x="389816" y="46299"/>
                  </a:cubicBezTo>
                  <a:cubicBezTo>
                    <a:pt x="332583" y="37714"/>
                    <a:pt x="235488" y="7716"/>
                    <a:pt x="20462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8DDEE8-520A-F7C2-38EA-53EF7321A5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7950969-982B-7184-6C48-3778E6BBB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Bridge Problem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C57D43-619A-7BB2-C76B-1EEBCB7DDBE7}"/>
              </a:ext>
            </a:extLst>
          </p:cNvPr>
          <p:cNvSpPr txBox="1"/>
          <p:nvPr/>
        </p:nvSpPr>
        <p:spPr>
          <a:xfrm>
            <a:off x="1003459" y="5461748"/>
            <a:ext cx="108541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Zuo, W. and Saitou, K., 2017. Multi-material topology optimization using ordered SIMP interpolation.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Structural and Multidisciplinary Optimization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55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(2), pp.477-491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B55B5B-70B4-7550-8D09-F5CE22A547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519" y="968915"/>
            <a:ext cx="5012332" cy="23187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024DF-8A5D-C34E-B3D0-ED24AE289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6518" y="3517605"/>
            <a:ext cx="8704738" cy="13688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437C16-B94D-BFBF-8C33-48F386590C31}"/>
              </a:ext>
            </a:extLst>
          </p:cNvPr>
          <p:cNvSpPr txBox="1"/>
          <p:nvPr/>
        </p:nvSpPr>
        <p:spPr>
          <a:xfrm>
            <a:off x="8690833" y="1128999"/>
            <a:ext cx="32431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2D; 5000 elements</a:t>
            </a:r>
          </a:p>
          <a:p>
            <a:pPr algn="ctr"/>
            <a:r>
              <a:rPr lang="en-US" sz="2400" b="1" dirty="0"/>
              <a:t>Final compliance: </a:t>
            </a:r>
            <a:r>
              <a:rPr lang="en-US" sz="2400" b="1" dirty="0">
                <a:solidFill>
                  <a:srgbClr val="00B050"/>
                </a:solidFill>
              </a:rPr>
              <a:t>238</a:t>
            </a:r>
          </a:p>
        </p:txBody>
      </p:sp>
    </p:spTree>
    <p:extLst>
      <p:ext uri="{BB962C8B-B14F-4D97-AF65-F5344CB8AC3E}">
        <p14:creationId xmlns:p14="http://schemas.microsoft.com/office/powerpoint/2010/main" val="480139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4B27E-328C-6268-13B3-D75443254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1F6F3C-CF16-ACA6-D142-CFF4F473CD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C0A9B06D-AE06-B074-A9BB-8FC83E410A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Materials: </a:t>
            </a:r>
            <a:r>
              <a:rPr lang="en-US" dirty="0" err="1"/>
              <a:t>DataConstantTemperature</a:t>
            </a:r>
            <a:r>
              <a:rPr lang="en-US" dirty="0"/>
              <a:t>/3MaterialsBridge.xlsx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FF1BBE-3EBF-49F3-AB76-759801648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02" y="1824128"/>
            <a:ext cx="8704738" cy="13688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0EF52A4-1A8D-3177-2D88-3F7A13099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41" y="3511774"/>
            <a:ext cx="5771961" cy="18773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4CE608-B458-7F30-98B5-5D52DCFF8E38}"/>
              </a:ext>
            </a:extLst>
          </p:cNvPr>
          <p:cNvSpPr txBox="1"/>
          <p:nvPr/>
        </p:nvSpPr>
        <p:spPr>
          <a:xfrm>
            <a:off x="838200" y="5707915"/>
            <a:ext cx="39655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All attributes reconstruction errors are within 0.001%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06315A-BC0F-69F2-E24A-FFEB049682D0}"/>
              </a:ext>
            </a:extLst>
          </p:cNvPr>
          <p:cNvSpPr txBox="1"/>
          <p:nvPr/>
        </p:nvSpPr>
        <p:spPr>
          <a:xfrm>
            <a:off x="24642" y="961000"/>
            <a:ext cx="16760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3 materials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3 attributes</a:t>
            </a:r>
          </a:p>
        </p:txBody>
      </p:sp>
    </p:spTree>
    <p:extLst>
      <p:ext uri="{BB962C8B-B14F-4D97-AF65-F5344CB8AC3E}">
        <p14:creationId xmlns:p14="http://schemas.microsoft.com/office/powerpoint/2010/main" val="3645681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C742-F933-ED31-BA54-310CD7A1B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9FA46C-5AF9-0EC6-DCAE-069A53484C7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B3126C4-A307-5B7B-3E27-D485DC5C1A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Sample Latent Spaces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15BCAF-8C60-DCAC-80C9-F1F38C028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78" y="1667020"/>
            <a:ext cx="4460631" cy="34805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D82F49D-C946-EF73-03B2-BB18EDDF81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2514" y="1563291"/>
            <a:ext cx="4359343" cy="359445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29B9F72-7672-17DE-4911-FCE24A32662A}"/>
              </a:ext>
            </a:extLst>
          </p:cNvPr>
          <p:cNvSpPr txBox="1"/>
          <p:nvPr/>
        </p:nvSpPr>
        <p:spPr>
          <a:xfrm>
            <a:off x="6855329" y="1188961"/>
            <a:ext cx="1761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Density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918EB-AAEA-E66C-8EBB-2DD43EC89BB7}"/>
              </a:ext>
            </a:extLst>
          </p:cNvPr>
          <p:cNvSpPr txBox="1"/>
          <p:nvPr/>
        </p:nvSpPr>
        <p:spPr>
          <a:xfrm>
            <a:off x="823963" y="1200830"/>
            <a:ext cx="2942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Young’s Modulus</a:t>
            </a:r>
          </a:p>
        </p:txBody>
      </p:sp>
    </p:spTree>
    <p:extLst>
      <p:ext uri="{BB962C8B-B14F-4D97-AF65-F5344CB8AC3E}">
        <p14:creationId xmlns:p14="http://schemas.microsoft.com/office/powerpoint/2010/main" val="2830521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82AB9-3C4F-7EE5-5414-906B0218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09EF4D-F594-919E-C850-C770ACF712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940799" y="6430254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7958ED7-7E4D-A9FF-1BDC-2E023AB756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4EC53C-6A45-0D52-A6F8-77750BFEA5CC}"/>
              </a:ext>
            </a:extLst>
          </p:cNvPr>
          <p:cNvSpPr txBox="1"/>
          <p:nvPr/>
        </p:nvSpPr>
        <p:spPr>
          <a:xfrm>
            <a:off x="284990" y="1015967"/>
            <a:ext cx="609437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4FC1FF"/>
                </a:solidFill>
                <a:latin typeface="Consolas" panose="020B0609020204030204" pitchFamily="49" charset="0"/>
              </a:rPr>
              <a:t>BridgeProblem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_Compliance_MassCost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CA4DF30-DD8C-9BCF-55B1-3CB0809EC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313" y="1579280"/>
            <a:ext cx="3685714" cy="220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607339F-F8FC-4E0F-2FFE-4ED68842D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22" y="3927439"/>
            <a:ext cx="4161905" cy="99047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8CDBE92-EA6F-FA36-279C-2C6CCDF09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4938" y="1302327"/>
            <a:ext cx="4461271" cy="323387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A2CA8D-2930-41CC-82A9-00B031DA0BE8}"/>
              </a:ext>
            </a:extLst>
          </p:cNvPr>
          <p:cNvSpPr txBox="1"/>
          <p:nvPr/>
        </p:nvSpPr>
        <p:spPr>
          <a:xfrm>
            <a:off x="950233" y="5066074"/>
            <a:ext cx="30796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Our compliance: </a:t>
            </a:r>
            <a:r>
              <a:rPr lang="en-US" sz="2400" b="1" dirty="0">
                <a:solidFill>
                  <a:srgbClr val="00B050"/>
                </a:solidFill>
              </a:rPr>
              <a:t>243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77E2DB-EE12-DA94-35E3-0AC1504D7975}"/>
              </a:ext>
            </a:extLst>
          </p:cNvPr>
          <p:cNvSpPr txBox="1"/>
          <p:nvPr/>
        </p:nvSpPr>
        <p:spPr>
          <a:xfrm>
            <a:off x="5091886" y="5065385"/>
            <a:ext cx="69226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Our 3D solution is within 2% of the 2D benchmark solution. We can easily handle 20+ materials.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67D6A-AE71-E9BA-858B-A61D06EA9CEF}"/>
              </a:ext>
            </a:extLst>
          </p:cNvPr>
          <p:cNvSpPr txBox="1"/>
          <p:nvPr/>
        </p:nvSpPr>
        <p:spPr>
          <a:xfrm>
            <a:off x="426600" y="5942727"/>
            <a:ext cx="39971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Reference compliance: </a:t>
            </a:r>
            <a:r>
              <a:rPr lang="en-US" sz="2400" b="1" dirty="0">
                <a:solidFill>
                  <a:srgbClr val="00B050"/>
                </a:solidFill>
              </a:rPr>
              <a:t>238</a:t>
            </a:r>
          </a:p>
        </p:txBody>
      </p:sp>
    </p:spTree>
    <p:extLst>
      <p:ext uri="{BB962C8B-B14F-4D97-AF65-F5344CB8AC3E}">
        <p14:creationId xmlns:p14="http://schemas.microsoft.com/office/powerpoint/2010/main" val="1035853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21D0B-75C3-AA5C-D584-A0BCE6F17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3F1F15-0ADB-0359-ECCB-3C1EE02D34A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D042F7B-6140-1EEC-7013-46EB016141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Materials: </a:t>
            </a:r>
            <a:r>
              <a:rPr lang="en-US" dirty="0" err="1"/>
              <a:t>DataConstantTemperature</a:t>
            </a:r>
            <a:r>
              <a:rPr lang="en-US" dirty="0"/>
              <a:t>/3Materials.xlsx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737E2-02FD-53EC-5B55-B097B91C8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096" y="1936191"/>
            <a:ext cx="10388070" cy="12100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1A2036-8428-7DEA-1542-12DF20CF4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0975" y="3608844"/>
            <a:ext cx="5650025" cy="22264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64340-D4BD-EDE1-B57A-92621709DE33}"/>
              </a:ext>
            </a:extLst>
          </p:cNvPr>
          <p:cNvSpPr txBox="1"/>
          <p:nvPr/>
        </p:nvSpPr>
        <p:spPr>
          <a:xfrm>
            <a:off x="7439628" y="5893777"/>
            <a:ext cx="4036268" cy="827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All attributes reconstruction errors are within 0.1%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5207502-5985-B756-A1E7-0A7BE218A0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096" y="4149874"/>
            <a:ext cx="4759802" cy="61264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2F19186-93C2-63CE-DE54-6A1F87991422}"/>
              </a:ext>
            </a:extLst>
          </p:cNvPr>
          <p:cNvSpPr txBox="1"/>
          <p:nvPr/>
        </p:nvSpPr>
        <p:spPr>
          <a:xfrm>
            <a:off x="381000" y="5066079"/>
            <a:ext cx="40362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Training takes about 4 mins. This is usually negligible for large scale TO problems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BC58F5-C32D-6DA9-940F-836CBCC1B4C2}"/>
              </a:ext>
            </a:extLst>
          </p:cNvPr>
          <p:cNvSpPr txBox="1"/>
          <p:nvPr/>
        </p:nvSpPr>
        <p:spPr>
          <a:xfrm>
            <a:off x="24642" y="961000"/>
            <a:ext cx="16760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3 materials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5 attributes</a:t>
            </a:r>
          </a:p>
        </p:txBody>
      </p:sp>
    </p:spTree>
    <p:extLst>
      <p:ext uri="{BB962C8B-B14F-4D97-AF65-F5344CB8AC3E}">
        <p14:creationId xmlns:p14="http://schemas.microsoft.com/office/powerpoint/2010/main" val="1957936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7FA04-10F2-CB07-817F-774403443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E74969-485B-8368-D67A-A9BB36837E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C017ED49-7031-8023-E441-14DF867C38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Sample Latent Spaces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825A94-841C-9247-F669-37E73B658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99" y="1978132"/>
            <a:ext cx="4193444" cy="33547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AFAEBB4-D0D1-4A27-5E08-F7A40BC36224}"/>
              </a:ext>
            </a:extLst>
          </p:cNvPr>
          <p:cNvSpPr txBox="1"/>
          <p:nvPr/>
        </p:nvSpPr>
        <p:spPr>
          <a:xfrm>
            <a:off x="672054" y="1454912"/>
            <a:ext cx="2942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Young’s Modulus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9C9A26A-8DEA-C1F9-F4B7-CED5C79D5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547" y="1965572"/>
            <a:ext cx="4264867" cy="35266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A068BAE-E697-D1D0-615E-7067041403A1}"/>
              </a:ext>
            </a:extLst>
          </p:cNvPr>
          <p:cNvSpPr txBox="1"/>
          <p:nvPr/>
        </p:nvSpPr>
        <p:spPr>
          <a:xfrm>
            <a:off x="6584107" y="1439840"/>
            <a:ext cx="1761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Density</a:t>
            </a:r>
          </a:p>
        </p:txBody>
      </p:sp>
    </p:spTree>
    <p:extLst>
      <p:ext uri="{BB962C8B-B14F-4D97-AF65-F5344CB8AC3E}">
        <p14:creationId xmlns:p14="http://schemas.microsoft.com/office/powerpoint/2010/main" val="2906560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BFE42-A58D-708F-23CC-EA375A8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159FF3-940C-E3EE-2C46-7DC08DF1BB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9F07817-EB59-3B74-2E3A-9A23F371CE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8A9B68-030D-873F-1BB6-9DA53582B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57" y="1422491"/>
            <a:ext cx="3276190" cy="24095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EC82CFE-79FE-D556-7378-F7D89EF70221}"/>
              </a:ext>
            </a:extLst>
          </p:cNvPr>
          <p:cNvSpPr txBox="1"/>
          <p:nvPr/>
        </p:nvSpPr>
        <p:spPr>
          <a:xfrm>
            <a:off x="299154" y="1034162"/>
            <a:ext cx="609437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LBracketTopLoad_Compliance_Mass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15D3D7-CAD1-2CF7-71DC-23F39923D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154" y="4031621"/>
            <a:ext cx="4864529" cy="117247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4E30926-516A-5E6D-217A-455AB1FFD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2499" y="1371857"/>
            <a:ext cx="5552381" cy="41142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56167E-21CE-6E69-3624-8CD979C15137}"/>
              </a:ext>
            </a:extLst>
          </p:cNvPr>
          <p:cNvSpPr txBox="1"/>
          <p:nvPr/>
        </p:nvSpPr>
        <p:spPr>
          <a:xfrm>
            <a:off x="165342" y="5505748"/>
            <a:ext cx="7417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Stiff materials are added where expected.</a:t>
            </a:r>
          </a:p>
          <a:p>
            <a:r>
              <a:rPr lang="en-US" sz="2400" dirty="0">
                <a:highlight>
                  <a:srgbClr val="FFFF00"/>
                </a:highlight>
              </a:rPr>
              <a:t>Constraints are satisfied</a:t>
            </a:r>
          </a:p>
        </p:txBody>
      </p:sp>
    </p:spTree>
    <p:extLst>
      <p:ext uri="{BB962C8B-B14F-4D97-AF65-F5344CB8AC3E}">
        <p14:creationId xmlns:p14="http://schemas.microsoft.com/office/powerpoint/2010/main" val="2876136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787E-BA49-A67E-9ED9-D6C1A423C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EB131B-2426-3266-F7D5-565BD578B8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C9CEF57-D14B-B6D6-4B0E-A0EC5D2946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739995-EEC3-852C-F81A-F9DD717D2F2E}"/>
              </a:ext>
            </a:extLst>
          </p:cNvPr>
          <p:cNvSpPr txBox="1"/>
          <p:nvPr/>
        </p:nvSpPr>
        <p:spPr>
          <a:xfrm>
            <a:off x="229410" y="1104406"/>
            <a:ext cx="6369186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LBracketTopLoad_Compliance_MassCost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65276F-7162-7255-9684-021F1C014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410" y="1701693"/>
            <a:ext cx="3533333" cy="24190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DE9968-BEE9-0FC2-F60A-5417268A2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211" y="4431668"/>
            <a:ext cx="4471307" cy="123749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D80957-8699-874B-A904-9C4A2BADD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7828" y="1440587"/>
            <a:ext cx="5704762" cy="42285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222D3-9AC4-E277-2495-48A2F11A90B5}"/>
              </a:ext>
            </a:extLst>
          </p:cNvPr>
          <p:cNvSpPr txBox="1"/>
          <p:nvPr/>
        </p:nvSpPr>
        <p:spPr>
          <a:xfrm>
            <a:off x="229410" y="5900637"/>
            <a:ext cx="74174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Adding more constraints does not significantly increase computational cost</a:t>
            </a:r>
          </a:p>
        </p:txBody>
      </p:sp>
    </p:spTree>
    <p:extLst>
      <p:ext uri="{BB962C8B-B14F-4D97-AF65-F5344CB8AC3E}">
        <p14:creationId xmlns:p14="http://schemas.microsoft.com/office/powerpoint/2010/main" val="36902703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4BEB7-381A-92B9-858C-B8615447E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86F46A-6FBD-2762-42AA-0B99BC9C37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A51E40B-FA75-0448-F479-3F7E6BBF70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435818-279E-6DB7-25EA-65ED6FAD8590}"/>
              </a:ext>
            </a:extLst>
          </p:cNvPr>
          <p:cNvSpPr txBox="1"/>
          <p:nvPr/>
        </p:nvSpPr>
        <p:spPr>
          <a:xfrm>
            <a:off x="187257" y="1297408"/>
            <a:ext cx="7341952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LBracketTopLoad_Compliance_MassCriticality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F5AA58-2830-EC77-3ED8-CC5BC05DD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79" y="1737765"/>
            <a:ext cx="3523809" cy="22952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B86AE06-3CC8-9464-1860-F21B26CF0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623" y="1737765"/>
            <a:ext cx="5647619" cy="42190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3875CE-B21F-29D5-A630-A1884A3EB6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4187000"/>
            <a:ext cx="4778154" cy="11354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3D3D90-2A0C-DF3D-FDC5-66DAD2049E04}"/>
              </a:ext>
            </a:extLst>
          </p:cNvPr>
          <p:cNvSpPr txBox="1"/>
          <p:nvPr/>
        </p:nvSpPr>
        <p:spPr>
          <a:xfrm>
            <a:off x="165342" y="5505748"/>
            <a:ext cx="63396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Max criticality constraint ensures that materials of criticality are avoided</a:t>
            </a:r>
          </a:p>
        </p:txBody>
      </p:sp>
    </p:spTree>
    <p:extLst>
      <p:ext uri="{BB962C8B-B14F-4D97-AF65-F5344CB8AC3E}">
        <p14:creationId xmlns:p14="http://schemas.microsoft.com/office/powerpoint/2010/main" val="2732281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97CFD-C5C6-1271-F679-32510BB95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CE5945-E73B-EA98-079F-91C3A159C3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1CF4163-1892-01D1-B5F8-6E9E107C8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59264C-C039-C674-F32B-A0BFFAF6CB08}"/>
              </a:ext>
            </a:extLst>
          </p:cNvPr>
          <p:cNvSpPr txBox="1"/>
          <p:nvPr/>
        </p:nvSpPr>
        <p:spPr>
          <a:xfrm>
            <a:off x="206712" y="1262467"/>
            <a:ext cx="609437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LBracketTopLoad_Stress_Compliance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2F36F5-8DA5-AD25-4C0A-50562B8278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376" y="1789050"/>
            <a:ext cx="4168966" cy="27417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25408-D924-2902-FD3D-ABCAA2213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090" y="916055"/>
            <a:ext cx="5593565" cy="40999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5EED1B8-7B1E-16E6-B557-3E153A0E7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8" y="4694690"/>
            <a:ext cx="4313294" cy="8992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7FB38D-8E08-3C10-2B9F-49A6F9EAD50C}"/>
              </a:ext>
            </a:extLst>
          </p:cNvPr>
          <p:cNvSpPr txBox="1"/>
          <p:nvPr/>
        </p:nvSpPr>
        <p:spPr>
          <a:xfrm>
            <a:off x="206712" y="5894685"/>
            <a:ext cx="74174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Optimizer seems to prefer a single material (?!)</a:t>
            </a:r>
          </a:p>
        </p:txBody>
      </p:sp>
    </p:spTree>
    <p:extLst>
      <p:ext uri="{BB962C8B-B14F-4D97-AF65-F5344CB8AC3E}">
        <p14:creationId xmlns:p14="http://schemas.microsoft.com/office/powerpoint/2010/main" val="32673866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7A109-E093-0AF2-12EA-4695D7A94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16437F-2CB2-5145-AB09-09B653E292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B58D403-6C55-0AF2-9DD1-87B2879C3D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Materials: </a:t>
            </a:r>
            <a:r>
              <a:rPr lang="en-US" dirty="0" err="1"/>
              <a:t>DataConstantTemperature</a:t>
            </a:r>
            <a:r>
              <a:rPr lang="en-US" dirty="0"/>
              <a:t>/20MaterialsTeledyne.xlsx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B83ABB-B0F8-D140-C16F-FFD869F1D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72" y="1632515"/>
            <a:ext cx="7501582" cy="35929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2288BC-C7E6-57E9-657A-2E93CF50F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773" y="5507874"/>
            <a:ext cx="5874227" cy="6012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0E8DCE0-2D6A-5621-C0DB-49174BDF0C96}"/>
              </a:ext>
            </a:extLst>
          </p:cNvPr>
          <p:cNvSpPr txBox="1"/>
          <p:nvPr/>
        </p:nvSpPr>
        <p:spPr>
          <a:xfrm>
            <a:off x="381000" y="6213318"/>
            <a:ext cx="40362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Training takes about 6 mins.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E6B6CA-2A97-1739-22E3-E0B52E8E5B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298" y="4238485"/>
            <a:ext cx="4036268" cy="1731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D69D610-66A2-6E24-218C-BBD31E406755}"/>
              </a:ext>
            </a:extLst>
          </p:cNvPr>
          <p:cNvSpPr txBox="1"/>
          <p:nvPr/>
        </p:nvSpPr>
        <p:spPr>
          <a:xfrm>
            <a:off x="8038298" y="6030302"/>
            <a:ext cx="4036268" cy="8276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All attributes reconstruction errors are within 1%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D85E17-6A45-0399-D07E-8600B9408569}"/>
              </a:ext>
            </a:extLst>
          </p:cNvPr>
          <p:cNvSpPr txBox="1"/>
          <p:nvPr/>
        </p:nvSpPr>
        <p:spPr>
          <a:xfrm>
            <a:off x="0" y="865134"/>
            <a:ext cx="17994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20 materials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5 attributes</a:t>
            </a:r>
          </a:p>
        </p:txBody>
      </p:sp>
    </p:spTree>
    <p:extLst>
      <p:ext uri="{BB962C8B-B14F-4D97-AF65-F5344CB8AC3E}">
        <p14:creationId xmlns:p14="http://schemas.microsoft.com/office/powerpoint/2010/main" val="1561751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3144F-F0E0-FD4E-DDF4-2620F9114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4044A5-0777-FF7E-D1EE-4AD92952E3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0F44803-E0B7-576B-7742-1775E15ECB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Materials: Sample Latent Space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556B28-6350-089F-6CFE-16C518FAC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53" y="1523398"/>
            <a:ext cx="5459438" cy="4358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534949-93FF-9C6C-5F70-8D9A2FA8A8FB}"/>
              </a:ext>
            </a:extLst>
          </p:cNvPr>
          <p:cNvSpPr txBox="1"/>
          <p:nvPr/>
        </p:nvSpPr>
        <p:spPr>
          <a:xfrm>
            <a:off x="1563304" y="1092822"/>
            <a:ext cx="2942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Young’s Modulus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4101D8-47E8-4E1C-311B-81F6BC466A1B}"/>
              </a:ext>
            </a:extLst>
          </p:cNvPr>
          <p:cNvSpPr txBox="1"/>
          <p:nvPr/>
        </p:nvSpPr>
        <p:spPr>
          <a:xfrm>
            <a:off x="7973069" y="1040667"/>
            <a:ext cx="1761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Cost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D711D73-4BD7-3297-3A7C-7ECD931A55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10167"/>
            <a:ext cx="5304245" cy="42359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1EA7BCB-0F42-ADF5-99CC-C1EEF799C3CA}"/>
              </a:ext>
            </a:extLst>
          </p:cNvPr>
          <p:cNvSpPr txBox="1"/>
          <p:nvPr/>
        </p:nvSpPr>
        <p:spPr>
          <a:xfrm>
            <a:off x="1563304" y="6269969"/>
            <a:ext cx="74174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Highly non-linear latent space</a:t>
            </a:r>
          </a:p>
        </p:txBody>
      </p:sp>
    </p:spTree>
    <p:extLst>
      <p:ext uri="{BB962C8B-B14F-4D97-AF65-F5344CB8AC3E}">
        <p14:creationId xmlns:p14="http://schemas.microsoft.com/office/powerpoint/2010/main" val="28063409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616D-FB0C-7757-E05B-DDA8A2FA7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2D889A-5827-F49F-A506-1FBE086D82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DA164B79-3C92-2B55-8050-A9B3707C5F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E4EF69-5BB0-A660-FE04-AEB90328996E}"/>
              </a:ext>
            </a:extLst>
          </p:cNvPr>
          <p:cNvSpPr txBox="1"/>
          <p:nvPr/>
        </p:nvSpPr>
        <p:spPr>
          <a:xfrm>
            <a:off x="87764" y="1107933"/>
            <a:ext cx="609437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BliskSection_Compliance_MassCost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81D96A8-2486-4A62-4667-CA433D529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2142" y="1394293"/>
            <a:ext cx="5753599" cy="41837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EACB9C5-6E3D-C856-44B9-CD63BEC92D59}"/>
              </a:ext>
            </a:extLst>
          </p:cNvPr>
          <p:cNvSpPr txBox="1"/>
          <p:nvPr/>
        </p:nvSpPr>
        <p:spPr>
          <a:xfrm>
            <a:off x="206711" y="5894685"/>
            <a:ext cx="87868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Additional iterations needed for convergence. </a:t>
            </a:r>
            <a:br>
              <a:rPr lang="en-US" sz="2400" dirty="0">
                <a:highlight>
                  <a:srgbClr val="FFFF00"/>
                </a:highlight>
              </a:rPr>
            </a:br>
            <a:r>
              <a:rPr lang="en-US" sz="2400" dirty="0">
                <a:highlight>
                  <a:srgbClr val="FFFF00"/>
                </a:highlight>
              </a:rPr>
              <a:t>Stopped at 100 iterations for all examples.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98A39A-17CB-694C-2D32-2D723229EA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665" y="1576529"/>
            <a:ext cx="3711262" cy="26824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176E00D-3202-674D-F96B-59E40ABCBC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425" y="4549247"/>
            <a:ext cx="5913301" cy="1315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6134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96C86-7201-800C-271C-8A189437D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4706F3-601E-C0E4-6226-2CED79E6DA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38CB866-BFB6-66DD-2803-70AD17CBF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7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36DF42-A97A-929F-8C65-387CE8D9D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0400" y="1371421"/>
            <a:ext cx="5753599" cy="41151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D0B6FA-25B9-761F-32B1-9C0DF31E0509}"/>
              </a:ext>
            </a:extLst>
          </p:cNvPr>
          <p:cNvSpPr txBox="1"/>
          <p:nvPr/>
        </p:nvSpPr>
        <p:spPr>
          <a:xfrm>
            <a:off x="380999" y="1075848"/>
            <a:ext cx="7837025" cy="267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00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BliskSection_Compliance_MassCriticality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51070B-4149-771D-3566-7A57DCD76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" y="1535285"/>
            <a:ext cx="4339256" cy="28809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C20A264-1C29-6A58-93BF-1CD281A56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561" y="4840964"/>
            <a:ext cx="5435802" cy="129122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857D9B-DBD4-876C-B33C-F37260AE3B48}"/>
              </a:ext>
            </a:extLst>
          </p:cNvPr>
          <p:cNvSpPr txBox="1"/>
          <p:nvPr/>
        </p:nvSpPr>
        <p:spPr>
          <a:xfrm>
            <a:off x="160413" y="6226935"/>
            <a:ext cx="9921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We can enforce mean criticality (as opposed to max criticality)</a:t>
            </a:r>
          </a:p>
        </p:txBody>
      </p:sp>
    </p:spTree>
    <p:extLst>
      <p:ext uri="{BB962C8B-B14F-4D97-AF65-F5344CB8AC3E}">
        <p14:creationId xmlns:p14="http://schemas.microsoft.com/office/powerpoint/2010/main" val="2687041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F1A8C-814F-7C47-61A6-3EA5E2054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F96852-22AA-5E5B-2629-37577176425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01E4D27-C554-A0B0-BD84-A666D5EDB1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26366"/>
            <a:ext cx="11302999" cy="612648"/>
          </a:xfrm>
        </p:spPr>
        <p:txBody>
          <a:bodyPr>
            <a:normAutofit/>
          </a:bodyPr>
          <a:lstStyle/>
          <a:p>
            <a:r>
              <a:rPr lang="en-US" dirty="0"/>
              <a:t>Example 10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DBB785-9D49-BB5C-4674-D08A39F545B2}"/>
              </a:ext>
            </a:extLst>
          </p:cNvPr>
          <p:cNvSpPr txBox="1"/>
          <p:nvPr/>
        </p:nvSpPr>
        <p:spPr>
          <a:xfrm>
            <a:off x="381000" y="1288415"/>
            <a:ext cx="6629399" cy="267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200"/>
              </a:lnSpc>
              <a:buNone/>
            </a:pP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MMTOExamples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BliskSection_Stress_Mass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CA5F29-0388-C8D4-C661-7033D6FAE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559037"/>
            <a:ext cx="5176666" cy="38438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B4FF23-B8A4-BB85-098E-76335845F72B}"/>
              </a:ext>
            </a:extLst>
          </p:cNvPr>
          <p:cNvSpPr txBox="1"/>
          <p:nvPr/>
        </p:nvSpPr>
        <p:spPr>
          <a:xfrm>
            <a:off x="5230310" y="5590197"/>
            <a:ext cx="6760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FFFF00"/>
                </a:highlight>
              </a:rPr>
              <a:t>Additional iterations are needed for convergence.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B5E78A-C69F-EB1F-601A-DA6F1FA13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5723501"/>
            <a:ext cx="4336156" cy="81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1957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2717</TotalTime>
  <Words>343</Words>
  <Application>Microsoft Office PowerPoint</Application>
  <PresentationFormat>Widescreen</PresentationFormat>
  <Paragraphs>73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Consolas</vt:lpstr>
      <vt:lpstr>Microsoft Sans Serif</vt:lpstr>
      <vt:lpstr>Tahoma</vt:lpstr>
      <vt:lpstr>Office Theme</vt:lpstr>
      <vt:lpstr>Results and observations for constant-temperature MMTO See MMTO_main.py</vt:lpstr>
      <vt:lpstr>Bridge Problem</vt:lpstr>
      <vt:lpstr>Materials: DataConstantTemperature/3MaterialsBridge.xlsx </vt:lpstr>
      <vt:lpstr>Sample Latent Spaces</vt:lpstr>
      <vt:lpstr>Example 1</vt:lpstr>
      <vt:lpstr>Materials: DataConstantTemperature/3Materials.xlsx </vt:lpstr>
      <vt:lpstr>Sample Latent Spaces</vt:lpstr>
      <vt:lpstr>Example 2</vt:lpstr>
      <vt:lpstr>Example 3</vt:lpstr>
      <vt:lpstr>Example 4</vt:lpstr>
      <vt:lpstr>Example 5</vt:lpstr>
      <vt:lpstr>Materials: DataConstantTemperature/20MaterialsTeledyne.xlsx </vt:lpstr>
      <vt:lpstr>Materials: Sample Latent Space</vt:lpstr>
      <vt:lpstr>Example 6</vt:lpstr>
      <vt:lpstr>Example 7</vt:lpstr>
      <vt:lpstr>Example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Gaurav Girish Deodhare</dc:creator>
  <cp:lastModifiedBy>Krishnan Suresh</cp:lastModifiedBy>
  <cp:revision>334</cp:revision>
  <dcterms:created xsi:type="dcterms:W3CDTF">2025-08-22T00:14:33Z</dcterms:created>
  <dcterms:modified xsi:type="dcterms:W3CDTF">2025-10-23T12:06:22Z</dcterms:modified>
</cp:coreProperties>
</file>