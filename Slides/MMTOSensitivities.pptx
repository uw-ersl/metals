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408" r:id="rId2"/>
    <p:sldId id="2410" r:id="rId3"/>
    <p:sldId id="2411" r:id="rId4"/>
    <p:sldId id="2412" r:id="rId5"/>
    <p:sldId id="2413" r:id="rId6"/>
    <p:sldId id="2403" r:id="rId7"/>
    <p:sldId id="2406" r:id="rId8"/>
    <p:sldId id="2407" r:id="rId9"/>
    <p:sldId id="2405" r:id="rId10"/>
    <p:sldId id="240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049" autoAdjust="0"/>
  </p:normalViewPr>
  <p:slideViewPr>
    <p:cSldViewPr snapToGrid="0">
      <p:cViewPr varScale="1">
        <p:scale>
          <a:sx n="66" d="100"/>
          <a:sy n="66" d="100"/>
        </p:scale>
        <p:origin x="1147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BC63F-E652-456B-B880-2F318D1A1929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865DCE-AB5F-46FA-B07C-E9C2FA202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691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8BCDF-9DB4-0A7A-981C-33F85D1C1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AC3E41-7E40-905B-2452-E901C3173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52EC8-9361-15CF-85B9-3D561343F1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5FD47-18E3-E432-0BD5-351E503E04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388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AE86E-E397-6CB4-F258-8EFDF7EF5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B3D9A-FAEE-77BC-F2CE-D14FBA1098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5A8051-75FC-817A-E390-8F637EA2B1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FB794-62A3-CB85-5BC0-E826C7BD7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321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7183D-12F7-37F7-7A8B-EEA214A75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BBC78-0BFE-E87B-A48B-8897CA93D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8EBE3-0038-E782-52AB-599378011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DEE8E-CFB5-BDE3-0D7D-5D4F7E8E1E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4254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5EA75-858A-AAC4-1C56-78CAFF161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253F03-BC6D-C155-2C2D-2F5A2192C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0B2D1-DE63-5697-A2DF-719A897F6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1C0DC8-AFC5-C1C7-B11A-8246ED6063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5181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44463-F55F-0CEA-4D79-FF750D9BB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484927-F610-09F6-3559-AD04E731B8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5909D6-B982-9B15-CF5A-04CDF1290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E13DB-CD6C-F747-D574-35966542FB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347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3E921-FB76-0F4E-CF67-342D99434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B462-56C8-46A7-CCE8-306B8EEB4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38E72-6F95-C42B-2756-4A763FFE7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7CD1C-4385-157B-93D0-0E661B20C0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7389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9F4F3-0C8A-67C0-982C-7B861EBA2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B3C794-C19D-CAF9-FB58-9A18860B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05966C-38B7-D985-F026-EB34BEE63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D1746-D9A0-6166-3B44-41B82B4B35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6489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9D560-E9BA-9949-4710-D9E8E978A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017104-C727-94DC-0C8C-81BE6D6712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0A7368-F9F4-86FD-F4AA-A45E24C48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A1B820-4FE6-1DD0-A46E-621D95E40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7272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FED1E-8127-8075-5023-3C4BC86C0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FDC165-B4A6-E70B-6BD9-2A5E110FC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9BC902-1A56-C848-9351-DE67EC90E4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522E5-2469-2EB8-D276-0431F7902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8002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EFFD9-3AF4-F346-3772-817021B9A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C8A93-F7AD-B256-A72C-4111378623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ED919D-BE13-E45C-A08B-F9265E8FED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EF494-2324-ADB5-1AEC-4DA05EBFAE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4564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72511-8B4B-89B2-7667-C1A25FE9A4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457D6-580D-82D3-E580-E61C70894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77E62-71C6-AFF0-22D5-88BD1F6CB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3C5DB-1A12-E644-E213-B4575442B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71BF5-C276-C51F-4B7F-954EF3C00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032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2FEB0-96DE-174B-31AC-320FF7846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E04DB-3DA6-15DA-E034-BE1114009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C104-193F-E0BE-58A8-6DC26F3F3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19851-23A2-FF77-90D2-5D3FEC231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60BCF-CCA8-7064-2EA7-F9FB3794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63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3FD85-33A4-04FF-6164-4454A6EF0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59931-0FB0-9171-CE3C-BC670C1B5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38012E-8400-632B-410D-2C764CF85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F6E2F-C8DB-9479-FA52-D89E612C1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A68E0-3AC3-220F-2B51-864908E71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3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24EA7-01EB-8AA0-5619-F7B06E99E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63D5C6-E7F3-439D-AD89-E25D2AE7B0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ECEC15-2409-2B4D-7825-527ECED6D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C0BE98-26E3-8D23-2350-A972AF042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B4D656-0C5B-DB07-918B-DADD9F43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B6BE08-19A6-93E7-3B2E-21539D3D7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228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E3B1B-6C89-87D8-783D-B713F861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C31DBE-318B-BC02-EEFD-BED880323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011DAC-C51C-7526-13CD-2D6E8802BE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B6EC80-94EF-E5FB-23DF-E07B491C74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3F387F-C489-B6EC-60EE-C909DE9C4B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3241A0-BBA5-D8DB-4325-C4A831E5C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F47EB-B808-F09F-8D01-39CBA84F1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AF9359-2E83-1D5B-F061-07361D46D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185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900D-A811-EF23-F8A1-AE51FD316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5C503C-9176-CF2C-06B9-AF292779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AC571-50BE-21AA-C729-3C307B60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4C2DE-5563-9201-1C47-E7A2C401E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945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257C9E-18D9-B611-A4D6-8D33A880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CC2DD6-7065-FCDF-24EB-B20321847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7D967-DDE3-9040-0478-2DD991DC0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84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777CE-FD57-4B95-2DAC-0442441A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FB0C6-5D43-3005-F1B8-21555EE33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82AED-BEC1-5525-E364-1A3C16006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4F75D-BCD9-A48B-87A2-C6A429C1A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151453-1C7C-1FFA-397A-F31403A04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E4D9C-02BA-1B5A-9AE7-8E2107AFC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82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C4D4B-5366-92C3-59D3-50693A5C9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6B78B-A2EC-CC14-A349-AA9CED269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4CEE1C-A1A2-74C9-635D-E50FB46307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604D90-842D-3201-CDD6-2632892F3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0DCF2-BA1B-93B5-BF7F-BD819610B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CDDCA-2A6B-422F-8DC0-DC603D23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16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9F7D-AE69-CC47-6713-526C186F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578506-2A5C-CBFA-A31D-233EBCE54D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E65F3-5A9B-7557-97C0-F1A8EFE6F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D7616-AC41-CCA5-FB5E-65C3926CC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38FC5-380A-AB24-5631-87E5424F7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520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2248E9-D3C7-6BE2-CF1D-C050F25E2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2620F-CEC7-B36C-E0A5-A318BEEF35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13526-2001-C706-E871-1DC40D4FA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EE5C3-8F04-ADDB-3339-5E49968D8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8ADB9-B500-1797-4DA5-BA053642D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33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Distribution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Content Placeholder 10"/>
          <p:cNvSpPr>
            <a:spLocks noGrp="1"/>
          </p:cNvSpPr>
          <p:nvPr>
            <p:ph sz="quarter" idx="13"/>
          </p:nvPr>
        </p:nvSpPr>
        <p:spPr>
          <a:xfrm>
            <a:off x="381000" y="1143000"/>
            <a:ext cx="11252200" cy="5334000"/>
          </a:xfrm>
        </p:spPr>
        <p:txBody>
          <a:bodyPr/>
          <a:lstStyle>
            <a:lvl1pPr marL="342900" indent="-342900">
              <a:buFont typeface="Arial" pitchFamily="34" charset="0"/>
              <a:buChar char="•"/>
              <a:defRPr sz="180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>
              <a:buFont typeface="Arial" pitchFamily="34" charset="0"/>
              <a:buChar char="•"/>
              <a:defRPr sz="1600"/>
            </a:lvl2pPr>
            <a:lvl3pPr marL="1143000" indent="-228600">
              <a:buFont typeface="Arial" pitchFamily="34" charset="0"/>
              <a:buChar char="•"/>
              <a:defRPr sz="1400"/>
            </a:lvl3pPr>
            <a:lvl4pPr marL="1600200" indent="-228600">
              <a:buFont typeface="Arial" pitchFamily="34" charset="0"/>
              <a:buChar char="•"/>
              <a:defRPr sz="1300"/>
            </a:lvl4pPr>
            <a:lvl5pPr marL="2057400" indent="-228600">
              <a:buFont typeface="Arial" pitchFamily="34" charset="0"/>
              <a:buChar char="•"/>
              <a:defRPr sz="13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381000" y="151418"/>
            <a:ext cx="11302999" cy="612648"/>
          </a:xfrm>
        </p:spPr>
        <p:txBody>
          <a:bodyPr>
            <a:normAutofit/>
          </a:bodyPr>
          <a:lstStyle>
            <a:lvl1pPr algn="l">
              <a:defRPr sz="2400" b="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/>
          <p:cNvCxnSpPr>
            <a:cxnSpLocks noChangeShapeType="1"/>
          </p:cNvCxnSpPr>
          <p:nvPr userDrawn="1"/>
        </p:nvCxnSpPr>
        <p:spPr bwMode="auto">
          <a:xfrm>
            <a:off x="381000" y="841689"/>
            <a:ext cx="11302999" cy="0"/>
          </a:xfrm>
          <a:prstGeom prst="line">
            <a:avLst/>
          </a:prstGeom>
          <a:noFill/>
          <a:ln w="22225">
            <a:solidFill>
              <a:srgbClr val="0F5E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flSlideMaster.Title_and_ContentFooter">
            <a:extLst>
              <a:ext uri="{FF2B5EF4-FFF2-40B4-BE49-F238E27FC236}">
                <a16:creationId xmlns:a16="http://schemas.microsoft.com/office/drawing/2014/main" id="{F05F7EFF-3110-B928-68C2-871312C89898}"/>
              </a:ext>
            </a:extLst>
          </p:cNvPr>
          <p:cNvSpPr txBox="1"/>
          <p:nvPr userDrawn="1"/>
        </p:nvSpPr>
        <p:spPr>
          <a:xfrm>
            <a:off x="0" y="6537960"/>
            <a:ext cx="12192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endParaRPr lang="en-US" sz="850" b="0" i="0" u="none" baseline="0">
              <a:solidFill>
                <a:srgbClr val="666666"/>
              </a:solidFill>
              <a:latin typeface="Microsoft Sans Serif" panose="020B0604020202020204" pitchFamily="34" charset="0"/>
            </a:endParaRPr>
          </a:p>
        </p:txBody>
      </p:sp>
      <p:sp>
        <p:nvSpPr>
          <p:cNvPr id="8" name="hlSlideMaster.Title_and_ContentHeader">
            <a:extLst>
              <a:ext uri="{FF2B5EF4-FFF2-40B4-BE49-F238E27FC236}">
                <a16:creationId xmlns:a16="http://schemas.microsoft.com/office/drawing/2014/main" id="{44F40F80-E77B-F084-C964-B32D14012E01}"/>
              </a:ext>
            </a:extLst>
          </p:cNvPr>
          <p:cNvSpPr txBox="1"/>
          <p:nvPr userDrawn="1"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859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892AA6-9341-EA9F-B7D4-287FC0389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C46B7-5586-DDCA-0568-200B219A4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547A2-342A-2BD1-C0EC-9704E35C0D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5B4303-DE67-4DA8-B375-7E6264E8BDE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D170-5168-B6B7-C383-0381F79340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0C7B2-DEB6-C941-D77B-010A348EF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636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7.png"/><Relationship Id="rId7" Type="http://schemas.openxmlformats.org/officeDocument/2006/relationships/image" Target="../media/image4.png"/><Relationship Id="rId12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.png"/><Relationship Id="rId11" Type="http://schemas.openxmlformats.org/officeDocument/2006/relationships/image" Target="../media/image9.png"/><Relationship Id="rId5" Type="http://schemas.openxmlformats.org/officeDocument/2006/relationships/image" Target="../media/image2.png"/><Relationship Id="rId15" Type="http://schemas.openxmlformats.org/officeDocument/2006/relationships/image" Target="../media/image10.png"/><Relationship Id="rId10" Type="http://schemas.openxmlformats.org/officeDocument/2006/relationships/image" Target="../media/image8.png"/><Relationship Id="rId4" Type="http://schemas.openxmlformats.org/officeDocument/2006/relationships/image" Target="../media/image112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21.png"/><Relationship Id="rId3" Type="http://schemas.openxmlformats.org/officeDocument/2006/relationships/image" Target="../media/image112.png"/><Relationship Id="rId7" Type="http://schemas.openxmlformats.org/officeDocument/2006/relationships/image" Target="../media/image5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12.png"/><Relationship Id="rId5" Type="http://schemas.openxmlformats.org/officeDocument/2006/relationships/image" Target="../media/image3.png"/><Relationship Id="rId15" Type="http://schemas.openxmlformats.org/officeDocument/2006/relationships/image" Target="../media/image14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130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1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image" Target="../media/image142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18" Type="http://schemas.openxmlformats.org/officeDocument/2006/relationships/image" Target="../media/image38.png"/><Relationship Id="rId3" Type="http://schemas.openxmlformats.org/officeDocument/2006/relationships/image" Target="../media/image231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17" Type="http://schemas.openxmlformats.org/officeDocument/2006/relationships/image" Target="../media/image37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1.png"/><Relationship Id="rId11" Type="http://schemas.openxmlformats.org/officeDocument/2006/relationships/image" Target="../media/image31.png"/><Relationship Id="rId5" Type="http://schemas.openxmlformats.org/officeDocument/2006/relationships/image" Target="../media/image251.png"/><Relationship Id="rId15" Type="http://schemas.openxmlformats.org/officeDocument/2006/relationships/image" Target="../media/image35.png"/><Relationship Id="rId10" Type="http://schemas.openxmlformats.org/officeDocument/2006/relationships/image" Target="../media/image30.png"/><Relationship Id="rId19" Type="http://schemas.openxmlformats.org/officeDocument/2006/relationships/image" Target="../media/image39.png"/><Relationship Id="rId4" Type="http://schemas.openxmlformats.org/officeDocument/2006/relationships/image" Target="../media/image241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0.png"/><Relationship Id="rId3" Type="http://schemas.openxmlformats.org/officeDocument/2006/relationships/image" Target="../media/image231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1.png"/><Relationship Id="rId11" Type="http://schemas.openxmlformats.org/officeDocument/2006/relationships/image" Target="../media/image31.png"/><Relationship Id="rId5" Type="http://schemas.openxmlformats.org/officeDocument/2006/relationships/image" Target="../media/image251.png"/><Relationship Id="rId10" Type="http://schemas.openxmlformats.org/officeDocument/2006/relationships/image" Target="../media/image30.png"/><Relationship Id="rId4" Type="http://schemas.openxmlformats.org/officeDocument/2006/relationships/image" Target="../media/image241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110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5" Type="http://schemas.openxmlformats.org/officeDocument/2006/relationships/image" Target="../media/image300.png"/><Relationship Id="rId4" Type="http://schemas.openxmlformats.org/officeDocument/2006/relationships/image" Target="../media/image280.png"/><Relationship Id="rId9" Type="http://schemas.openxmlformats.org/officeDocument/2006/relationships/image" Target="../media/image7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13" Type="http://schemas.openxmlformats.org/officeDocument/2006/relationships/image" Target="../media/image180.png"/><Relationship Id="rId3" Type="http://schemas.openxmlformats.org/officeDocument/2006/relationships/image" Target="../media/image80.png"/><Relationship Id="rId7" Type="http://schemas.openxmlformats.org/officeDocument/2006/relationships/image" Target="../media/image120.png"/><Relationship Id="rId12" Type="http://schemas.openxmlformats.org/officeDocument/2006/relationships/image" Target="../media/image17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1.png"/><Relationship Id="rId11" Type="http://schemas.openxmlformats.org/officeDocument/2006/relationships/image" Target="../media/image171.png"/><Relationship Id="rId5" Type="http://schemas.openxmlformats.org/officeDocument/2006/relationships/image" Target="../media/image141.png"/><Relationship Id="rId10" Type="http://schemas.openxmlformats.org/officeDocument/2006/relationships/image" Target="../media/image160.png"/><Relationship Id="rId4" Type="http://schemas.openxmlformats.org/officeDocument/2006/relationships/image" Target="../media/image90.png"/><Relationship Id="rId9" Type="http://schemas.openxmlformats.org/officeDocument/2006/relationships/image" Target="../media/image140.png"/><Relationship Id="rId14" Type="http://schemas.openxmlformats.org/officeDocument/2006/relationships/image" Target="../media/image19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6C0A7-8F9C-C798-4AC9-787A81998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EE579C-FE47-6BA5-41EE-F6BCDE806B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13648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AB84B428-8F4D-2C6E-BC6C-19B933B78A9A}"/>
                  </a:ext>
                </a:extLst>
              </p:cNvPr>
              <p:cNvSpPr txBox="1"/>
              <p:nvPr/>
            </p:nvSpPr>
            <p:spPr>
              <a:xfrm>
                <a:off x="917636" y="2022268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AB84B428-8F4D-2C6E-BC6C-19B933B78A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636" y="2022268"/>
                <a:ext cx="478742" cy="457735"/>
              </a:xfrm>
              <a:prstGeom prst="rect">
                <a:avLst/>
              </a:prstGeom>
              <a:blipFill>
                <a:blip r:embed="rId4"/>
                <a:stretch>
                  <a:fillRect l="-2500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6A9BB831-8BFE-5E5E-825F-C03484AB2072}"/>
                  </a:ext>
                </a:extLst>
              </p:cNvPr>
              <p:cNvSpPr txBox="1"/>
              <p:nvPr/>
            </p:nvSpPr>
            <p:spPr>
              <a:xfrm>
                <a:off x="2106690" y="2036863"/>
                <a:ext cx="1076325" cy="445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6A9BB831-8BFE-5E5E-825F-C03484AB2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90" y="2036863"/>
                <a:ext cx="1076325" cy="44538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96207FF1-5A09-DDEC-17D1-06AE36963E75}"/>
                  </a:ext>
                </a:extLst>
              </p:cNvPr>
              <p:cNvSpPr txBox="1"/>
              <p:nvPr/>
            </p:nvSpPr>
            <p:spPr>
              <a:xfrm>
                <a:off x="3620560" y="2075298"/>
                <a:ext cx="796049" cy="3685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96207FF1-5A09-DDEC-17D1-06AE36963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560" y="2075298"/>
                <a:ext cx="796049" cy="368513"/>
              </a:xfrm>
              <a:prstGeom prst="rect">
                <a:avLst/>
              </a:prstGeom>
              <a:blipFill>
                <a:blip r:embed="rId6"/>
                <a:stretch>
                  <a:fillRect r="-916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4F19106-3370-2F40-F6B6-7CC17DBE55DA}"/>
              </a:ext>
            </a:extLst>
          </p:cNvPr>
          <p:cNvCxnSpPr>
            <a:cxnSpLocks/>
            <a:stCxn id="12" idx="3"/>
            <a:endCxn id="107" idx="1"/>
          </p:cNvCxnSpPr>
          <p:nvPr/>
        </p:nvCxnSpPr>
        <p:spPr>
          <a:xfrm>
            <a:off x="4416609" y="2259555"/>
            <a:ext cx="612250" cy="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2B08A08-1CB4-5D48-23BB-C881219D5904}"/>
              </a:ext>
            </a:extLst>
          </p:cNvPr>
          <p:cNvSpPr txBox="1"/>
          <p:nvPr/>
        </p:nvSpPr>
        <p:spPr>
          <a:xfrm>
            <a:off x="376531" y="1271292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9F1BB894-C89B-50F3-7160-A92AE11D32F4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1396378" y="2251136"/>
            <a:ext cx="710312" cy="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CEFCB67F-EC22-997C-58D0-45D2FE7709B8}"/>
              </a:ext>
            </a:extLst>
          </p:cNvPr>
          <p:cNvSpPr txBox="1"/>
          <p:nvPr/>
        </p:nvSpPr>
        <p:spPr>
          <a:xfrm>
            <a:off x="215700" y="132745"/>
            <a:ext cx="71488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SMTO Thermo-Elastic Compliance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1484FC9-49FB-8FAA-9DED-830E74E52EC4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3183015" y="2259555"/>
            <a:ext cx="43754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A4DAE84B-0D5E-F292-F4AB-7EAE8A617818}"/>
                  </a:ext>
                </a:extLst>
              </p:cNvPr>
              <p:cNvSpPr txBox="1"/>
              <p:nvPr/>
            </p:nvSpPr>
            <p:spPr>
              <a:xfrm>
                <a:off x="5028859" y="2072123"/>
                <a:ext cx="1551443" cy="381996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𝑒𝑥𝑡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A4DAE84B-0D5E-F292-F4AB-7EAE8A617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859" y="2072123"/>
                <a:ext cx="1551443" cy="381996"/>
              </a:xfrm>
              <a:prstGeom prst="rect">
                <a:avLst/>
              </a:prstGeom>
              <a:blipFill>
                <a:blip r:embed="rId7"/>
                <a:stretch>
                  <a:fillRect l="-2756" t="-4762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9105F358-20F1-B40D-0097-7C24199A7F45}"/>
                  </a:ext>
                </a:extLst>
              </p:cNvPr>
              <p:cNvSpPr txBox="1"/>
              <p:nvPr/>
            </p:nvSpPr>
            <p:spPr>
              <a:xfrm>
                <a:off x="3796187" y="4365904"/>
                <a:ext cx="771861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9105F358-20F1-B40D-0097-7C24199A7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187" y="4365904"/>
                <a:ext cx="771861" cy="394864"/>
              </a:xfrm>
              <a:prstGeom prst="rect">
                <a:avLst/>
              </a:prstGeom>
              <a:blipFill>
                <a:blip r:embed="rId8"/>
                <a:stretch>
                  <a:fillRect r="-6349"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F038883-A046-EB8B-C45A-A96B22B4ECC8}"/>
              </a:ext>
            </a:extLst>
          </p:cNvPr>
          <p:cNvCxnSpPr>
            <a:cxnSpLocks/>
            <a:stCxn id="7" idx="2"/>
            <a:endCxn id="38" idx="1"/>
          </p:cNvCxnSpPr>
          <p:nvPr/>
        </p:nvCxnSpPr>
        <p:spPr>
          <a:xfrm rot="16200000" flipH="1">
            <a:off x="540998" y="3096011"/>
            <a:ext cx="2079869" cy="8478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A55C5A4-24B5-9935-2282-4714134B8CC0}"/>
              </a:ext>
            </a:extLst>
          </p:cNvPr>
          <p:cNvCxnSpPr>
            <a:cxnSpLocks/>
            <a:stCxn id="30" idx="3"/>
            <a:endCxn id="96" idx="1"/>
          </p:cNvCxnSpPr>
          <p:nvPr/>
        </p:nvCxnSpPr>
        <p:spPr>
          <a:xfrm>
            <a:off x="4568048" y="4563336"/>
            <a:ext cx="60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6DC1EDB6-2E99-7420-9AEF-3E5B2CF016CD}"/>
                  </a:ext>
                </a:extLst>
              </p:cNvPr>
              <p:cNvSpPr txBox="1"/>
              <p:nvPr/>
            </p:nvSpPr>
            <p:spPr>
              <a:xfrm>
                <a:off x="2004858" y="4306119"/>
                <a:ext cx="1023752" cy="5075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6DC1EDB6-2E99-7420-9AEF-3E5B2CF016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4858" y="4306119"/>
                <a:ext cx="1023752" cy="507505"/>
              </a:xfrm>
              <a:prstGeom prst="rect">
                <a:avLst/>
              </a:prstGeom>
              <a:blipFill>
                <a:blip r:embed="rId9"/>
                <a:stretch>
                  <a:fillRect r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2705168-49F7-1023-DFE4-46B93952FE30}"/>
              </a:ext>
            </a:extLst>
          </p:cNvPr>
          <p:cNvCxnSpPr>
            <a:cxnSpLocks/>
            <a:stCxn id="38" idx="3"/>
            <a:endCxn id="30" idx="1"/>
          </p:cNvCxnSpPr>
          <p:nvPr/>
        </p:nvCxnSpPr>
        <p:spPr>
          <a:xfrm>
            <a:off x="3028610" y="4559872"/>
            <a:ext cx="767577" cy="3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B69DB08-3586-AE57-75E5-0FC93C8BE302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5776487" y="2454119"/>
            <a:ext cx="28094" cy="1801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36D48E73-E6ED-6AE6-7E54-D2115CE019B3}"/>
                  </a:ext>
                </a:extLst>
              </p:cNvPr>
              <p:cNvSpPr txBox="1"/>
              <p:nvPr/>
            </p:nvSpPr>
            <p:spPr>
              <a:xfrm>
                <a:off x="5177381" y="4365904"/>
                <a:ext cx="1212213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36D48E73-E6ED-6AE6-7E54-D2115CE01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381" y="4365904"/>
                <a:ext cx="1212213" cy="394864"/>
              </a:xfrm>
              <a:prstGeom prst="rect">
                <a:avLst/>
              </a:prstGeom>
              <a:blipFill>
                <a:blip r:embed="rId1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9C81B84F-C52B-9788-52C1-5ED8FB0E8844}"/>
              </a:ext>
            </a:extLst>
          </p:cNvPr>
          <p:cNvCxnSpPr>
            <a:cxnSpLocks/>
            <a:stCxn id="96" idx="3"/>
            <a:endCxn id="124" idx="1"/>
          </p:cNvCxnSpPr>
          <p:nvPr/>
        </p:nvCxnSpPr>
        <p:spPr>
          <a:xfrm>
            <a:off x="6389594" y="4563336"/>
            <a:ext cx="609333" cy="54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Object 42">
                <a:extLst>
                  <a:ext uri="{FF2B5EF4-FFF2-40B4-BE49-F238E27FC236}">
                    <a16:creationId xmlns:a16="http://schemas.microsoft.com/office/drawing/2014/main" id="{87DA730D-6B83-D48C-5160-7E2AC6922187}"/>
                  </a:ext>
                </a:extLst>
              </p:cNvPr>
              <p:cNvSpPr txBox="1"/>
              <p:nvPr/>
            </p:nvSpPr>
            <p:spPr>
              <a:xfrm>
                <a:off x="6998927" y="4373291"/>
                <a:ext cx="1420026" cy="39105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4" name="Object 42">
                <a:extLst>
                  <a:ext uri="{FF2B5EF4-FFF2-40B4-BE49-F238E27FC236}">
                    <a16:creationId xmlns:a16="http://schemas.microsoft.com/office/drawing/2014/main" id="{87DA730D-6B83-D48C-5160-7E2AC6922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8927" y="4373291"/>
                <a:ext cx="1420026" cy="391050"/>
              </a:xfrm>
              <a:prstGeom prst="rect">
                <a:avLst/>
              </a:prstGeom>
              <a:blipFill>
                <a:blip r:embed="rId11"/>
                <a:stretch>
                  <a:fillRect l="-426" b="-149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7" name="TextBox 156">
            <a:extLst>
              <a:ext uri="{FF2B5EF4-FFF2-40B4-BE49-F238E27FC236}">
                <a16:creationId xmlns:a16="http://schemas.microsoft.com/office/drawing/2014/main" id="{3BAF2B47-5D71-F969-3B01-E2D23B8B0C21}"/>
              </a:ext>
            </a:extLst>
          </p:cNvPr>
          <p:cNvSpPr txBox="1"/>
          <p:nvPr/>
        </p:nvSpPr>
        <p:spPr>
          <a:xfrm>
            <a:off x="6914244" y="4813624"/>
            <a:ext cx="1589391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Structural Compliance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61B1A3-4364-447B-EB59-3BE896324EC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25950" y="1243973"/>
            <a:ext cx="2385267" cy="8001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B8FA31-E8D1-E7A3-402A-A24CF59BF34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94538" y="3561964"/>
            <a:ext cx="2049958" cy="6934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81">
                <a:extLst>
                  <a:ext uri="{FF2B5EF4-FFF2-40B4-BE49-F238E27FC236}">
                    <a16:creationId xmlns:a16="http://schemas.microsoft.com/office/drawing/2014/main" id="{3417363F-C3C4-73E6-773A-28B68864B8EC}"/>
                  </a:ext>
                </a:extLst>
              </p:cNvPr>
              <p:cNvSpPr txBox="1"/>
              <p:nvPr/>
            </p:nvSpPr>
            <p:spPr>
              <a:xfrm>
                <a:off x="4944496" y="4871228"/>
                <a:ext cx="1589390" cy="3839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Object 81">
                <a:extLst>
                  <a:ext uri="{FF2B5EF4-FFF2-40B4-BE49-F238E27FC236}">
                    <a16:creationId xmlns:a16="http://schemas.microsoft.com/office/drawing/2014/main" id="{3417363F-C3C4-73E6-773A-28B68864B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4496" y="4871228"/>
                <a:ext cx="1589390" cy="383905"/>
              </a:xfrm>
              <a:prstGeom prst="rect">
                <a:avLst/>
              </a:prstGeom>
              <a:blipFill>
                <a:blip r:embed="rId14"/>
                <a:stretch>
                  <a:fillRect l="-1149" r="-1916" b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40C314-CB3A-7045-AE9A-FA596DD96939}"/>
                  </a:ext>
                </a:extLst>
              </p:cNvPr>
              <p:cNvSpPr txBox="1"/>
              <p:nvPr/>
            </p:nvSpPr>
            <p:spPr>
              <a:xfrm>
                <a:off x="5808738" y="2901067"/>
                <a:ext cx="3677536" cy="10558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ref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40C314-CB3A-7045-AE9A-FA596DD96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8738" y="2901067"/>
                <a:ext cx="3677536" cy="105586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7880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7D80D-BAC4-FD99-2B04-46C0F73BF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993529-C983-A22C-95AA-A3849150D4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13648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8B68E4B1-7099-9C63-FD8E-8F8E550353B5}"/>
                  </a:ext>
                </a:extLst>
              </p:cNvPr>
              <p:cNvSpPr txBox="1"/>
              <p:nvPr/>
            </p:nvSpPr>
            <p:spPr>
              <a:xfrm>
                <a:off x="917636" y="2022268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8B68E4B1-7099-9C63-FD8E-8F8E55035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636" y="2022268"/>
                <a:ext cx="478742" cy="457735"/>
              </a:xfrm>
              <a:prstGeom prst="rect">
                <a:avLst/>
              </a:prstGeom>
              <a:blipFill>
                <a:blip r:embed="rId3"/>
                <a:stretch>
                  <a:fillRect l="-2500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C6E29BA1-98F7-EC6D-458B-8C5EC9C06111}"/>
                  </a:ext>
                </a:extLst>
              </p:cNvPr>
              <p:cNvSpPr txBox="1"/>
              <p:nvPr/>
            </p:nvSpPr>
            <p:spPr>
              <a:xfrm>
                <a:off x="2106690" y="2036863"/>
                <a:ext cx="1076325" cy="445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C6E29BA1-98F7-EC6D-458B-8C5EC9C061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690" y="2036863"/>
                <a:ext cx="1076325" cy="4453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E096899A-E13F-31FC-D25F-520F2A56DFB3}"/>
                  </a:ext>
                </a:extLst>
              </p:cNvPr>
              <p:cNvSpPr txBox="1"/>
              <p:nvPr/>
            </p:nvSpPr>
            <p:spPr>
              <a:xfrm>
                <a:off x="3620560" y="2075298"/>
                <a:ext cx="796049" cy="3685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E096899A-E13F-31FC-D25F-520F2A56D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560" y="2075298"/>
                <a:ext cx="796049" cy="368513"/>
              </a:xfrm>
              <a:prstGeom prst="rect">
                <a:avLst/>
              </a:prstGeom>
              <a:blipFill>
                <a:blip r:embed="rId5"/>
                <a:stretch>
                  <a:fillRect r="-916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E61B655-C485-0DDB-59D6-6F07B96DB331}"/>
              </a:ext>
            </a:extLst>
          </p:cNvPr>
          <p:cNvCxnSpPr>
            <a:cxnSpLocks/>
            <a:stCxn id="12" idx="3"/>
            <a:endCxn id="107" idx="1"/>
          </p:cNvCxnSpPr>
          <p:nvPr/>
        </p:nvCxnSpPr>
        <p:spPr>
          <a:xfrm>
            <a:off x="4416609" y="2259555"/>
            <a:ext cx="612250" cy="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A48FDB9-EA52-40D6-2532-D4696A79D8C1}"/>
              </a:ext>
            </a:extLst>
          </p:cNvPr>
          <p:cNvSpPr txBox="1"/>
          <p:nvPr/>
        </p:nvSpPr>
        <p:spPr>
          <a:xfrm>
            <a:off x="375913" y="1342270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27607EFF-232B-FE3C-42B6-00D9B24C2073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1396378" y="2251136"/>
            <a:ext cx="710312" cy="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16CCE041-A2F6-7265-82EB-247530BB5EE5}"/>
              </a:ext>
            </a:extLst>
          </p:cNvPr>
          <p:cNvSpPr txBox="1"/>
          <p:nvPr/>
        </p:nvSpPr>
        <p:spPr>
          <a:xfrm>
            <a:off x="215700" y="132745"/>
            <a:ext cx="74533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SMTO Thermo-Elastic P-Norm Stress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F2C7F61C-2CAE-A55D-5F12-BF7A570359FC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3183015" y="2259555"/>
            <a:ext cx="43754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B83FE8CC-6239-814B-62D6-CF4D8630E8B7}"/>
                  </a:ext>
                </a:extLst>
              </p:cNvPr>
              <p:cNvSpPr txBox="1"/>
              <p:nvPr/>
            </p:nvSpPr>
            <p:spPr>
              <a:xfrm>
                <a:off x="5028859" y="2072123"/>
                <a:ext cx="1551443" cy="381996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𝑒𝑥𝑡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B83FE8CC-6239-814B-62D6-CF4D8630E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859" y="2072123"/>
                <a:ext cx="1551443" cy="381996"/>
              </a:xfrm>
              <a:prstGeom prst="rect">
                <a:avLst/>
              </a:prstGeom>
              <a:blipFill>
                <a:blip r:embed="rId6"/>
                <a:stretch>
                  <a:fillRect l="-2756" t="-4762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7D948BD4-1DC5-CB13-3A64-69DAEC20857D}"/>
                  </a:ext>
                </a:extLst>
              </p:cNvPr>
              <p:cNvSpPr txBox="1"/>
              <p:nvPr/>
            </p:nvSpPr>
            <p:spPr>
              <a:xfrm>
                <a:off x="3796187" y="4365904"/>
                <a:ext cx="771861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7D948BD4-1DC5-CB13-3A64-69DAEC208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187" y="4365904"/>
                <a:ext cx="771861" cy="394864"/>
              </a:xfrm>
              <a:prstGeom prst="rect">
                <a:avLst/>
              </a:prstGeom>
              <a:blipFill>
                <a:blip r:embed="rId7"/>
                <a:stretch>
                  <a:fillRect r="-6349"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AD5D87F0-3636-366C-4C10-545739D5C483}"/>
              </a:ext>
            </a:extLst>
          </p:cNvPr>
          <p:cNvCxnSpPr>
            <a:cxnSpLocks/>
            <a:stCxn id="7" idx="2"/>
            <a:endCxn id="38" idx="1"/>
          </p:cNvCxnSpPr>
          <p:nvPr/>
        </p:nvCxnSpPr>
        <p:spPr>
          <a:xfrm rot="16200000" flipH="1">
            <a:off x="540998" y="3096011"/>
            <a:ext cx="2079869" cy="8478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799B61-D8F9-09AD-8C70-1E3014B7B7B6}"/>
              </a:ext>
            </a:extLst>
          </p:cNvPr>
          <p:cNvCxnSpPr>
            <a:cxnSpLocks/>
            <a:stCxn id="30" idx="3"/>
            <a:endCxn id="96" idx="1"/>
          </p:cNvCxnSpPr>
          <p:nvPr/>
        </p:nvCxnSpPr>
        <p:spPr>
          <a:xfrm>
            <a:off x="4568048" y="4563336"/>
            <a:ext cx="60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91E06536-738C-8AB7-E97F-1471CAD7FD48}"/>
                  </a:ext>
                </a:extLst>
              </p:cNvPr>
              <p:cNvSpPr txBox="1"/>
              <p:nvPr/>
            </p:nvSpPr>
            <p:spPr>
              <a:xfrm>
                <a:off x="2004858" y="4306119"/>
                <a:ext cx="1023752" cy="5075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91E06536-738C-8AB7-E97F-1471CAD7FD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4858" y="4306119"/>
                <a:ext cx="1023752" cy="507505"/>
              </a:xfrm>
              <a:prstGeom prst="rect">
                <a:avLst/>
              </a:prstGeom>
              <a:blipFill>
                <a:blip r:embed="rId8"/>
                <a:stretch>
                  <a:fillRect r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65508BB-E964-8088-D979-6BBACD12CAFF}"/>
              </a:ext>
            </a:extLst>
          </p:cNvPr>
          <p:cNvCxnSpPr>
            <a:cxnSpLocks/>
            <a:stCxn id="38" idx="3"/>
            <a:endCxn id="30" idx="1"/>
          </p:cNvCxnSpPr>
          <p:nvPr/>
        </p:nvCxnSpPr>
        <p:spPr>
          <a:xfrm>
            <a:off x="3028610" y="4559872"/>
            <a:ext cx="767577" cy="3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9072639D-D178-348D-0CAA-DB36880D3528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5776487" y="2454119"/>
            <a:ext cx="28094" cy="1801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82E85B46-C39D-EC84-E0F4-8AD546732255}"/>
                  </a:ext>
                </a:extLst>
              </p:cNvPr>
              <p:cNvSpPr txBox="1"/>
              <p:nvPr/>
            </p:nvSpPr>
            <p:spPr>
              <a:xfrm>
                <a:off x="5177381" y="4365904"/>
                <a:ext cx="1212213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82E85B46-C39D-EC84-E0F4-8AD5467322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381" y="4365904"/>
                <a:ext cx="1212213" cy="394864"/>
              </a:xfrm>
              <a:prstGeom prst="rect">
                <a:avLst/>
              </a:prstGeom>
              <a:blipFill>
                <a:blip r:embed="rId1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" name="TextBox 112">
            <a:extLst>
              <a:ext uri="{FF2B5EF4-FFF2-40B4-BE49-F238E27FC236}">
                <a16:creationId xmlns:a16="http://schemas.microsoft.com/office/drawing/2014/main" id="{C8213EF3-5BBD-F30E-22C0-670A7F96A05E}"/>
              </a:ext>
            </a:extLst>
          </p:cNvPr>
          <p:cNvSpPr txBox="1"/>
          <p:nvPr/>
        </p:nvSpPr>
        <p:spPr>
          <a:xfrm>
            <a:off x="6032743" y="4376565"/>
            <a:ext cx="2371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Displacement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51">
                <a:extLst>
                  <a:ext uri="{FF2B5EF4-FFF2-40B4-BE49-F238E27FC236}">
                    <a16:creationId xmlns:a16="http://schemas.microsoft.com/office/drawing/2014/main" id="{62043278-8D5D-776C-FD0A-092A48493A24}"/>
                  </a:ext>
                </a:extLst>
              </p:cNvPr>
              <p:cNvSpPr txBox="1"/>
              <p:nvPr/>
            </p:nvSpPr>
            <p:spPr>
              <a:xfrm>
                <a:off x="5497088" y="5275630"/>
                <a:ext cx="558800" cy="486721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/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Object 51">
                <a:extLst>
                  <a:ext uri="{FF2B5EF4-FFF2-40B4-BE49-F238E27FC236}">
                    <a16:creationId xmlns:a16="http://schemas.microsoft.com/office/drawing/2014/main" id="{62043278-8D5D-776C-FD0A-092A48493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088" y="5275630"/>
                <a:ext cx="558800" cy="4867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2F82E83-E985-4AD0-6109-4A49EAAF220E}"/>
              </a:ext>
            </a:extLst>
          </p:cNvPr>
          <p:cNvCxnSpPr>
            <a:cxnSpLocks/>
            <a:stCxn id="96" idx="2"/>
            <a:endCxn id="2" idx="0"/>
          </p:cNvCxnSpPr>
          <p:nvPr/>
        </p:nvCxnSpPr>
        <p:spPr>
          <a:xfrm flipH="1">
            <a:off x="5776488" y="4760768"/>
            <a:ext cx="7000" cy="5148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55">
                <a:extLst>
                  <a:ext uri="{FF2B5EF4-FFF2-40B4-BE49-F238E27FC236}">
                    <a16:creationId xmlns:a16="http://schemas.microsoft.com/office/drawing/2014/main" id="{FB3E002B-AE9B-0502-C894-21CBE9931A16}"/>
                  </a:ext>
                </a:extLst>
              </p:cNvPr>
              <p:cNvSpPr txBox="1"/>
              <p:nvPr/>
            </p:nvSpPr>
            <p:spPr>
              <a:xfrm>
                <a:off x="6707579" y="5323464"/>
                <a:ext cx="721206" cy="391050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𝑉𝑀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bject 55">
                <a:extLst>
                  <a:ext uri="{FF2B5EF4-FFF2-40B4-BE49-F238E27FC236}">
                    <a16:creationId xmlns:a16="http://schemas.microsoft.com/office/drawing/2014/main" id="{FB3E002B-AE9B-0502-C894-21CBE9931A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7579" y="5323464"/>
                <a:ext cx="721206" cy="39105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E6EA512-CF3B-B54A-4D85-82997255CA4F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6055888" y="5518989"/>
            <a:ext cx="651691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F2A7D5F-DD82-BC91-5F6F-28FD32ACD3AD}"/>
              </a:ext>
            </a:extLst>
          </p:cNvPr>
          <p:cNvSpPr txBox="1"/>
          <p:nvPr/>
        </p:nvSpPr>
        <p:spPr>
          <a:xfrm>
            <a:off x="8161145" y="6065294"/>
            <a:ext cx="2591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P-Norm von Mises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EA4EAD19-398D-C2A9-1062-96EE5608C2B1}"/>
                  </a:ext>
                </a:extLst>
              </p:cNvPr>
              <p:cNvSpPr txBox="1"/>
              <p:nvPr/>
            </p:nvSpPr>
            <p:spPr>
              <a:xfrm>
                <a:off x="7836324" y="5030932"/>
                <a:ext cx="3135584" cy="976113"/>
              </a:xfrm>
              <a:prstGeom prst="rect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𝑃𝑁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𝑉𝑀</m:t>
                                              </m:r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EA4EAD19-398D-C2A9-1062-96EE5608C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6324" y="5030932"/>
                <a:ext cx="3135584" cy="97611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CEAB048-DE9E-FB2E-47D0-9E96F54E9E8A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7428785" y="5518989"/>
            <a:ext cx="4075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5CADB50E-7D98-E6A7-8DB4-F4542603BBBB}"/>
              </a:ext>
            </a:extLst>
          </p:cNvPr>
          <p:cNvCxnSpPr>
            <a:stCxn id="7" idx="1"/>
            <a:endCxn id="2" idx="2"/>
          </p:cNvCxnSpPr>
          <p:nvPr/>
        </p:nvCxnSpPr>
        <p:spPr>
          <a:xfrm rot="10800000" flipH="1" flipV="1">
            <a:off x="917636" y="2251135"/>
            <a:ext cx="4858852" cy="3511215"/>
          </a:xfrm>
          <a:prstGeom prst="bentConnector4">
            <a:avLst>
              <a:gd name="adj1" fmla="val -4705"/>
              <a:gd name="adj2" fmla="val 10651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57D06F7F-60F8-92FD-DCF9-E02C6CA314D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82321" y="5231567"/>
            <a:ext cx="3390398" cy="44961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4C7B488-35EB-314F-B2BA-6D12B106F02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07441" y="5921002"/>
            <a:ext cx="1813717" cy="47248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DDA13E8-06AB-C993-1B04-321BA61FA5D7}"/>
                  </a:ext>
                </a:extLst>
              </p:cNvPr>
              <p:cNvSpPr txBox="1"/>
              <p:nvPr/>
            </p:nvSpPr>
            <p:spPr>
              <a:xfrm>
                <a:off x="6096000" y="2795176"/>
                <a:ext cx="3677536" cy="10558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ref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DDA13E8-06AB-C993-1B04-321BA61FA5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95176"/>
                <a:ext cx="3677536" cy="1055866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9750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DF98E-D3F6-87B3-0D2A-72C56262D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AB9453-2DA5-83BA-BBA6-3D03A85662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13648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A7845115-1F40-052B-C6D9-01EB777AB050}"/>
                  </a:ext>
                </a:extLst>
              </p:cNvPr>
              <p:cNvSpPr txBox="1"/>
              <p:nvPr/>
            </p:nvSpPr>
            <p:spPr>
              <a:xfrm>
                <a:off x="1276451" y="3029345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A7845115-1F40-052B-C6D9-01EB777AB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6451" y="3029345"/>
                <a:ext cx="478742" cy="457735"/>
              </a:xfrm>
              <a:prstGeom prst="rect">
                <a:avLst/>
              </a:prstGeom>
              <a:blipFill>
                <a:blip r:embed="rId3"/>
                <a:stretch>
                  <a:fillRect l="-2469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5CA39651-3C8A-35A8-7E2A-5B2F523C8105}"/>
                  </a:ext>
                </a:extLst>
              </p:cNvPr>
              <p:cNvSpPr txBox="1"/>
              <p:nvPr/>
            </p:nvSpPr>
            <p:spPr>
              <a:xfrm>
                <a:off x="2465505" y="3043940"/>
                <a:ext cx="1076325" cy="445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5CA39651-3C8A-35A8-7E2A-5B2F523C8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505" y="3043940"/>
                <a:ext cx="1076325" cy="4453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F0492A01-5A40-5364-8321-E0F501B5CAF8}"/>
                  </a:ext>
                </a:extLst>
              </p:cNvPr>
              <p:cNvSpPr txBox="1"/>
              <p:nvPr/>
            </p:nvSpPr>
            <p:spPr>
              <a:xfrm>
                <a:off x="3979375" y="3082375"/>
                <a:ext cx="796049" cy="3685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F0492A01-5A40-5364-8321-E0F501B5C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9375" y="3082375"/>
                <a:ext cx="796049" cy="368513"/>
              </a:xfrm>
              <a:prstGeom prst="rect">
                <a:avLst/>
              </a:prstGeom>
              <a:blipFill>
                <a:blip r:embed="rId5"/>
                <a:stretch>
                  <a:fillRect r="-100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C6917EE-5603-3073-0CA2-7DACF6E3D52F}"/>
              </a:ext>
            </a:extLst>
          </p:cNvPr>
          <p:cNvCxnSpPr>
            <a:cxnSpLocks/>
            <a:stCxn id="12" idx="3"/>
            <a:endCxn id="107" idx="1"/>
          </p:cNvCxnSpPr>
          <p:nvPr/>
        </p:nvCxnSpPr>
        <p:spPr>
          <a:xfrm>
            <a:off x="4775424" y="3266632"/>
            <a:ext cx="612250" cy="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231F3F19-191E-71E9-62CB-1931C060BFAA}"/>
              </a:ext>
            </a:extLst>
          </p:cNvPr>
          <p:cNvSpPr txBox="1"/>
          <p:nvPr/>
        </p:nvSpPr>
        <p:spPr>
          <a:xfrm>
            <a:off x="735346" y="2278369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DE416C1-5D62-4D7E-004E-571F282D09B0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1755193" y="3258213"/>
            <a:ext cx="710312" cy="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4BEBA32A-6A13-A352-B049-2F9F1B95BEA5}"/>
              </a:ext>
            </a:extLst>
          </p:cNvPr>
          <p:cNvSpPr txBox="1"/>
          <p:nvPr/>
        </p:nvSpPr>
        <p:spPr>
          <a:xfrm>
            <a:off x="215700" y="132745"/>
            <a:ext cx="117113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LSR-MMTO Thermo-Elastic Compliance (Constant Mat Properties)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E5EB7F82-E133-AB23-AA88-64C89AC12B3A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3541830" y="3266632"/>
            <a:ext cx="43754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7A62CD20-7506-E583-F359-EB03E0775697}"/>
                  </a:ext>
                </a:extLst>
              </p:cNvPr>
              <p:cNvSpPr txBox="1"/>
              <p:nvPr/>
            </p:nvSpPr>
            <p:spPr>
              <a:xfrm>
                <a:off x="5387674" y="3079200"/>
                <a:ext cx="1551443" cy="381996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𝑒𝑥𝑡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7A62CD20-7506-E583-F359-EB03E0775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674" y="3079200"/>
                <a:ext cx="1551443" cy="381996"/>
              </a:xfrm>
              <a:prstGeom prst="rect">
                <a:avLst/>
              </a:prstGeom>
              <a:blipFill>
                <a:blip r:embed="rId6"/>
                <a:stretch>
                  <a:fillRect l="-2756" t="-3175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58D33D33-1847-B728-4854-07F31A2844C6}"/>
                  </a:ext>
                </a:extLst>
              </p:cNvPr>
              <p:cNvSpPr txBox="1"/>
              <p:nvPr/>
            </p:nvSpPr>
            <p:spPr>
              <a:xfrm>
                <a:off x="4155002" y="5372981"/>
                <a:ext cx="771861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58D33D33-1847-B728-4854-07F31A284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5002" y="5372981"/>
                <a:ext cx="771861" cy="394864"/>
              </a:xfrm>
              <a:prstGeom prst="rect">
                <a:avLst/>
              </a:prstGeom>
              <a:blipFill>
                <a:blip r:embed="rId7"/>
                <a:stretch>
                  <a:fillRect r="-6349"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9E824F90-3055-C84C-EC11-1178CD81419A}"/>
              </a:ext>
            </a:extLst>
          </p:cNvPr>
          <p:cNvCxnSpPr>
            <a:cxnSpLocks/>
            <a:stCxn id="7" idx="2"/>
            <a:endCxn id="38" idx="0"/>
          </p:cNvCxnSpPr>
          <p:nvPr/>
        </p:nvCxnSpPr>
        <p:spPr>
          <a:xfrm rot="16200000" flipH="1">
            <a:off x="1282627" y="3720274"/>
            <a:ext cx="1826116" cy="13597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5BE032B-57B9-5C4F-1FF9-4FD2AF9BF995}"/>
              </a:ext>
            </a:extLst>
          </p:cNvPr>
          <p:cNvCxnSpPr>
            <a:cxnSpLocks/>
            <a:stCxn id="30" idx="3"/>
            <a:endCxn id="96" idx="1"/>
          </p:cNvCxnSpPr>
          <p:nvPr/>
        </p:nvCxnSpPr>
        <p:spPr>
          <a:xfrm>
            <a:off x="4926863" y="5570413"/>
            <a:ext cx="60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85D4625C-B689-219D-C3F0-298F31B262B5}"/>
                  </a:ext>
                </a:extLst>
              </p:cNvPr>
              <p:cNvSpPr txBox="1"/>
              <p:nvPr/>
            </p:nvSpPr>
            <p:spPr>
              <a:xfrm>
                <a:off x="2363673" y="5313196"/>
                <a:ext cx="1023752" cy="5075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85D4625C-B689-219D-C3F0-298F31B26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3673" y="5313196"/>
                <a:ext cx="1023752" cy="507505"/>
              </a:xfrm>
              <a:prstGeom prst="rect">
                <a:avLst/>
              </a:prstGeom>
              <a:blipFill>
                <a:blip r:embed="rId8"/>
                <a:stretch>
                  <a:fillRect r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4220294-57BA-E01F-BD6C-567FF720B745}"/>
              </a:ext>
            </a:extLst>
          </p:cNvPr>
          <p:cNvCxnSpPr>
            <a:cxnSpLocks/>
            <a:stCxn id="38" idx="3"/>
            <a:endCxn id="30" idx="1"/>
          </p:cNvCxnSpPr>
          <p:nvPr/>
        </p:nvCxnSpPr>
        <p:spPr>
          <a:xfrm>
            <a:off x="3387425" y="5566949"/>
            <a:ext cx="767577" cy="3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Object 81">
                <a:extLst>
                  <a:ext uri="{FF2B5EF4-FFF2-40B4-BE49-F238E27FC236}">
                    <a16:creationId xmlns:a16="http://schemas.microsoft.com/office/drawing/2014/main" id="{8D1839E0-5291-7C29-D87C-4D25EDAFE89E}"/>
                  </a:ext>
                </a:extLst>
              </p:cNvPr>
              <p:cNvSpPr txBox="1"/>
              <p:nvPr/>
            </p:nvSpPr>
            <p:spPr>
              <a:xfrm>
                <a:off x="6183111" y="4120614"/>
                <a:ext cx="468985" cy="387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Object 81">
                <a:extLst>
                  <a:ext uri="{FF2B5EF4-FFF2-40B4-BE49-F238E27FC236}">
                    <a16:creationId xmlns:a16="http://schemas.microsoft.com/office/drawing/2014/main" id="{8D1839E0-5291-7C29-D87C-4D25EDAFE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3111" y="4120614"/>
                <a:ext cx="468985" cy="387385"/>
              </a:xfrm>
              <a:prstGeom prst="rect">
                <a:avLst/>
              </a:prstGeom>
              <a:blipFill>
                <a:blip r:embed="rId9"/>
                <a:stretch>
                  <a:fillRect l="-3896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93916591-9E9F-0B9B-B897-BBD06C1F4EC8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6135302" y="3461196"/>
            <a:ext cx="28094" cy="18013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9EC4F8E9-B9AD-F151-8076-BC9106E40BE1}"/>
                  </a:ext>
                </a:extLst>
              </p:cNvPr>
              <p:cNvSpPr txBox="1"/>
              <p:nvPr/>
            </p:nvSpPr>
            <p:spPr>
              <a:xfrm>
                <a:off x="5536196" y="5372981"/>
                <a:ext cx="1212213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9EC4F8E9-B9AD-F151-8076-BC9106E40B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6196" y="5372981"/>
                <a:ext cx="1212213" cy="394864"/>
              </a:xfrm>
              <a:prstGeom prst="rect">
                <a:avLst/>
              </a:prstGeom>
              <a:blipFill>
                <a:blip r:embed="rId1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B6D2C193-5F92-0056-73FB-4AD028C520C2}"/>
              </a:ext>
            </a:extLst>
          </p:cNvPr>
          <p:cNvCxnSpPr>
            <a:cxnSpLocks/>
            <a:stCxn id="96" idx="3"/>
            <a:endCxn id="124" idx="1"/>
          </p:cNvCxnSpPr>
          <p:nvPr/>
        </p:nvCxnSpPr>
        <p:spPr>
          <a:xfrm>
            <a:off x="6748409" y="5570413"/>
            <a:ext cx="609333" cy="54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Object 42">
                <a:extLst>
                  <a:ext uri="{FF2B5EF4-FFF2-40B4-BE49-F238E27FC236}">
                    <a16:creationId xmlns:a16="http://schemas.microsoft.com/office/drawing/2014/main" id="{894CFAEC-F53E-2E30-139C-C3F13A8D495A}"/>
                  </a:ext>
                </a:extLst>
              </p:cNvPr>
              <p:cNvSpPr txBox="1"/>
              <p:nvPr/>
            </p:nvSpPr>
            <p:spPr>
              <a:xfrm>
                <a:off x="7357742" y="5380368"/>
                <a:ext cx="1420026" cy="39105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4" name="Object 42">
                <a:extLst>
                  <a:ext uri="{FF2B5EF4-FFF2-40B4-BE49-F238E27FC236}">
                    <a16:creationId xmlns:a16="http://schemas.microsoft.com/office/drawing/2014/main" id="{894CFAEC-F53E-2E30-139C-C3F13A8D49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7742" y="5380368"/>
                <a:ext cx="1420026" cy="391050"/>
              </a:xfrm>
              <a:prstGeom prst="rect">
                <a:avLst/>
              </a:prstGeom>
              <a:blipFill>
                <a:blip r:embed="rId11"/>
                <a:stretch>
                  <a:fillRect l="-426" b="-151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7" name="TextBox 156">
            <a:extLst>
              <a:ext uri="{FF2B5EF4-FFF2-40B4-BE49-F238E27FC236}">
                <a16:creationId xmlns:a16="http://schemas.microsoft.com/office/drawing/2014/main" id="{2713AFD9-C807-D818-47D2-864CD0461E44}"/>
              </a:ext>
            </a:extLst>
          </p:cNvPr>
          <p:cNvSpPr txBox="1"/>
          <p:nvPr/>
        </p:nvSpPr>
        <p:spPr>
          <a:xfrm>
            <a:off x="7273059" y="5820701"/>
            <a:ext cx="1589391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Structural Compliance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7">
                <a:extLst>
                  <a:ext uri="{FF2B5EF4-FFF2-40B4-BE49-F238E27FC236}">
                    <a16:creationId xmlns:a16="http://schemas.microsoft.com/office/drawing/2014/main" id="{912B66E6-C69F-836E-3DE2-9F0A497D4B11}"/>
                  </a:ext>
                </a:extLst>
              </p:cNvPr>
              <p:cNvSpPr txBox="1"/>
              <p:nvPr/>
            </p:nvSpPr>
            <p:spPr>
              <a:xfrm>
                <a:off x="1247396" y="1741441"/>
                <a:ext cx="497732" cy="400140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Object 7">
                <a:extLst>
                  <a:ext uri="{FF2B5EF4-FFF2-40B4-BE49-F238E27FC236}">
                    <a16:creationId xmlns:a16="http://schemas.microsoft.com/office/drawing/2014/main" id="{912B66E6-C69F-836E-3DE2-9F0A497D4B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396" y="1741441"/>
                <a:ext cx="497732" cy="4001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843F1512-E919-2162-0ACF-6FE0EE9F4683}"/>
              </a:ext>
            </a:extLst>
          </p:cNvPr>
          <p:cNvSpPr txBox="1"/>
          <p:nvPr/>
        </p:nvSpPr>
        <p:spPr>
          <a:xfrm>
            <a:off x="817328" y="995075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Latent variables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82C787-5F4A-F718-A910-95C92D904DDB}"/>
              </a:ext>
            </a:extLst>
          </p:cNvPr>
          <p:cNvCxnSpPr>
            <a:cxnSpLocks/>
            <a:stCxn id="10" idx="3"/>
            <a:endCxn id="11" idx="0"/>
          </p:cNvCxnSpPr>
          <p:nvPr/>
        </p:nvCxnSpPr>
        <p:spPr>
          <a:xfrm>
            <a:off x="1745128" y="1941511"/>
            <a:ext cx="1258540" cy="1102429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E29FAF-0F85-3DA2-BE5A-723EEE8C30BB}"/>
              </a:ext>
            </a:extLst>
          </p:cNvPr>
          <p:cNvCxnSpPr>
            <a:cxnSpLocks/>
            <a:stCxn id="10" idx="1"/>
            <a:endCxn id="38" idx="1"/>
          </p:cNvCxnSpPr>
          <p:nvPr/>
        </p:nvCxnSpPr>
        <p:spPr>
          <a:xfrm rot="10800000" flipH="1" flipV="1">
            <a:off x="1247395" y="1941511"/>
            <a:ext cx="1116277" cy="3625438"/>
          </a:xfrm>
          <a:prstGeom prst="bentConnector3">
            <a:avLst>
              <a:gd name="adj1" fmla="val -66103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BB7123F8-4343-F157-E371-1F28AA8EB18C}"/>
              </a:ext>
            </a:extLst>
          </p:cNvPr>
          <p:cNvCxnSpPr>
            <a:cxnSpLocks/>
            <a:stCxn id="10" idx="3"/>
            <a:endCxn id="53" idx="3"/>
          </p:cNvCxnSpPr>
          <p:nvPr/>
        </p:nvCxnSpPr>
        <p:spPr>
          <a:xfrm>
            <a:off x="1745128" y="1941511"/>
            <a:ext cx="4906968" cy="2372796"/>
          </a:xfrm>
          <a:prstGeom prst="bentConnector3">
            <a:avLst>
              <a:gd name="adj1" fmla="val 11503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B93218-74AB-6843-2DCA-2E682D1A2A53}"/>
                  </a:ext>
                </a:extLst>
              </p:cNvPr>
              <p:cNvSpPr txBox="1"/>
              <p:nvPr/>
            </p:nvSpPr>
            <p:spPr>
              <a:xfrm>
                <a:off x="3029778" y="2385977"/>
                <a:ext cx="406393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B93218-74AB-6843-2DCA-2E682D1A2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9778" y="2385977"/>
                <a:ext cx="406393" cy="307777"/>
              </a:xfrm>
              <a:prstGeom prst="rect">
                <a:avLst/>
              </a:prstGeom>
              <a:blipFill>
                <a:blip r:embed="rId1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4C1B3F8-DED6-D3F4-B750-5DFDA92103BB}"/>
                  </a:ext>
                </a:extLst>
              </p:cNvPr>
              <p:cNvSpPr txBox="1"/>
              <p:nvPr/>
            </p:nvSpPr>
            <p:spPr>
              <a:xfrm>
                <a:off x="990627" y="5613130"/>
                <a:ext cx="315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4C1B3F8-DED6-D3F4-B750-5DFDA92103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27" y="5613130"/>
                <a:ext cx="315214" cy="307777"/>
              </a:xfrm>
              <a:prstGeom prst="rect">
                <a:avLst/>
              </a:prstGeom>
              <a:blipFill>
                <a:blip r:embed="rId14"/>
                <a:stretch>
                  <a:fillRect l="-21569" r="-3922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1B8571-07E2-CF23-13B7-C2BB1B55E269}"/>
                  </a:ext>
                </a:extLst>
              </p:cNvPr>
              <p:cNvSpPr txBox="1"/>
              <p:nvPr/>
            </p:nvSpPr>
            <p:spPr>
              <a:xfrm>
                <a:off x="7490181" y="2500605"/>
                <a:ext cx="315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1B8571-07E2-CF23-13B7-C2BB1B55E2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0181" y="2500605"/>
                <a:ext cx="315214" cy="307777"/>
              </a:xfrm>
              <a:prstGeom prst="rect">
                <a:avLst/>
              </a:prstGeom>
              <a:blipFill>
                <a:blip r:embed="rId15"/>
                <a:stretch>
                  <a:fillRect l="-21569" r="-3922"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509572-F5DF-0D1A-879E-BC72623CD46B}"/>
                  </a:ext>
                </a:extLst>
              </p:cNvPr>
              <p:cNvSpPr txBox="1"/>
              <p:nvPr/>
            </p:nvSpPr>
            <p:spPr>
              <a:xfrm>
                <a:off x="7518522" y="3166482"/>
                <a:ext cx="2868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509572-F5DF-0D1A-879E-BC72623CD4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522" y="3166482"/>
                <a:ext cx="286873" cy="276999"/>
              </a:xfrm>
              <a:prstGeom prst="rect">
                <a:avLst/>
              </a:prstGeom>
              <a:blipFill>
                <a:blip r:embed="rId16"/>
                <a:stretch>
                  <a:fillRect l="-12766" r="-4255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93639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EB04A-8B5B-7A49-4824-8BC102BA1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9457C3A7-04CA-6BD5-98A5-74982A188A4F}"/>
                  </a:ext>
                </a:extLst>
              </p:cNvPr>
              <p:cNvSpPr txBox="1"/>
              <p:nvPr/>
            </p:nvSpPr>
            <p:spPr>
              <a:xfrm>
                <a:off x="1088592" y="3200133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9457C3A7-04CA-6BD5-98A5-74982A188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592" y="3200133"/>
                <a:ext cx="478742" cy="457735"/>
              </a:xfrm>
              <a:prstGeom prst="rect">
                <a:avLst/>
              </a:prstGeom>
              <a:blipFill>
                <a:blip r:embed="rId3"/>
                <a:stretch>
                  <a:fillRect l="-2500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280DC4F8-6461-219F-0032-CFC93DA9FEE8}"/>
                  </a:ext>
                </a:extLst>
              </p:cNvPr>
              <p:cNvSpPr txBox="1"/>
              <p:nvPr/>
            </p:nvSpPr>
            <p:spPr>
              <a:xfrm>
                <a:off x="2277646" y="3214728"/>
                <a:ext cx="1076325" cy="445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280DC4F8-6461-219F-0032-CFC93DA9F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7646" y="3214728"/>
                <a:ext cx="1076325" cy="4453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DEB2B0FA-D99D-12AF-F4C1-8CDD933C3EA9}"/>
                  </a:ext>
                </a:extLst>
              </p:cNvPr>
              <p:cNvSpPr txBox="1"/>
              <p:nvPr/>
            </p:nvSpPr>
            <p:spPr>
              <a:xfrm>
                <a:off x="3791516" y="3253163"/>
                <a:ext cx="796049" cy="3685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DEB2B0FA-D99D-12AF-F4C1-8CDD933C3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1516" y="3253163"/>
                <a:ext cx="796049" cy="368513"/>
              </a:xfrm>
              <a:prstGeom prst="rect">
                <a:avLst/>
              </a:prstGeom>
              <a:blipFill>
                <a:blip r:embed="rId5"/>
                <a:stretch>
                  <a:fillRect r="-916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EC4205E-5CCB-83F6-36C0-134AD45AC0D9}"/>
              </a:ext>
            </a:extLst>
          </p:cNvPr>
          <p:cNvCxnSpPr>
            <a:cxnSpLocks/>
            <a:stCxn id="12" idx="3"/>
            <a:endCxn id="107" idx="1"/>
          </p:cNvCxnSpPr>
          <p:nvPr/>
        </p:nvCxnSpPr>
        <p:spPr>
          <a:xfrm>
            <a:off x="4587565" y="3437420"/>
            <a:ext cx="612250" cy="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6FE237D-BBCB-F0E5-2F01-F6077CFB4EED}"/>
              </a:ext>
            </a:extLst>
          </p:cNvPr>
          <p:cNvSpPr txBox="1"/>
          <p:nvPr/>
        </p:nvSpPr>
        <p:spPr>
          <a:xfrm>
            <a:off x="546869" y="2520135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A86E554-911A-EFF6-C95B-4EADA1E3167E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1567334" y="3429001"/>
            <a:ext cx="710312" cy="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0F092A5A-AE97-2A4F-55B4-C0936F9B561A}"/>
              </a:ext>
            </a:extLst>
          </p:cNvPr>
          <p:cNvSpPr txBox="1"/>
          <p:nvPr/>
        </p:nvSpPr>
        <p:spPr>
          <a:xfrm>
            <a:off x="215700" y="132745"/>
            <a:ext cx="11906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LR-MMTO Thermo-Elastic P-Norm Stress (constant mat properties)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19C92DD-CB81-220E-66A4-84E1DFD82B3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3353971" y="3437420"/>
            <a:ext cx="43754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5937360F-AE64-5672-FAD6-2BC91059F51D}"/>
                  </a:ext>
                </a:extLst>
              </p:cNvPr>
              <p:cNvSpPr txBox="1"/>
              <p:nvPr/>
            </p:nvSpPr>
            <p:spPr>
              <a:xfrm>
                <a:off x="5199815" y="3249988"/>
                <a:ext cx="1551443" cy="381996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𝑒𝑥𝑡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5937360F-AE64-5672-FAD6-2BC91059F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815" y="3249988"/>
                <a:ext cx="1551443" cy="381996"/>
              </a:xfrm>
              <a:prstGeom prst="rect">
                <a:avLst/>
              </a:prstGeom>
              <a:blipFill>
                <a:blip r:embed="rId6"/>
                <a:stretch>
                  <a:fillRect l="-2756" t="-3175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7C5E82A7-EA98-BFBC-14B9-25C99B5D65A2}"/>
                  </a:ext>
                </a:extLst>
              </p:cNvPr>
              <p:cNvSpPr txBox="1"/>
              <p:nvPr/>
            </p:nvSpPr>
            <p:spPr>
              <a:xfrm>
                <a:off x="4008701" y="4580535"/>
                <a:ext cx="771861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7C5E82A7-EA98-BFBC-14B9-25C99B5D65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8701" y="4580535"/>
                <a:ext cx="771861" cy="394864"/>
              </a:xfrm>
              <a:prstGeom prst="rect">
                <a:avLst/>
              </a:prstGeom>
              <a:blipFill>
                <a:blip r:embed="rId7"/>
                <a:stretch>
                  <a:fillRect r="-6349"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7ED4A4DB-C265-51F7-9EDD-805373B82802}"/>
              </a:ext>
            </a:extLst>
          </p:cNvPr>
          <p:cNvCxnSpPr>
            <a:cxnSpLocks/>
            <a:stCxn id="7" idx="2"/>
            <a:endCxn id="38" idx="1"/>
          </p:cNvCxnSpPr>
          <p:nvPr/>
        </p:nvCxnSpPr>
        <p:spPr>
          <a:xfrm rot="16200000" flipH="1">
            <a:off x="1214350" y="3771480"/>
            <a:ext cx="1116635" cy="88940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27E565B-4334-D0B8-1E64-115D33BB6346}"/>
              </a:ext>
            </a:extLst>
          </p:cNvPr>
          <p:cNvCxnSpPr>
            <a:cxnSpLocks/>
            <a:stCxn id="30" idx="3"/>
            <a:endCxn id="96" idx="1"/>
          </p:cNvCxnSpPr>
          <p:nvPr/>
        </p:nvCxnSpPr>
        <p:spPr>
          <a:xfrm>
            <a:off x="4780562" y="4777967"/>
            <a:ext cx="60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024E57FA-3557-7BFB-20B4-40EC9D1DF648}"/>
                  </a:ext>
                </a:extLst>
              </p:cNvPr>
              <p:cNvSpPr txBox="1"/>
              <p:nvPr/>
            </p:nvSpPr>
            <p:spPr>
              <a:xfrm>
                <a:off x="2217372" y="4520750"/>
                <a:ext cx="1023752" cy="5075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024E57FA-3557-7BFB-20B4-40EC9D1DF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372" y="4520750"/>
                <a:ext cx="1023752" cy="507505"/>
              </a:xfrm>
              <a:prstGeom prst="rect">
                <a:avLst/>
              </a:prstGeom>
              <a:blipFill>
                <a:blip r:embed="rId8"/>
                <a:stretch>
                  <a:fillRect r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6B0CE89-3565-33BE-7013-B2C5CE760A4C}"/>
              </a:ext>
            </a:extLst>
          </p:cNvPr>
          <p:cNvCxnSpPr>
            <a:cxnSpLocks/>
            <a:stCxn id="38" idx="3"/>
            <a:endCxn id="30" idx="1"/>
          </p:cNvCxnSpPr>
          <p:nvPr/>
        </p:nvCxnSpPr>
        <p:spPr>
          <a:xfrm>
            <a:off x="3241124" y="4774503"/>
            <a:ext cx="767577" cy="3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Object 81">
                <a:extLst>
                  <a:ext uri="{FF2B5EF4-FFF2-40B4-BE49-F238E27FC236}">
                    <a16:creationId xmlns:a16="http://schemas.microsoft.com/office/drawing/2014/main" id="{2A9397C9-9B09-2B29-36D1-4819453A0B9F}"/>
                  </a:ext>
                </a:extLst>
              </p:cNvPr>
              <p:cNvSpPr txBox="1"/>
              <p:nvPr/>
            </p:nvSpPr>
            <p:spPr>
              <a:xfrm>
                <a:off x="6006110" y="3935719"/>
                <a:ext cx="468985" cy="387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Object 81">
                <a:extLst>
                  <a:ext uri="{FF2B5EF4-FFF2-40B4-BE49-F238E27FC236}">
                    <a16:creationId xmlns:a16="http://schemas.microsoft.com/office/drawing/2014/main" id="{2A9397C9-9B09-2B29-36D1-4819453A0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6110" y="3935719"/>
                <a:ext cx="468985" cy="387385"/>
              </a:xfrm>
              <a:prstGeom prst="rect">
                <a:avLst/>
              </a:prstGeom>
              <a:blipFill>
                <a:blip r:embed="rId9"/>
                <a:stretch>
                  <a:fillRect l="-3896" b="-7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A1E6E4-2FEF-662A-9302-ED81AFF9542E}"/>
              </a:ext>
            </a:extLst>
          </p:cNvPr>
          <p:cNvCxnSpPr>
            <a:cxnSpLocks/>
            <a:stCxn id="107" idx="2"/>
            <a:endCxn id="96" idx="0"/>
          </p:cNvCxnSpPr>
          <p:nvPr/>
        </p:nvCxnSpPr>
        <p:spPr>
          <a:xfrm>
            <a:off x="5975537" y="3631984"/>
            <a:ext cx="20465" cy="948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6CE825CF-D55B-96A3-7FFE-A5D93328B739}"/>
                  </a:ext>
                </a:extLst>
              </p:cNvPr>
              <p:cNvSpPr txBox="1"/>
              <p:nvPr/>
            </p:nvSpPr>
            <p:spPr>
              <a:xfrm>
                <a:off x="5389895" y="4580535"/>
                <a:ext cx="1212213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6CE825CF-D55B-96A3-7FFE-A5D93328B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895" y="4580535"/>
                <a:ext cx="1212213" cy="394864"/>
              </a:xfrm>
              <a:prstGeom prst="rect">
                <a:avLst/>
              </a:prstGeom>
              <a:blipFill>
                <a:blip r:embed="rId1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51">
                <a:extLst>
                  <a:ext uri="{FF2B5EF4-FFF2-40B4-BE49-F238E27FC236}">
                    <a16:creationId xmlns:a16="http://schemas.microsoft.com/office/drawing/2014/main" id="{4C8E98E6-25F0-A012-EEC4-B6141E857D52}"/>
                  </a:ext>
                </a:extLst>
              </p:cNvPr>
              <p:cNvSpPr txBox="1"/>
              <p:nvPr/>
            </p:nvSpPr>
            <p:spPr>
              <a:xfrm>
                <a:off x="5732751" y="5285727"/>
                <a:ext cx="558800" cy="486721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Object 51">
                <a:extLst>
                  <a:ext uri="{FF2B5EF4-FFF2-40B4-BE49-F238E27FC236}">
                    <a16:creationId xmlns:a16="http://schemas.microsoft.com/office/drawing/2014/main" id="{4C8E98E6-25F0-A012-EEC4-B6141E857D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2751" y="5285727"/>
                <a:ext cx="558800" cy="4867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D81DEAD-42B1-4883-F4D9-68A10321DF44}"/>
              </a:ext>
            </a:extLst>
          </p:cNvPr>
          <p:cNvCxnSpPr>
            <a:cxnSpLocks/>
            <a:stCxn id="96" idx="2"/>
            <a:endCxn id="2" idx="0"/>
          </p:cNvCxnSpPr>
          <p:nvPr/>
        </p:nvCxnSpPr>
        <p:spPr>
          <a:xfrm>
            <a:off x="5996002" y="4975399"/>
            <a:ext cx="16149" cy="3103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55">
                <a:extLst>
                  <a:ext uri="{FF2B5EF4-FFF2-40B4-BE49-F238E27FC236}">
                    <a16:creationId xmlns:a16="http://schemas.microsoft.com/office/drawing/2014/main" id="{DAC3A753-07A4-3991-52A9-8111532314B6}"/>
                  </a:ext>
                </a:extLst>
              </p:cNvPr>
              <p:cNvSpPr txBox="1"/>
              <p:nvPr/>
            </p:nvSpPr>
            <p:spPr>
              <a:xfrm>
                <a:off x="6943242" y="5333561"/>
                <a:ext cx="721206" cy="391050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𝑉𝑀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bject 55">
                <a:extLst>
                  <a:ext uri="{FF2B5EF4-FFF2-40B4-BE49-F238E27FC236}">
                    <a16:creationId xmlns:a16="http://schemas.microsoft.com/office/drawing/2014/main" id="{DAC3A753-07A4-3991-52A9-811153231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3242" y="5333561"/>
                <a:ext cx="721206" cy="39105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FFE1B80-687F-5025-05A9-4DA4B673AEAA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6291551" y="5529086"/>
            <a:ext cx="651691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42F263D-C95E-01B5-0C67-7627059C147B}"/>
              </a:ext>
            </a:extLst>
          </p:cNvPr>
          <p:cNvSpPr txBox="1"/>
          <p:nvPr/>
        </p:nvSpPr>
        <p:spPr>
          <a:xfrm>
            <a:off x="8041577" y="6355923"/>
            <a:ext cx="2591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Stress Failure Factor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52CA0AB3-DC0B-C8D5-9B50-33A5B4ED2317}"/>
                  </a:ext>
                </a:extLst>
              </p:cNvPr>
              <p:cNvSpPr txBox="1"/>
              <p:nvPr/>
            </p:nvSpPr>
            <p:spPr>
              <a:xfrm>
                <a:off x="8148536" y="4999671"/>
                <a:ext cx="3329076" cy="1058829"/>
              </a:xfrm>
              <a:prstGeom prst="rect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FF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𝑉𝑀</m:t>
                                              </m:r>
                                            </m:sup>
                                          </m:sSubSup>
                                          <m:r>
                                            <a:rPr lang="en-US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e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52CA0AB3-DC0B-C8D5-9B50-33A5B4ED2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8536" y="4999671"/>
                <a:ext cx="3329076" cy="105882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AACEF03-768B-8199-E003-988CC2C34B72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7664448" y="5529086"/>
            <a:ext cx="4840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16C9B02-24C4-CCC2-6CC0-967A85C88A36}"/>
              </a:ext>
            </a:extLst>
          </p:cNvPr>
          <p:cNvCxnSpPr>
            <a:cxnSpLocks/>
            <a:stCxn id="7" idx="1"/>
            <a:endCxn id="2" idx="2"/>
          </p:cNvCxnSpPr>
          <p:nvPr/>
        </p:nvCxnSpPr>
        <p:spPr>
          <a:xfrm rot="10800000" flipH="1" flipV="1">
            <a:off x="1088591" y="3429000"/>
            <a:ext cx="4923559" cy="2343447"/>
          </a:xfrm>
          <a:prstGeom prst="bentConnector4">
            <a:avLst>
              <a:gd name="adj1" fmla="val -4643"/>
              <a:gd name="adj2" fmla="val 1097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bject 7">
                <a:extLst>
                  <a:ext uri="{FF2B5EF4-FFF2-40B4-BE49-F238E27FC236}">
                    <a16:creationId xmlns:a16="http://schemas.microsoft.com/office/drawing/2014/main" id="{1085EB01-79FB-5BAC-8EF4-907B7970418B}"/>
                  </a:ext>
                </a:extLst>
              </p:cNvPr>
              <p:cNvSpPr txBox="1"/>
              <p:nvPr/>
            </p:nvSpPr>
            <p:spPr>
              <a:xfrm>
                <a:off x="1035469" y="1766054"/>
                <a:ext cx="497732" cy="400140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Object 7">
                <a:extLst>
                  <a:ext uri="{FF2B5EF4-FFF2-40B4-BE49-F238E27FC236}">
                    <a16:creationId xmlns:a16="http://schemas.microsoft.com/office/drawing/2014/main" id="{1085EB01-79FB-5BAC-8EF4-907B79704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469" y="1766054"/>
                <a:ext cx="497732" cy="4001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47B9507E-5D6C-FA33-D534-2455D6EA118C}"/>
              </a:ext>
            </a:extLst>
          </p:cNvPr>
          <p:cNvSpPr txBox="1"/>
          <p:nvPr/>
        </p:nvSpPr>
        <p:spPr>
          <a:xfrm>
            <a:off x="528169" y="913472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Latent variables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4BD9895A-40C4-146D-CA46-76A471F678C9}"/>
              </a:ext>
            </a:extLst>
          </p:cNvPr>
          <p:cNvCxnSpPr>
            <a:cxnSpLocks/>
            <a:stCxn id="20" idx="1"/>
            <a:endCxn id="38" idx="2"/>
          </p:cNvCxnSpPr>
          <p:nvPr/>
        </p:nvCxnSpPr>
        <p:spPr>
          <a:xfrm rot="10800000" flipH="1" flipV="1">
            <a:off x="1035468" y="1966123"/>
            <a:ext cx="1693779" cy="3062131"/>
          </a:xfrm>
          <a:prstGeom prst="bentConnector4">
            <a:avLst>
              <a:gd name="adj1" fmla="val -33313"/>
              <a:gd name="adj2" fmla="val 10746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6065599A-E43E-3ADC-B702-4B1DA4A31404}"/>
              </a:ext>
            </a:extLst>
          </p:cNvPr>
          <p:cNvCxnSpPr>
            <a:cxnSpLocks/>
            <a:stCxn id="20" idx="3"/>
            <a:endCxn id="11" idx="0"/>
          </p:cNvCxnSpPr>
          <p:nvPr/>
        </p:nvCxnSpPr>
        <p:spPr>
          <a:xfrm>
            <a:off x="1533201" y="1966124"/>
            <a:ext cx="1282608" cy="124860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B4742C9-9E81-2C10-EF93-CD43269359E7}"/>
              </a:ext>
            </a:extLst>
          </p:cNvPr>
          <p:cNvCxnSpPr>
            <a:cxnSpLocks/>
            <a:stCxn id="20" idx="3"/>
            <a:endCxn id="53" idx="3"/>
          </p:cNvCxnSpPr>
          <p:nvPr/>
        </p:nvCxnSpPr>
        <p:spPr>
          <a:xfrm>
            <a:off x="1533201" y="1966124"/>
            <a:ext cx="4941894" cy="2163288"/>
          </a:xfrm>
          <a:prstGeom prst="bentConnector3">
            <a:avLst>
              <a:gd name="adj1" fmla="val 115634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D24A655D-4E75-8D43-B07A-A319D84573B3}"/>
              </a:ext>
            </a:extLst>
          </p:cNvPr>
          <p:cNvCxnSpPr>
            <a:cxnSpLocks/>
            <a:stCxn id="20" idx="1"/>
            <a:endCxn id="2" idx="2"/>
          </p:cNvCxnSpPr>
          <p:nvPr/>
        </p:nvCxnSpPr>
        <p:spPr>
          <a:xfrm rot="10800000" flipH="1" flipV="1">
            <a:off x="1035469" y="1966124"/>
            <a:ext cx="4976682" cy="3806324"/>
          </a:xfrm>
          <a:prstGeom prst="bentConnector4">
            <a:avLst>
              <a:gd name="adj1" fmla="val -19245"/>
              <a:gd name="adj2" fmla="val 11634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1C56DD-6A17-E6CE-F87E-227CB0646ED5}"/>
                  </a:ext>
                </a:extLst>
              </p:cNvPr>
              <p:cNvSpPr txBox="1"/>
              <p:nvPr/>
            </p:nvSpPr>
            <p:spPr>
              <a:xfrm>
                <a:off x="3029778" y="2385977"/>
                <a:ext cx="406393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1C56DD-6A17-E6CE-F87E-227CB0646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9778" y="2385977"/>
                <a:ext cx="406393" cy="307777"/>
              </a:xfrm>
              <a:prstGeom prst="rect">
                <a:avLst/>
              </a:prstGeom>
              <a:blipFill>
                <a:blip r:embed="rId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6209F61-EA59-665B-48F5-495788722385}"/>
                  </a:ext>
                </a:extLst>
              </p:cNvPr>
              <p:cNvSpPr txBox="1"/>
              <p:nvPr/>
            </p:nvSpPr>
            <p:spPr>
              <a:xfrm>
                <a:off x="7304943" y="2427839"/>
                <a:ext cx="315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6209F61-EA59-665B-48F5-495788722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4943" y="2427839"/>
                <a:ext cx="315214" cy="307777"/>
              </a:xfrm>
              <a:prstGeom prst="rect">
                <a:avLst/>
              </a:prstGeom>
              <a:blipFill>
                <a:blip r:embed="rId15"/>
                <a:stretch>
                  <a:fillRect l="-19231" r="-1923"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85D1A8-B58A-4B4B-BAAE-1E1C30611CE7}"/>
                  </a:ext>
                </a:extLst>
              </p:cNvPr>
              <p:cNvSpPr txBox="1"/>
              <p:nvPr/>
            </p:nvSpPr>
            <p:spPr>
              <a:xfrm>
                <a:off x="7333284" y="3093716"/>
                <a:ext cx="2868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85D1A8-B58A-4B4B-BAAE-1E1C30611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3284" y="3093716"/>
                <a:ext cx="286873" cy="276999"/>
              </a:xfrm>
              <a:prstGeom prst="rect">
                <a:avLst/>
              </a:prstGeom>
              <a:blipFill>
                <a:blip r:embed="rId16"/>
                <a:stretch>
                  <a:fillRect l="-12766" r="-4255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8DB2CD-2273-61F8-3C78-5BA35C891BF6}"/>
                  </a:ext>
                </a:extLst>
              </p:cNvPr>
              <p:cNvSpPr txBox="1"/>
              <p:nvPr/>
            </p:nvSpPr>
            <p:spPr>
              <a:xfrm>
                <a:off x="1528429" y="4963975"/>
                <a:ext cx="315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F8DB2CD-2273-61F8-3C78-5BA35C891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8429" y="4963975"/>
                <a:ext cx="315214" cy="307777"/>
              </a:xfrm>
              <a:prstGeom prst="rect">
                <a:avLst/>
              </a:prstGeom>
              <a:blipFill>
                <a:blip r:embed="rId17"/>
                <a:stretch>
                  <a:fillRect l="-21569" r="-3922"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B9C9EAB-484F-0651-9581-2D1CC7C7E602}"/>
                  </a:ext>
                </a:extLst>
              </p:cNvPr>
              <p:cNvSpPr txBox="1"/>
              <p:nvPr/>
            </p:nvSpPr>
            <p:spPr>
              <a:xfrm>
                <a:off x="2414033" y="6417478"/>
                <a:ext cx="315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B9C9EAB-484F-0651-9581-2D1CC7C7E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4033" y="6417478"/>
                <a:ext cx="315214" cy="307777"/>
              </a:xfrm>
              <a:prstGeom prst="rect">
                <a:avLst/>
              </a:prstGeom>
              <a:blipFill>
                <a:blip r:embed="rId18"/>
                <a:stretch>
                  <a:fillRect l="-19231" r="-1923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9D5A71D-C204-94E8-93FA-C552BDEC0F6A}"/>
              </a:ext>
            </a:extLst>
          </p:cNvPr>
          <p:cNvCxnSpPr>
            <a:cxnSpLocks/>
            <a:stCxn id="20" idx="0"/>
            <a:endCxn id="9" idx="0"/>
          </p:cNvCxnSpPr>
          <p:nvPr/>
        </p:nvCxnSpPr>
        <p:spPr>
          <a:xfrm rot="16200000" flipH="1">
            <a:off x="3931895" y="-881507"/>
            <a:ext cx="3233617" cy="8528739"/>
          </a:xfrm>
          <a:prstGeom prst="bentConnector3">
            <a:avLst>
              <a:gd name="adj1" fmla="val -706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ABCC130-832E-400C-5B1C-16953651E748}"/>
                  </a:ext>
                </a:extLst>
              </p:cNvPr>
              <p:cNvSpPr txBox="1"/>
              <p:nvPr/>
            </p:nvSpPr>
            <p:spPr>
              <a:xfrm>
                <a:off x="9873347" y="2923134"/>
                <a:ext cx="26353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ABCC130-832E-400C-5B1C-16953651E7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3347" y="2923134"/>
                <a:ext cx="263534" cy="276999"/>
              </a:xfrm>
              <a:prstGeom prst="rect">
                <a:avLst/>
              </a:prstGeom>
              <a:blipFill>
                <a:blip r:embed="rId19"/>
                <a:stretch>
                  <a:fillRect l="-23256" r="-4651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3819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DE6DB-1409-2D5A-0958-C5105FC12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53E8E726-0E1B-A032-FF28-2BCD5149CA6B}"/>
                  </a:ext>
                </a:extLst>
              </p:cNvPr>
              <p:cNvSpPr txBox="1"/>
              <p:nvPr/>
            </p:nvSpPr>
            <p:spPr>
              <a:xfrm>
                <a:off x="1088592" y="3200133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9457C3A7-04CA-6BD5-98A5-74982A188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592" y="3200133"/>
                <a:ext cx="478742" cy="457735"/>
              </a:xfrm>
              <a:prstGeom prst="rect">
                <a:avLst/>
              </a:prstGeom>
              <a:blipFill>
                <a:blip r:embed="rId3"/>
                <a:stretch>
                  <a:fillRect l="-2500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2C411FD7-3FC3-23C2-D351-06967D09F87E}"/>
                  </a:ext>
                </a:extLst>
              </p:cNvPr>
              <p:cNvSpPr txBox="1"/>
              <p:nvPr/>
            </p:nvSpPr>
            <p:spPr>
              <a:xfrm>
                <a:off x="2277646" y="3214728"/>
                <a:ext cx="1076325" cy="445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280DC4F8-6461-219F-0032-CFC93DA9F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7646" y="3214728"/>
                <a:ext cx="1076325" cy="4453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E75E242D-659D-EC63-3099-FF1AFA48DCDC}"/>
                  </a:ext>
                </a:extLst>
              </p:cNvPr>
              <p:cNvSpPr txBox="1"/>
              <p:nvPr/>
            </p:nvSpPr>
            <p:spPr>
              <a:xfrm>
                <a:off x="3791516" y="3253163"/>
                <a:ext cx="796049" cy="3685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DEB2B0FA-D99D-12AF-F4C1-8CDD933C3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1516" y="3253163"/>
                <a:ext cx="796049" cy="368513"/>
              </a:xfrm>
              <a:prstGeom prst="rect">
                <a:avLst/>
              </a:prstGeom>
              <a:blipFill>
                <a:blip r:embed="rId5"/>
                <a:stretch>
                  <a:fillRect r="-916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E81734C-DBE8-864B-E77F-9FEBE1DA25D4}"/>
              </a:ext>
            </a:extLst>
          </p:cNvPr>
          <p:cNvCxnSpPr>
            <a:cxnSpLocks/>
            <a:stCxn id="12" idx="3"/>
            <a:endCxn id="107" idx="1"/>
          </p:cNvCxnSpPr>
          <p:nvPr/>
        </p:nvCxnSpPr>
        <p:spPr>
          <a:xfrm>
            <a:off x="4587565" y="3437420"/>
            <a:ext cx="612250" cy="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E429093-4ECF-8087-580F-D6A3451C38C8}"/>
              </a:ext>
            </a:extLst>
          </p:cNvPr>
          <p:cNvSpPr txBox="1"/>
          <p:nvPr/>
        </p:nvSpPr>
        <p:spPr>
          <a:xfrm>
            <a:off x="546869" y="2520135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F7E5CA9-5074-8C1A-4973-D3F8B0662168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1567334" y="3429001"/>
            <a:ext cx="710312" cy="84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D2A669EA-5488-2DE6-6857-C753D53F17E7}"/>
              </a:ext>
            </a:extLst>
          </p:cNvPr>
          <p:cNvSpPr txBox="1"/>
          <p:nvPr/>
        </p:nvSpPr>
        <p:spPr>
          <a:xfrm>
            <a:off x="215700" y="132745"/>
            <a:ext cx="119069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LR-MMTO Thermo-Elastic P-Norm Stress (constant mat properties)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1B1CC558-D328-35F4-AA34-AFEA2AF0C480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3353971" y="3437420"/>
            <a:ext cx="43754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0D24E722-40CE-4F47-5E43-98DAF0F98C57}"/>
                  </a:ext>
                </a:extLst>
              </p:cNvPr>
              <p:cNvSpPr txBox="1"/>
              <p:nvPr/>
            </p:nvSpPr>
            <p:spPr>
              <a:xfrm>
                <a:off x="5199815" y="3249988"/>
                <a:ext cx="1551443" cy="381996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𝑒𝑥𝑡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5937360F-AE64-5672-FAD6-2BC91059F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9815" y="3249988"/>
                <a:ext cx="1551443" cy="381996"/>
              </a:xfrm>
              <a:prstGeom prst="rect">
                <a:avLst/>
              </a:prstGeom>
              <a:blipFill>
                <a:blip r:embed="rId6"/>
                <a:stretch>
                  <a:fillRect l="-2756" t="-3175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4D9CEAB6-9BB5-FD7E-5532-A610B9599AE2}"/>
                  </a:ext>
                </a:extLst>
              </p:cNvPr>
              <p:cNvSpPr txBox="1"/>
              <p:nvPr/>
            </p:nvSpPr>
            <p:spPr>
              <a:xfrm>
                <a:off x="4008701" y="4580535"/>
                <a:ext cx="771861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Object 10">
                <a:extLst>
                  <a:ext uri="{FF2B5EF4-FFF2-40B4-BE49-F238E27FC236}">
                    <a16:creationId xmlns:a16="http://schemas.microsoft.com/office/drawing/2014/main" id="{7C5E82A7-EA98-BFBC-14B9-25C99B5D65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8701" y="4580535"/>
                <a:ext cx="771861" cy="394864"/>
              </a:xfrm>
              <a:prstGeom prst="rect">
                <a:avLst/>
              </a:prstGeom>
              <a:blipFill>
                <a:blip r:embed="rId7"/>
                <a:stretch>
                  <a:fillRect r="-6349"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E45B4261-8BB7-95C0-D543-2B1AE8C6A5F7}"/>
              </a:ext>
            </a:extLst>
          </p:cNvPr>
          <p:cNvCxnSpPr>
            <a:cxnSpLocks/>
            <a:stCxn id="7" idx="2"/>
            <a:endCxn id="38" idx="1"/>
          </p:cNvCxnSpPr>
          <p:nvPr/>
        </p:nvCxnSpPr>
        <p:spPr>
          <a:xfrm rot="16200000" flipH="1">
            <a:off x="1214350" y="3771480"/>
            <a:ext cx="1116635" cy="88940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FA34463-CE20-631E-6CF7-F821B80CB0BA}"/>
              </a:ext>
            </a:extLst>
          </p:cNvPr>
          <p:cNvCxnSpPr>
            <a:cxnSpLocks/>
            <a:stCxn id="30" idx="3"/>
            <a:endCxn id="96" idx="1"/>
          </p:cNvCxnSpPr>
          <p:nvPr/>
        </p:nvCxnSpPr>
        <p:spPr>
          <a:xfrm>
            <a:off x="4780562" y="4777967"/>
            <a:ext cx="609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9742717B-E7D6-3610-629F-D507A7DBE7AD}"/>
                  </a:ext>
                </a:extLst>
              </p:cNvPr>
              <p:cNvSpPr txBox="1"/>
              <p:nvPr/>
            </p:nvSpPr>
            <p:spPr>
              <a:xfrm>
                <a:off x="2217372" y="4520750"/>
                <a:ext cx="1023752" cy="50750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𝑒𝑥𝑡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Object 64">
                <a:extLst>
                  <a:ext uri="{FF2B5EF4-FFF2-40B4-BE49-F238E27FC236}">
                    <a16:creationId xmlns:a16="http://schemas.microsoft.com/office/drawing/2014/main" id="{024E57FA-3557-7BFB-20B4-40EC9D1DF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372" y="4520750"/>
                <a:ext cx="1023752" cy="507505"/>
              </a:xfrm>
              <a:prstGeom prst="rect">
                <a:avLst/>
              </a:prstGeom>
              <a:blipFill>
                <a:blip r:embed="rId8"/>
                <a:stretch>
                  <a:fillRect r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DEC8D2A-8E8B-4FC0-6309-614ED19200AC}"/>
              </a:ext>
            </a:extLst>
          </p:cNvPr>
          <p:cNvCxnSpPr>
            <a:cxnSpLocks/>
            <a:stCxn id="38" idx="3"/>
            <a:endCxn id="30" idx="1"/>
          </p:cNvCxnSpPr>
          <p:nvPr/>
        </p:nvCxnSpPr>
        <p:spPr>
          <a:xfrm>
            <a:off x="3241124" y="4774503"/>
            <a:ext cx="767577" cy="3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Object 81">
                <a:extLst>
                  <a:ext uri="{FF2B5EF4-FFF2-40B4-BE49-F238E27FC236}">
                    <a16:creationId xmlns:a16="http://schemas.microsoft.com/office/drawing/2014/main" id="{15108E1A-527B-72E0-6FF0-7AA961835C17}"/>
                  </a:ext>
                </a:extLst>
              </p:cNvPr>
              <p:cNvSpPr txBox="1"/>
              <p:nvPr/>
            </p:nvSpPr>
            <p:spPr>
              <a:xfrm>
                <a:off x="6006110" y="3935719"/>
                <a:ext cx="468985" cy="387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Object 81">
                <a:extLst>
                  <a:ext uri="{FF2B5EF4-FFF2-40B4-BE49-F238E27FC236}">
                    <a16:creationId xmlns:a16="http://schemas.microsoft.com/office/drawing/2014/main" id="{2A9397C9-9B09-2B29-36D1-4819453A0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6110" y="3935719"/>
                <a:ext cx="468985" cy="387385"/>
              </a:xfrm>
              <a:prstGeom prst="rect">
                <a:avLst/>
              </a:prstGeom>
              <a:blipFill>
                <a:blip r:embed="rId9"/>
                <a:stretch>
                  <a:fillRect l="-3896" b="-7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6FDD2D7-6751-50EE-29D6-0381E125C4B1}"/>
              </a:ext>
            </a:extLst>
          </p:cNvPr>
          <p:cNvCxnSpPr>
            <a:cxnSpLocks/>
            <a:stCxn id="107" idx="2"/>
            <a:endCxn id="96" idx="0"/>
          </p:cNvCxnSpPr>
          <p:nvPr/>
        </p:nvCxnSpPr>
        <p:spPr>
          <a:xfrm>
            <a:off x="5975537" y="3631984"/>
            <a:ext cx="20465" cy="948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174F4665-09F3-E5BF-C5F9-843208951CE1}"/>
                  </a:ext>
                </a:extLst>
              </p:cNvPr>
              <p:cNvSpPr txBox="1"/>
              <p:nvPr/>
            </p:nvSpPr>
            <p:spPr>
              <a:xfrm>
                <a:off x="5389895" y="4580535"/>
                <a:ext cx="1212213" cy="394864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Object 43">
                <a:extLst>
                  <a:ext uri="{FF2B5EF4-FFF2-40B4-BE49-F238E27FC236}">
                    <a16:creationId xmlns:a16="http://schemas.microsoft.com/office/drawing/2014/main" id="{6CE825CF-D55B-96A3-7FFE-A5D93328B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895" y="4580535"/>
                <a:ext cx="1212213" cy="394864"/>
              </a:xfrm>
              <a:prstGeom prst="rect">
                <a:avLst/>
              </a:prstGeom>
              <a:blipFill>
                <a:blip r:embed="rId1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51">
                <a:extLst>
                  <a:ext uri="{FF2B5EF4-FFF2-40B4-BE49-F238E27FC236}">
                    <a16:creationId xmlns:a16="http://schemas.microsoft.com/office/drawing/2014/main" id="{59916EA4-E4D4-DEF6-C3C3-C919923F590C}"/>
                  </a:ext>
                </a:extLst>
              </p:cNvPr>
              <p:cNvSpPr txBox="1"/>
              <p:nvPr/>
            </p:nvSpPr>
            <p:spPr>
              <a:xfrm>
                <a:off x="5732751" y="5285727"/>
                <a:ext cx="558800" cy="486721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Object 51">
                <a:extLst>
                  <a:ext uri="{FF2B5EF4-FFF2-40B4-BE49-F238E27FC236}">
                    <a16:creationId xmlns:a16="http://schemas.microsoft.com/office/drawing/2014/main" id="{4C8E98E6-25F0-A012-EEC4-B6141E857D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2751" y="5285727"/>
                <a:ext cx="558800" cy="4867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501CD74-483E-87A1-5D94-F71F3DFD00DC}"/>
              </a:ext>
            </a:extLst>
          </p:cNvPr>
          <p:cNvCxnSpPr>
            <a:cxnSpLocks/>
            <a:stCxn id="96" idx="2"/>
            <a:endCxn id="2" idx="0"/>
          </p:cNvCxnSpPr>
          <p:nvPr/>
        </p:nvCxnSpPr>
        <p:spPr>
          <a:xfrm>
            <a:off x="5996002" y="4975399"/>
            <a:ext cx="16149" cy="3103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55">
                <a:extLst>
                  <a:ext uri="{FF2B5EF4-FFF2-40B4-BE49-F238E27FC236}">
                    <a16:creationId xmlns:a16="http://schemas.microsoft.com/office/drawing/2014/main" id="{9D9EF71C-BE9F-4755-A6C8-542ACEEB2578}"/>
                  </a:ext>
                </a:extLst>
              </p:cNvPr>
              <p:cNvSpPr txBox="1"/>
              <p:nvPr/>
            </p:nvSpPr>
            <p:spPr>
              <a:xfrm>
                <a:off x="6943242" y="5333561"/>
                <a:ext cx="721206" cy="391050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𝑉𝑀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bject 55">
                <a:extLst>
                  <a:ext uri="{FF2B5EF4-FFF2-40B4-BE49-F238E27FC236}">
                    <a16:creationId xmlns:a16="http://schemas.microsoft.com/office/drawing/2014/main" id="{DAC3A753-07A4-3991-52A9-811153231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3242" y="5333561"/>
                <a:ext cx="721206" cy="39105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71398F6-E5B9-D976-1FA1-8E20ACE316A4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6291551" y="5529086"/>
            <a:ext cx="651691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6B935A0-CD58-2666-3045-7C8658C9151B}"/>
              </a:ext>
            </a:extLst>
          </p:cNvPr>
          <p:cNvSpPr txBox="1"/>
          <p:nvPr/>
        </p:nvSpPr>
        <p:spPr>
          <a:xfrm>
            <a:off x="8071986" y="4709090"/>
            <a:ext cx="2591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P-Norm von Mises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6DF5AE77-22CF-B738-EA1A-FED5899E6E04}"/>
                  </a:ext>
                </a:extLst>
              </p:cNvPr>
              <p:cNvSpPr txBox="1"/>
              <p:nvPr/>
            </p:nvSpPr>
            <p:spPr>
              <a:xfrm>
                <a:off x="8071987" y="5041029"/>
                <a:ext cx="2561175" cy="976113"/>
              </a:xfrm>
              <a:prstGeom prst="rect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𝑃𝑁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Sup>
                                            <m:sSubSup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𝑉𝑀</m:t>
                                              </m:r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52CA0AB3-DC0B-C8D5-9B50-33A5B4ED2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987" y="5041029"/>
                <a:ext cx="2561175" cy="97611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C848CA1-F427-FF33-4601-C4CFD6C447BF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7664448" y="5529086"/>
            <a:ext cx="4075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16B9495-58BD-3D04-A906-E0D6B56E77C0}"/>
              </a:ext>
            </a:extLst>
          </p:cNvPr>
          <p:cNvCxnSpPr>
            <a:cxnSpLocks/>
            <a:stCxn id="7" idx="1"/>
            <a:endCxn id="2" idx="2"/>
          </p:cNvCxnSpPr>
          <p:nvPr/>
        </p:nvCxnSpPr>
        <p:spPr>
          <a:xfrm rot="10800000" flipH="1" flipV="1">
            <a:off x="1088591" y="3429000"/>
            <a:ext cx="4923559" cy="2343447"/>
          </a:xfrm>
          <a:prstGeom prst="bentConnector4">
            <a:avLst>
              <a:gd name="adj1" fmla="val -4643"/>
              <a:gd name="adj2" fmla="val 1097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bject 7">
                <a:extLst>
                  <a:ext uri="{FF2B5EF4-FFF2-40B4-BE49-F238E27FC236}">
                    <a16:creationId xmlns:a16="http://schemas.microsoft.com/office/drawing/2014/main" id="{1C70BC44-E7E7-FCD2-1D28-2E83D93D40ED}"/>
                  </a:ext>
                </a:extLst>
              </p:cNvPr>
              <p:cNvSpPr txBox="1"/>
              <p:nvPr/>
            </p:nvSpPr>
            <p:spPr>
              <a:xfrm>
                <a:off x="1035469" y="1766054"/>
                <a:ext cx="497732" cy="400140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Object 7">
                <a:extLst>
                  <a:ext uri="{FF2B5EF4-FFF2-40B4-BE49-F238E27FC236}">
                    <a16:creationId xmlns:a16="http://schemas.microsoft.com/office/drawing/2014/main" id="{1085EB01-79FB-5BAC-8EF4-907B79704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469" y="1766054"/>
                <a:ext cx="497732" cy="4001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34035888-8C61-2AAC-0B5F-C9CAA6EC2668}"/>
              </a:ext>
            </a:extLst>
          </p:cNvPr>
          <p:cNvSpPr txBox="1"/>
          <p:nvPr/>
        </p:nvSpPr>
        <p:spPr>
          <a:xfrm>
            <a:off x="687754" y="1030217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Latent variables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351ECA2-8279-EC2C-1AD2-21697374A05C}"/>
              </a:ext>
            </a:extLst>
          </p:cNvPr>
          <p:cNvCxnSpPr>
            <a:cxnSpLocks/>
            <a:stCxn id="20" idx="1"/>
            <a:endCxn id="38" idx="2"/>
          </p:cNvCxnSpPr>
          <p:nvPr/>
        </p:nvCxnSpPr>
        <p:spPr>
          <a:xfrm rot="10800000" flipH="1" flipV="1">
            <a:off x="1035468" y="1966123"/>
            <a:ext cx="1693779" cy="3062131"/>
          </a:xfrm>
          <a:prstGeom prst="bentConnector4">
            <a:avLst>
              <a:gd name="adj1" fmla="val -33313"/>
              <a:gd name="adj2" fmla="val 10746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107C5BA6-667D-5B1E-CE75-B3105A57D773}"/>
              </a:ext>
            </a:extLst>
          </p:cNvPr>
          <p:cNvCxnSpPr>
            <a:cxnSpLocks/>
            <a:stCxn id="20" idx="3"/>
            <a:endCxn id="11" idx="0"/>
          </p:cNvCxnSpPr>
          <p:nvPr/>
        </p:nvCxnSpPr>
        <p:spPr>
          <a:xfrm>
            <a:off x="1533201" y="1966124"/>
            <a:ext cx="1282608" cy="124860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49E0C11-8E4F-BCA3-B2E5-B0055EE5CE2B}"/>
              </a:ext>
            </a:extLst>
          </p:cNvPr>
          <p:cNvCxnSpPr>
            <a:cxnSpLocks/>
            <a:stCxn id="20" idx="3"/>
            <a:endCxn id="53" idx="3"/>
          </p:cNvCxnSpPr>
          <p:nvPr/>
        </p:nvCxnSpPr>
        <p:spPr>
          <a:xfrm>
            <a:off x="1533201" y="1966124"/>
            <a:ext cx="4941894" cy="2163288"/>
          </a:xfrm>
          <a:prstGeom prst="bentConnector3">
            <a:avLst>
              <a:gd name="adj1" fmla="val 115634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6EEB543E-DDEC-D650-C052-E11BD94B3923}"/>
              </a:ext>
            </a:extLst>
          </p:cNvPr>
          <p:cNvCxnSpPr>
            <a:cxnSpLocks/>
            <a:stCxn id="20" idx="1"/>
            <a:endCxn id="2" idx="2"/>
          </p:cNvCxnSpPr>
          <p:nvPr/>
        </p:nvCxnSpPr>
        <p:spPr>
          <a:xfrm rot="10800000" flipH="1" flipV="1">
            <a:off x="1035469" y="1966124"/>
            <a:ext cx="4976682" cy="3806324"/>
          </a:xfrm>
          <a:prstGeom prst="bentConnector4">
            <a:avLst>
              <a:gd name="adj1" fmla="val -7384"/>
              <a:gd name="adj2" fmla="val 11634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9879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9AB31-8040-8323-B077-BC801A1BA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E6319-EB59-2F14-7917-A039812DB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826BEEFF-7FB3-7E63-A1E6-46C3C1F67C68}"/>
                  </a:ext>
                </a:extLst>
              </p:cNvPr>
              <p:cNvSpPr txBox="1"/>
              <p:nvPr/>
            </p:nvSpPr>
            <p:spPr>
              <a:xfrm>
                <a:off x="836613" y="1714500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Object 6">
                <a:extLst>
                  <a:ext uri="{FF2B5EF4-FFF2-40B4-BE49-F238E27FC236}">
                    <a16:creationId xmlns:a16="http://schemas.microsoft.com/office/drawing/2014/main" id="{826BEEFF-7FB3-7E63-A1E6-46C3C1F67C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613" y="1714500"/>
                <a:ext cx="478742" cy="457735"/>
              </a:xfrm>
              <a:prstGeom prst="rect">
                <a:avLst/>
              </a:prstGeom>
              <a:blipFill>
                <a:blip r:embed="rId3"/>
                <a:stretch>
                  <a:fillRect l="-2469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7">
                <a:extLst>
                  <a:ext uri="{FF2B5EF4-FFF2-40B4-BE49-F238E27FC236}">
                    <a16:creationId xmlns:a16="http://schemas.microsoft.com/office/drawing/2014/main" id="{472B6EAC-0717-22D9-B3F0-8DEA017EBECB}"/>
                  </a:ext>
                </a:extLst>
              </p:cNvPr>
              <p:cNvSpPr txBox="1"/>
              <p:nvPr/>
            </p:nvSpPr>
            <p:spPr>
              <a:xfrm>
                <a:off x="757657" y="2892389"/>
                <a:ext cx="497732" cy="400140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Object 7">
                <a:extLst>
                  <a:ext uri="{FF2B5EF4-FFF2-40B4-BE49-F238E27FC236}">
                    <a16:creationId xmlns:a16="http://schemas.microsoft.com/office/drawing/2014/main" id="{472B6EAC-0717-22D9-B3F0-8DEA017EB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657" y="2892389"/>
                <a:ext cx="497732" cy="4001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9">
                <a:extLst>
                  <a:ext uri="{FF2B5EF4-FFF2-40B4-BE49-F238E27FC236}">
                    <a16:creationId xmlns:a16="http://schemas.microsoft.com/office/drawing/2014/main" id="{66A19702-B411-1676-DD46-8734ED7FD94E}"/>
                  </a:ext>
                </a:extLst>
              </p:cNvPr>
              <p:cNvSpPr txBox="1"/>
              <p:nvPr/>
            </p:nvSpPr>
            <p:spPr>
              <a:xfrm>
                <a:off x="2008352" y="2968965"/>
                <a:ext cx="477837" cy="438150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Object 9">
                <a:extLst>
                  <a:ext uri="{FF2B5EF4-FFF2-40B4-BE49-F238E27FC236}">
                    <a16:creationId xmlns:a16="http://schemas.microsoft.com/office/drawing/2014/main" id="{66A19702-B411-1676-DD46-8734ED7FD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8352" y="2968965"/>
                <a:ext cx="477837" cy="43815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363A4C5C-F5CD-04FE-AD9D-F893B6FC5244}"/>
                  </a:ext>
                </a:extLst>
              </p:cNvPr>
              <p:cNvSpPr txBox="1"/>
              <p:nvPr/>
            </p:nvSpPr>
            <p:spPr>
              <a:xfrm>
                <a:off x="4823628" y="2619324"/>
                <a:ext cx="1076325" cy="445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363A4C5C-F5CD-04FE-AD9D-F893B6FC5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3628" y="2619324"/>
                <a:ext cx="1076325" cy="4453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3326EBCC-8A48-EFF0-3EBC-42DAE52B8D27}"/>
                  </a:ext>
                </a:extLst>
              </p:cNvPr>
              <p:cNvSpPr txBox="1"/>
              <p:nvPr/>
            </p:nvSpPr>
            <p:spPr>
              <a:xfrm>
                <a:off x="6740525" y="2674268"/>
                <a:ext cx="1033463" cy="39486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3326EBCC-8A48-EFF0-3EBC-42DAE52B8D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0525" y="2674268"/>
                <a:ext cx="1033463" cy="394865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0C944C7-FF82-0DFB-869F-311A17499541}"/>
              </a:ext>
            </a:extLst>
          </p:cNvPr>
          <p:cNvCxnSpPr>
            <a:cxnSpLocks/>
            <a:endCxn id="11" idx="1"/>
          </p:cNvCxnSpPr>
          <p:nvPr/>
        </p:nvCxnSpPr>
        <p:spPr>
          <a:xfrm flipV="1">
            <a:off x="3421105" y="2842017"/>
            <a:ext cx="1402523" cy="2971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90124EE9-A7FB-48CC-FE2D-5A76CC0086B5}"/>
              </a:ext>
            </a:extLst>
          </p:cNvPr>
          <p:cNvCxnSpPr>
            <a:cxnSpLocks/>
            <a:stCxn id="7" idx="3"/>
            <a:endCxn id="11" idx="0"/>
          </p:cNvCxnSpPr>
          <p:nvPr/>
        </p:nvCxnSpPr>
        <p:spPr>
          <a:xfrm>
            <a:off x="1315355" y="1943368"/>
            <a:ext cx="4046436" cy="67595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E597A51-2FC0-CE69-DD19-1B058E4DC79D}"/>
              </a:ext>
            </a:extLst>
          </p:cNvPr>
          <p:cNvCxnSpPr>
            <a:cxnSpLocks/>
          </p:cNvCxnSpPr>
          <p:nvPr/>
        </p:nvCxnSpPr>
        <p:spPr>
          <a:xfrm>
            <a:off x="7836334" y="2871700"/>
            <a:ext cx="10005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931B696-48F3-C0DC-1F5A-9ACB68EE5E40}"/>
              </a:ext>
            </a:extLst>
          </p:cNvPr>
          <p:cNvCxnSpPr>
            <a:cxnSpLocks/>
          </p:cNvCxnSpPr>
          <p:nvPr/>
        </p:nvCxnSpPr>
        <p:spPr>
          <a:xfrm flipV="1">
            <a:off x="1286562" y="3150923"/>
            <a:ext cx="649910" cy="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2624025-A6FD-1286-D56E-EBA6DC53BD8A}"/>
              </a:ext>
            </a:extLst>
          </p:cNvPr>
          <p:cNvSpPr txBox="1"/>
          <p:nvPr/>
        </p:nvSpPr>
        <p:spPr>
          <a:xfrm>
            <a:off x="294890" y="1034502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9C78A23-35EA-6D63-0A68-4035E222349D}"/>
              </a:ext>
            </a:extLst>
          </p:cNvPr>
          <p:cNvSpPr txBox="1"/>
          <p:nvPr/>
        </p:nvSpPr>
        <p:spPr>
          <a:xfrm>
            <a:off x="532841" y="3551680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Material variables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286783-6E8C-81AE-6941-2BD668ECA7EF}"/>
              </a:ext>
            </a:extLst>
          </p:cNvPr>
          <p:cNvSpPr txBox="1"/>
          <p:nvPr/>
        </p:nvSpPr>
        <p:spPr>
          <a:xfrm>
            <a:off x="1636262" y="3567119"/>
            <a:ext cx="1193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Decoder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7B510C7-8824-B913-78AA-F83AAFF51E05}"/>
              </a:ext>
            </a:extLst>
          </p:cNvPr>
          <p:cNvSpPr txBox="1"/>
          <p:nvPr/>
        </p:nvSpPr>
        <p:spPr>
          <a:xfrm>
            <a:off x="6643172" y="3116471"/>
            <a:ext cx="11931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Global</a:t>
            </a:r>
          </a:p>
          <a:p>
            <a:pPr algn="ctr"/>
            <a:r>
              <a:rPr lang="en-US" b="1" dirty="0"/>
              <a:t>Thermal Matrix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E0B03BD-5DE2-50D2-7017-724DA716C78B}"/>
              </a:ext>
            </a:extLst>
          </p:cNvPr>
          <p:cNvSpPr txBox="1"/>
          <p:nvPr/>
        </p:nvSpPr>
        <p:spPr>
          <a:xfrm>
            <a:off x="8752018" y="2123426"/>
            <a:ext cx="210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Temperature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8366C39-1EBC-6AB7-1B0B-80A18260C4E1}"/>
              </a:ext>
            </a:extLst>
          </p:cNvPr>
          <p:cNvCxnSpPr>
            <a:cxnSpLocks/>
          </p:cNvCxnSpPr>
          <p:nvPr/>
        </p:nvCxnSpPr>
        <p:spPr>
          <a:xfrm>
            <a:off x="2504023" y="3127484"/>
            <a:ext cx="4151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D8BE2CB1-DABB-D9BA-52C6-64265B0D27D0}"/>
                  </a:ext>
                </a:extLst>
              </p:cNvPr>
              <p:cNvSpPr txBox="1"/>
              <p:nvPr/>
            </p:nvSpPr>
            <p:spPr>
              <a:xfrm>
                <a:off x="2951060" y="2902039"/>
                <a:ext cx="438150" cy="397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𝜅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D8BE2CB1-DABB-D9BA-52C6-64265B0D27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060" y="2902039"/>
                <a:ext cx="438150" cy="39738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TextBox 68">
            <a:extLst>
              <a:ext uri="{FF2B5EF4-FFF2-40B4-BE49-F238E27FC236}">
                <a16:creationId xmlns:a16="http://schemas.microsoft.com/office/drawing/2014/main" id="{BA1C9C57-FB78-7384-6EBF-925BCFD6DB6A}"/>
              </a:ext>
            </a:extLst>
          </p:cNvPr>
          <p:cNvSpPr txBox="1"/>
          <p:nvPr/>
        </p:nvSpPr>
        <p:spPr>
          <a:xfrm>
            <a:off x="2499155" y="2538335"/>
            <a:ext cx="1689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Conductivity</a:t>
            </a: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FF30CFFD-A4DD-D85E-AB9C-09F5CAC5EE03}"/>
              </a:ext>
            </a:extLst>
          </p:cNvPr>
          <p:cNvCxnSpPr>
            <a:cxnSpLocks/>
          </p:cNvCxnSpPr>
          <p:nvPr/>
        </p:nvCxnSpPr>
        <p:spPr>
          <a:xfrm rot="5400000">
            <a:off x="6317389" y="-45441"/>
            <a:ext cx="292365" cy="6685092"/>
          </a:xfrm>
          <a:prstGeom prst="bentConnector3">
            <a:avLst>
              <a:gd name="adj1" fmla="val 60576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11364D7-3BEC-0CA5-4C19-2E8F5E3AAC65}"/>
              </a:ext>
            </a:extLst>
          </p:cNvPr>
          <p:cNvSpPr txBox="1"/>
          <p:nvPr/>
        </p:nvSpPr>
        <p:spPr>
          <a:xfrm>
            <a:off x="5526844" y="4565128"/>
            <a:ext cx="2069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Non-linear thermal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0773A48-CDA0-7714-5CF2-7631534791E0}"/>
              </a:ext>
            </a:extLst>
          </p:cNvPr>
          <p:cNvSpPr txBox="1"/>
          <p:nvPr/>
        </p:nvSpPr>
        <p:spPr>
          <a:xfrm>
            <a:off x="215700" y="132745"/>
            <a:ext cx="49430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MMTO Thermal Analysis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28AE5DF-6812-FE7A-A1A7-D8A75E933C71}"/>
              </a:ext>
            </a:extLst>
          </p:cNvPr>
          <p:cNvSpPr txBox="1"/>
          <p:nvPr/>
        </p:nvSpPr>
        <p:spPr>
          <a:xfrm>
            <a:off x="4545215" y="3116471"/>
            <a:ext cx="11931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Element</a:t>
            </a:r>
          </a:p>
          <a:p>
            <a:pPr algn="ctr"/>
            <a:r>
              <a:rPr lang="en-US" b="1" dirty="0"/>
              <a:t>Thermal Matrix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DA38075A-9866-3D7C-6ED7-2A6B52883A4B}"/>
              </a:ext>
            </a:extLst>
          </p:cNvPr>
          <p:cNvCxnSpPr>
            <a:cxnSpLocks/>
          </p:cNvCxnSpPr>
          <p:nvPr/>
        </p:nvCxnSpPr>
        <p:spPr>
          <a:xfrm flipV="1">
            <a:off x="6030290" y="2842948"/>
            <a:ext cx="649910" cy="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C90840C9-0EE2-3532-B02D-D2B5C4EAC54B}"/>
                  </a:ext>
                </a:extLst>
              </p:cNvPr>
              <p:cNvSpPr txBox="1"/>
              <p:nvPr/>
            </p:nvSpPr>
            <p:spPr>
              <a:xfrm>
                <a:off x="8899200" y="2694649"/>
                <a:ext cx="2149475" cy="395480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rgbClr val="000000"/>
                    </a:solidFill>
                  </a:rPr>
                  <a:t>T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C90840C9-0EE2-3532-B02D-D2B5C4EAC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9200" y="2694649"/>
                <a:ext cx="2149475" cy="395480"/>
              </a:xfrm>
              <a:prstGeom prst="rect">
                <a:avLst/>
              </a:prstGeom>
              <a:blipFill>
                <a:blip r:embed="rId9"/>
                <a:stretch>
                  <a:fillRect l="-2557" t="-6154" b="-18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71579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113FA-09C0-810C-D23B-CD99937EB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886049-9490-ACF9-5749-97E51FE89D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7">
                <a:extLst>
                  <a:ext uri="{FF2B5EF4-FFF2-40B4-BE49-F238E27FC236}">
                    <a16:creationId xmlns:a16="http://schemas.microsoft.com/office/drawing/2014/main" id="{720052AE-7DFD-F138-3D36-B14D54204F74}"/>
                  </a:ext>
                </a:extLst>
              </p:cNvPr>
              <p:cNvSpPr txBox="1"/>
              <p:nvPr/>
            </p:nvSpPr>
            <p:spPr>
              <a:xfrm>
                <a:off x="285188" y="3248493"/>
                <a:ext cx="450409" cy="418662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Object 7">
                <a:extLst>
                  <a:ext uri="{FF2B5EF4-FFF2-40B4-BE49-F238E27FC236}">
                    <a16:creationId xmlns:a16="http://schemas.microsoft.com/office/drawing/2014/main" id="{720052AE-7DFD-F138-3D36-B14D54204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188" y="3248493"/>
                <a:ext cx="450409" cy="4186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9">
                <a:extLst>
                  <a:ext uri="{FF2B5EF4-FFF2-40B4-BE49-F238E27FC236}">
                    <a16:creationId xmlns:a16="http://schemas.microsoft.com/office/drawing/2014/main" id="{32DE9F11-8575-1515-A4EB-9493038C8B66}"/>
                  </a:ext>
                </a:extLst>
              </p:cNvPr>
              <p:cNvSpPr txBox="1"/>
              <p:nvPr/>
            </p:nvSpPr>
            <p:spPr>
              <a:xfrm>
                <a:off x="1613267" y="3404278"/>
                <a:ext cx="477837" cy="438150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Object 9">
                <a:extLst>
                  <a:ext uri="{FF2B5EF4-FFF2-40B4-BE49-F238E27FC236}">
                    <a16:creationId xmlns:a16="http://schemas.microsoft.com/office/drawing/2014/main" id="{32DE9F11-8575-1515-A4EB-9493038C8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3267" y="3404278"/>
                <a:ext cx="477837" cy="4381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92FDF1E7-6A22-5D7F-46BC-9297646832AE}"/>
                  </a:ext>
                </a:extLst>
              </p:cNvPr>
              <p:cNvSpPr txBox="1"/>
              <p:nvPr/>
            </p:nvSpPr>
            <p:spPr>
              <a:xfrm>
                <a:off x="8060892" y="2772661"/>
                <a:ext cx="708664" cy="37625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92FDF1E7-6A22-5D7F-46BC-929764683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0892" y="2772661"/>
                <a:ext cx="708664" cy="376255"/>
              </a:xfrm>
              <a:prstGeom prst="rect">
                <a:avLst/>
              </a:prstGeom>
              <a:blipFill>
                <a:blip r:embed="rId5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bject 11">
            <a:extLst>
              <a:ext uri="{FF2B5EF4-FFF2-40B4-BE49-F238E27FC236}">
                <a16:creationId xmlns:a16="http://schemas.microsoft.com/office/drawing/2014/main" id="{E71E8409-9743-F463-5A98-2A0C6163160E}"/>
              </a:ext>
            </a:extLst>
          </p:cNvPr>
          <p:cNvSpPr txBox="1"/>
          <p:nvPr/>
        </p:nvSpPr>
        <p:spPr>
          <a:xfrm>
            <a:off x="536575" y="4760066"/>
            <a:ext cx="374224" cy="44480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dirty="0"/>
              <a:t>T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40EF121-717C-0CD6-5BA7-DF63F5723232}"/>
              </a:ext>
            </a:extLst>
          </p:cNvPr>
          <p:cNvCxnSpPr>
            <a:cxnSpLocks/>
          </p:cNvCxnSpPr>
          <p:nvPr/>
        </p:nvCxnSpPr>
        <p:spPr>
          <a:xfrm flipV="1">
            <a:off x="763930" y="3586986"/>
            <a:ext cx="649910" cy="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1">
                <a:extLst>
                  <a:ext uri="{FF2B5EF4-FFF2-40B4-BE49-F238E27FC236}">
                    <a16:creationId xmlns:a16="http://schemas.microsoft.com/office/drawing/2014/main" id="{DB791EF7-171B-E00B-9C8F-CBC7EFFB5697}"/>
                  </a:ext>
                </a:extLst>
              </p:cNvPr>
              <p:cNvSpPr txBox="1"/>
              <p:nvPr/>
            </p:nvSpPr>
            <p:spPr>
              <a:xfrm>
                <a:off x="4769283" y="4152079"/>
                <a:ext cx="1033462" cy="715872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Object 1">
                <a:extLst>
                  <a:ext uri="{FF2B5EF4-FFF2-40B4-BE49-F238E27FC236}">
                    <a16:creationId xmlns:a16="http://schemas.microsoft.com/office/drawing/2014/main" id="{DB791EF7-171B-E00B-9C8F-CBC7EFFB56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9283" y="4152079"/>
                <a:ext cx="1033462" cy="7158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70DE422-7FC5-A8BB-DB8A-9D7EC40DDC98}"/>
              </a:ext>
            </a:extLst>
          </p:cNvPr>
          <p:cNvCxnSpPr>
            <a:cxnSpLocks/>
          </p:cNvCxnSpPr>
          <p:nvPr/>
        </p:nvCxnSpPr>
        <p:spPr>
          <a:xfrm flipV="1">
            <a:off x="2290140" y="3586985"/>
            <a:ext cx="649910" cy="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96E4348-97F2-0A2C-AE3A-97CE69DABC47}"/>
              </a:ext>
            </a:extLst>
          </p:cNvPr>
          <p:cNvSpPr txBox="1"/>
          <p:nvPr/>
        </p:nvSpPr>
        <p:spPr>
          <a:xfrm>
            <a:off x="6475894" y="3205896"/>
            <a:ext cx="15353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Element</a:t>
            </a:r>
          </a:p>
          <a:p>
            <a:pPr algn="ctr"/>
            <a:r>
              <a:rPr lang="en-US" b="1" dirty="0"/>
              <a:t>Structural Matrix and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34DE6362-636E-242D-7344-94671B111976}"/>
                  </a:ext>
                </a:extLst>
              </p:cNvPr>
              <p:cNvSpPr txBox="1"/>
              <p:nvPr/>
            </p:nvSpPr>
            <p:spPr>
              <a:xfrm>
                <a:off x="2941324" y="3306544"/>
                <a:ext cx="1112837" cy="633619"/>
              </a:xfrm>
              <a:prstGeom prst="rect">
                <a:avLst/>
              </a:prstGeom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</m:oMath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b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,...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34DE6362-636E-242D-7344-94671B1119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1324" y="3306544"/>
                <a:ext cx="1112837" cy="63361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6F24603-246A-6F9A-C1CA-12BB0F17639C}"/>
              </a:ext>
            </a:extLst>
          </p:cNvPr>
          <p:cNvCxnSpPr>
            <a:cxnSpLocks/>
          </p:cNvCxnSpPr>
          <p:nvPr/>
        </p:nvCxnSpPr>
        <p:spPr>
          <a:xfrm flipV="1">
            <a:off x="995423" y="4524404"/>
            <a:ext cx="3843518" cy="4249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4FE0148B-458E-43D1-8DC0-6B96EAD31CB4}"/>
              </a:ext>
            </a:extLst>
          </p:cNvPr>
          <p:cNvCxnSpPr>
            <a:cxnSpLocks/>
            <a:stCxn id="20" idx="3"/>
            <a:endCxn id="2" idx="0"/>
          </p:cNvCxnSpPr>
          <p:nvPr/>
        </p:nvCxnSpPr>
        <p:spPr>
          <a:xfrm>
            <a:off x="4054161" y="3623354"/>
            <a:ext cx="1231853" cy="5287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934B183-B11C-3DE9-313B-FFACD96F603D}"/>
              </a:ext>
            </a:extLst>
          </p:cNvPr>
          <p:cNvSpPr txBox="1"/>
          <p:nvPr/>
        </p:nvSpPr>
        <p:spPr>
          <a:xfrm>
            <a:off x="1365890" y="3085711"/>
            <a:ext cx="1193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Decoder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0EE142-B8DB-F329-5D3C-FA61EC1CA1AB}"/>
              </a:ext>
            </a:extLst>
          </p:cNvPr>
          <p:cNvSpPr txBox="1"/>
          <p:nvPr/>
        </p:nvSpPr>
        <p:spPr>
          <a:xfrm>
            <a:off x="2844116" y="2718250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Material Controls </a:t>
            </a: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C7067DD-3D98-174A-D7B7-2FB29049955F}"/>
              </a:ext>
            </a:extLst>
          </p:cNvPr>
          <p:cNvCxnSpPr>
            <a:cxnSpLocks/>
          </p:cNvCxnSpPr>
          <p:nvPr/>
        </p:nvCxnSpPr>
        <p:spPr>
          <a:xfrm flipV="1">
            <a:off x="5873991" y="2920838"/>
            <a:ext cx="852048" cy="16035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F171BC00-4018-707D-CF16-C582DA4663DF}"/>
                  </a:ext>
                </a:extLst>
              </p:cNvPr>
              <p:cNvSpPr txBox="1"/>
              <p:nvPr/>
            </p:nvSpPr>
            <p:spPr>
              <a:xfrm>
                <a:off x="9193895" y="2798981"/>
                <a:ext cx="1386103" cy="430666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F171BC00-4018-707D-CF16-C582DA466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895" y="2798981"/>
                <a:ext cx="1386103" cy="43066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B042348F-D659-E142-7A25-CF16BD7063BE}"/>
              </a:ext>
            </a:extLst>
          </p:cNvPr>
          <p:cNvSpPr txBox="1"/>
          <p:nvPr/>
        </p:nvSpPr>
        <p:spPr>
          <a:xfrm>
            <a:off x="9036848" y="2375590"/>
            <a:ext cx="1700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Displacement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B1EE010-622D-E19B-BED5-1509B0E571F0}"/>
              </a:ext>
            </a:extLst>
          </p:cNvPr>
          <p:cNvCxnSpPr>
            <a:cxnSpLocks/>
          </p:cNvCxnSpPr>
          <p:nvPr/>
        </p:nvCxnSpPr>
        <p:spPr>
          <a:xfrm>
            <a:off x="161654" y="4949363"/>
            <a:ext cx="4290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4636A84-774E-D439-FED5-F264C8956E63}"/>
              </a:ext>
            </a:extLst>
          </p:cNvPr>
          <p:cNvSpPr txBox="1"/>
          <p:nvPr/>
        </p:nvSpPr>
        <p:spPr>
          <a:xfrm>
            <a:off x="-174662" y="1004800"/>
            <a:ext cx="1523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Topology variables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09047F-38E9-CA7C-7EB1-8D2DD3F5BD49}"/>
              </a:ext>
            </a:extLst>
          </p:cNvPr>
          <p:cNvSpPr txBox="1"/>
          <p:nvPr/>
        </p:nvSpPr>
        <p:spPr>
          <a:xfrm>
            <a:off x="42592" y="3941682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Material variables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FE62292-29AC-C8E7-0C93-CD6629708A3F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8733701" y="3002953"/>
            <a:ext cx="460194" cy="113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CFBBDF3B-FBB0-38DF-7CC5-12873540E359}"/>
              </a:ext>
            </a:extLst>
          </p:cNvPr>
          <p:cNvSpPr txBox="1"/>
          <p:nvPr/>
        </p:nvSpPr>
        <p:spPr>
          <a:xfrm>
            <a:off x="215700" y="132745"/>
            <a:ext cx="52868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MMTO Structural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7C4D1B5A-014B-3D18-DE69-5D90D76113C0}"/>
                  </a:ext>
                </a:extLst>
              </p:cNvPr>
              <p:cNvSpPr txBox="1"/>
              <p:nvPr/>
            </p:nvSpPr>
            <p:spPr>
              <a:xfrm>
                <a:off x="6777368" y="2743100"/>
                <a:ext cx="1157927" cy="477089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𝑒𝑆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7C4D1B5A-014B-3D18-DE69-5D90D76113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368" y="2743100"/>
                <a:ext cx="1157927" cy="47708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1CE91672-7F14-B2D2-0CBB-79E61A693D39}"/>
              </a:ext>
            </a:extLst>
          </p:cNvPr>
          <p:cNvCxnSpPr>
            <a:cxnSpLocks/>
            <a:endCxn id="11" idx="1"/>
          </p:cNvCxnSpPr>
          <p:nvPr/>
        </p:nvCxnSpPr>
        <p:spPr>
          <a:xfrm flipV="1">
            <a:off x="7705583" y="2960789"/>
            <a:ext cx="355309" cy="7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01D88638-1F51-5D8E-21AD-E703AFF754C8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2108793" y="3819767"/>
            <a:ext cx="665350" cy="343556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DCDDA09C-93E4-5A3C-7707-84016F7DCDFC}"/>
                  </a:ext>
                </a:extLst>
              </p:cNvPr>
              <p:cNvSpPr txBox="1"/>
              <p:nvPr/>
            </p:nvSpPr>
            <p:spPr>
              <a:xfrm>
                <a:off x="1593227" y="1885992"/>
                <a:ext cx="515937" cy="457736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DCDDA09C-93E4-5A3C-7707-84016F7DC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227" y="1885992"/>
                <a:ext cx="515937" cy="457736"/>
              </a:xfrm>
              <a:prstGeom prst="rect">
                <a:avLst/>
              </a:prstGeom>
              <a:blipFill>
                <a:blip r:embed="rId10"/>
                <a:stretch>
                  <a:fillRect l="-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TextBox 80">
            <a:extLst>
              <a:ext uri="{FF2B5EF4-FFF2-40B4-BE49-F238E27FC236}">
                <a16:creationId xmlns:a16="http://schemas.microsoft.com/office/drawing/2014/main" id="{DBE28781-74D2-830E-5F03-41C2F7A1DFFC}"/>
              </a:ext>
            </a:extLst>
          </p:cNvPr>
          <p:cNvSpPr txBox="1"/>
          <p:nvPr/>
        </p:nvSpPr>
        <p:spPr>
          <a:xfrm>
            <a:off x="1251855" y="2177485"/>
            <a:ext cx="11931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Body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B77E90F0-FF86-D7CC-6142-8B91FEF45061}"/>
                  </a:ext>
                </a:extLst>
              </p:cNvPr>
              <p:cNvSpPr txBox="1"/>
              <p:nvPr/>
            </p:nvSpPr>
            <p:spPr>
              <a:xfrm>
                <a:off x="4206201" y="5631340"/>
                <a:ext cx="468985" cy="387385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B77E90F0-FF86-D7CC-6142-8B91FEF45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01" y="5631340"/>
                <a:ext cx="468985" cy="387385"/>
              </a:xfrm>
              <a:prstGeom prst="rect">
                <a:avLst/>
              </a:prstGeom>
              <a:blipFill>
                <a:blip r:embed="rId11"/>
                <a:stretch>
                  <a:fillRect l="-3896" b="-7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939EA086-0323-FF3A-D3F3-7DF5F39A4C39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4675187" y="4406225"/>
            <a:ext cx="2568377" cy="146399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6486012-3029-57CC-8589-5DD704ECF05B}"/>
              </a:ext>
            </a:extLst>
          </p:cNvPr>
          <p:cNvSpPr txBox="1"/>
          <p:nvPr/>
        </p:nvSpPr>
        <p:spPr>
          <a:xfrm>
            <a:off x="3254784" y="6053987"/>
            <a:ext cx="23718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Thermo-Structural force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5050ADCF-900B-EB0E-91D2-879D5F5C818A}"/>
              </a:ext>
            </a:extLst>
          </p:cNvPr>
          <p:cNvCxnSpPr>
            <a:cxnSpLocks/>
          </p:cNvCxnSpPr>
          <p:nvPr/>
        </p:nvCxnSpPr>
        <p:spPr>
          <a:xfrm flipV="1">
            <a:off x="910799" y="2117476"/>
            <a:ext cx="649910" cy="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E90944EF-2402-FC7D-B613-430D17092B78}"/>
              </a:ext>
            </a:extLst>
          </p:cNvPr>
          <p:cNvCxnSpPr>
            <a:cxnSpLocks/>
          </p:cNvCxnSpPr>
          <p:nvPr/>
        </p:nvCxnSpPr>
        <p:spPr>
          <a:xfrm>
            <a:off x="2396891" y="2095544"/>
            <a:ext cx="4885567" cy="4871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6">
                <a:extLst>
                  <a:ext uri="{FF2B5EF4-FFF2-40B4-BE49-F238E27FC236}">
                    <a16:creationId xmlns:a16="http://schemas.microsoft.com/office/drawing/2014/main" id="{AA4AB0B7-2714-CBB0-66CF-69B12150AAD4}"/>
                  </a:ext>
                </a:extLst>
              </p:cNvPr>
              <p:cNvSpPr txBox="1"/>
              <p:nvPr/>
            </p:nvSpPr>
            <p:spPr>
              <a:xfrm>
                <a:off x="354380" y="1866676"/>
                <a:ext cx="478742" cy="457735"/>
              </a:xfrm>
              <a:prstGeom prst="rect">
                <a:avLst/>
              </a:prstGeom>
              <a:ln>
                <a:solidFill>
                  <a:schemeClr val="accent1"/>
                </a:solidFill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bject 6">
                <a:extLst>
                  <a:ext uri="{FF2B5EF4-FFF2-40B4-BE49-F238E27FC236}">
                    <a16:creationId xmlns:a16="http://schemas.microsoft.com/office/drawing/2014/main" id="{AA4AB0B7-2714-CBB0-66CF-69B12150A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80" y="1866676"/>
                <a:ext cx="478742" cy="457735"/>
              </a:xfrm>
              <a:prstGeom prst="rect">
                <a:avLst/>
              </a:prstGeom>
              <a:blipFill>
                <a:blip r:embed="rId12"/>
                <a:stretch>
                  <a:fillRect l="-2469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bject 51">
                <a:extLst>
                  <a:ext uri="{FF2B5EF4-FFF2-40B4-BE49-F238E27FC236}">
                    <a16:creationId xmlns:a16="http://schemas.microsoft.com/office/drawing/2014/main" id="{840AD432-F40F-B9C5-F3C3-6D6D7D5019CD}"/>
                  </a:ext>
                </a:extLst>
              </p:cNvPr>
              <p:cNvSpPr txBox="1"/>
              <p:nvPr/>
            </p:nvSpPr>
            <p:spPr>
              <a:xfrm>
                <a:off x="10882458" y="2770267"/>
                <a:ext cx="558800" cy="486721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bject 51">
                <a:extLst>
                  <a:ext uri="{FF2B5EF4-FFF2-40B4-BE49-F238E27FC236}">
                    <a16:creationId xmlns:a16="http://schemas.microsoft.com/office/drawing/2014/main" id="{840AD432-F40F-B9C5-F3C3-6D6D7D501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2458" y="2770267"/>
                <a:ext cx="558800" cy="4867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26C0D85E-E57D-9D23-D52F-93674A36A6B1}"/>
              </a:ext>
            </a:extLst>
          </p:cNvPr>
          <p:cNvSpPr txBox="1"/>
          <p:nvPr/>
        </p:nvSpPr>
        <p:spPr>
          <a:xfrm>
            <a:off x="11019554" y="2770266"/>
            <a:ext cx="1263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 Stress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28A52B2-DEF5-C668-8588-666B341C2EF0}"/>
              </a:ext>
            </a:extLst>
          </p:cNvPr>
          <p:cNvSpPr txBox="1"/>
          <p:nvPr/>
        </p:nvSpPr>
        <p:spPr>
          <a:xfrm>
            <a:off x="10812659" y="4914895"/>
            <a:ext cx="1470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Element von Mises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Object 55">
                <a:extLst>
                  <a:ext uri="{FF2B5EF4-FFF2-40B4-BE49-F238E27FC236}">
                    <a16:creationId xmlns:a16="http://schemas.microsoft.com/office/drawing/2014/main" id="{7EB7EBB1-BC9E-23D4-05B3-B88588F6BEC6}"/>
                  </a:ext>
                </a:extLst>
              </p:cNvPr>
              <p:cNvSpPr txBox="1"/>
              <p:nvPr/>
            </p:nvSpPr>
            <p:spPr>
              <a:xfrm>
                <a:off x="10887567" y="3748912"/>
                <a:ext cx="758825" cy="487951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𝑉𝑀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Object 55">
                <a:extLst>
                  <a:ext uri="{FF2B5EF4-FFF2-40B4-BE49-F238E27FC236}">
                    <a16:creationId xmlns:a16="http://schemas.microsoft.com/office/drawing/2014/main" id="{7EB7EBB1-BC9E-23D4-05B3-B88588F6B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567" y="3748912"/>
                <a:ext cx="758825" cy="48795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AB71480-045B-3CAE-6C49-FC3CE567F21B}"/>
              </a:ext>
            </a:extLst>
          </p:cNvPr>
          <p:cNvCxnSpPr>
            <a:cxnSpLocks/>
          </p:cNvCxnSpPr>
          <p:nvPr/>
        </p:nvCxnSpPr>
        <p:spPr>
          <a:xfrm>
            <a:off x="11104094" y="3270377"/>
            <a:ext cx="0" cy="4393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6F9059D-1241-D31D-F680-7B1C7EA26E29}"/>
              </a:ext>
            </a:extLst>
          </p:cNvPr>
          <p:cNvCxnSpPr>
            <a:cxnSpLocks/>
            <a:stCxn id="2" idx="2"/>
            <a:endCxn id="82" idx="0"/>
          </p:cNvCxnSpPr>
          <p:nvPr/>
        </p:nvCxnSpPr>
        <p:spPr>
          <a:xfrm rot="5400000">
            <a:off x="4481660" y="4826985"/>
            <a:ext cx="763389" cy="84532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DC01F2E2-73A1-BE54-8C9A-4B7EA79D44D0}"/>
              </a:ext>
            </a:extLst>
          </p:cNvPr>
          <p:cNvCxnSpPr>
            <a:cxnSpLocks/>
            <a:stCxn id="6" idx="0"/>
            <a:endCxn id="41" idx="0"/>
          </p:cNvCxnSpPr>
          <p:nvPr/>
        </p:nvCxnSpPr>
        <p:spPr>
          <a:xfrm rot="16200000" flipH="1">
            <a:off x="5426008" y="-2965582"/>
            <a:ext cx="903591" cy="10568107"/>
          </a:xfrm>
          <a:prstGeom prst="bentConnector3">
            <a:avLst>
              <a:gd name="adj1" fmla="val -2529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A2DD6E9-1EF8-49A0-2D8A-0423C5B9CEFB}"/>
              </a:ext>
            </a:extLst>
          </p:cNvPr>
          <p:cNvCxnSpPr>
            <a:cxnSpLocks/>
          </p:cNvCxnSpPr>
          <p:nvPr/>
        </p:nvCxnSpPr>
        <p:spPr>
          <a:xfrm>
            <a:off x="10452495" y="3014314"/>
            <a:ext cx="513292" cy="66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924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E84AE-DAAF-C951-0F09-D4C560D30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6FE0CA18-744C-5631-4BEF-5E1F2CD63BF2}"/>
                  </a:ext>
                </a:extLst>
              </p:cNvPr>
              <p:cNvSpPr txBox="1"/>
              <p:nvPr/>
            </p:nvSpPr>
            <p:spPr>
              <a:xfrm>
                <a:off x="3027633" y="2984775"/>
                <a:ext cx="3135584" cy="9761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𝑆𝐹𝐹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Sup>
                                                <m:sSubSupPr>
                                                  <m:ctrlP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𝑒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𝑉𝑀</m:t>
                                                  </m:r>
                                                </m:sup>
                                              </m:sSubSup>
                                            </m:num>
                                            <m:den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𝑌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𝑒</m:t>
                                                  </m:r>
                                                </m:sub>
                                              </m:sSub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6FE0CA18-744C-5631-4BEF-5E1F2CD63B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7633" y="2984775"/>
                <a:ext cx="3135584" cy="9761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3E32A26B-467B-EE21-877A-18683E4AE051}"/>
              </a:ext>
            </a:extLst>
          </p:cNvPr>
          <p:cNvSpPr txBox="1"/>
          <p:nvPr/>
        </p:nvSpPr>
        <p:spPr>
          <a:xfrm>
            <a:off x="215700" y="132745"/>
            <a:ext cx="43797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Quantities of Interest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C1C1EE1E-CCF1-38EF-6C8C-21FFF48DF074}"/>
                  </a:ext>
                </a:extLst>
              </p:cNvPr>
              <p:cNvSpPr txBox="1"/>
              <p:nvPr/>
            </p:nvSpPr>
            <p:spPr>
              <a:xfrm>
                <a:off x="3085623" y="2149067"/>
                <a:ext cx="2103437" cy="420107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C1C1EE1E-CCF1-38EF-6C8C-21FFF48DF0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5623" y="2149067"/>
                <a:ext cx="2103437" cy="420107"/>
              </a:xfrm>
              <a:prstGeom prst="rect">
                <a:avLst/>
              </a:prstGeom>
              <a:blipFill>
                <a:blip r:embed="rId4"/>
                <a:stretch>
                  <a:fillRect l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236AA962-4591-E1A0-3736-3E2E01228E2B}"/>
              </a:ext>
            </a:extLst>
          </p:cNvPr>
          <p:cNvSpPr txBox="1"/>
          <p:nvPr/>
        </p:nvSpPr>
        <p:spPr>
          <a:xfrm>
            <a:off x="-99776" y="2144539"/>
            <a:ext cx="30712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Structural Compliance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AC927C5-7551-6D3E-BBF3-B6C310FE3ACB}"/>
              </a:ext>
            </a:extLst>
          </p:cNvPr>
          <p:cNvSpPr txBox="1"/>
          <p:nvPr/>
        </p:nvSpPr>
        <p:spPr>
          <a:xfrm>
            <a:off x="-84152" y="3228945"/>
            <a:ext cx="28268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Stress Failure Factor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E3E02E23-947B-E9E3-D899-EA3F99CD37F4}"/>
                  </a:ext>
                </a:extLst>
              </p:cNvPr>
              <p:cNvSpPr txBox="1"/>
              <p:nvPr/>
            </p:nvSpPr>
            <p:spPr>
              <a:xfrm>
                <a:off x="3066373" y="1218669"/>
                <a:ext cx="1944688" cy="4668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E3E02E23-947B-E9E3-D899-EA3F99CD3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6373" y="1218669"/>
                <a:ext cx="1944688" cy="466813"/>
              </a:xfrm>
              <a:prstGeom prst="rect">
                <a:avLst/>
              </a:prstGeom>
              <a:blipFill>
                <a:blip r:embed="rId5"/>
                <a:stretch>
                  <a:fillRect l="-6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Box 65">
            <a:extLst>
              <a:ext uri="{FF2B5EF4-FFF2-40B4-BE49-F238E27FC236}">
                <a16:creationId xmlns:a16="http://schemas.microsoft.com/office/drawing/2014/main" id="{A70541DA-A4AE-F3F9-E6B4-7F1BF7479A90}"/>
              </a:ext>
            </a:extLst>
          </p:cNvPr>
          <p:cNvSpPr txBox="1"/>
          <p:nvPr/>
        </p:nvSpPr>
        <p:spPr>
          <a:xfrm>
            <a:off x="-427120" y="1161660"/>
            <a:ext cx="35127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Thermal Compliance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60F548-B5A7-EC94-4F72-A57C73903EB6}"/>
              </a:ext>
            </a:extLst>
          </p:cNvPr>
          <p:cNvSpPr txBox="1"/>
          <p:nvPr/>
        </p:nvSpPr>
        <p:spPr>
          <a:xfrm>
            <a:off x="-84152" y="4313351"/>
            <a:ext cx="28268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F0000"/>
                </a:solidFill>
              </a:rPr>
              <a:t>Fatigue Failure Factor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bject 4">
                <a:extLst>
                  <a:ext uri="{FF2B5EF4-FFF2-40B4-BE49-F238E27FC236}">
                    <a16:creationId xmlns:a16="http://schemas.microsoft.com/office/drawing/2014/main" id="{C8324962-D495-17A7-EC54-1143FE430117}"/>
                  </a:ext>
                </a:extLst>
              </p:cNvPr>
              <p:cNvSpPr txBox="1"/>
              <p:nvPr/>
            </p:nvSpPr>
            <p:spPr>
              <a:xfrm>
                <a:off x="3050512" y="4025349"/>
                <a:ext cx="3135584" cy="976113"/>
              </a:xfrm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𝐹𝐹𝐹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Sup>
                                                <m:sSubSupPr>
                                                  <m:ctrlP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𝑒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𝑉𝑀</m:t>
                                                  </m:r>
                                                </m:sup>
                                              </m:sSubSup>
                                            </m:num>
                                            <m:den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b="0" i="1" smtClean="0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𝐹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𝑒</m:t>
                                                  </m:r>
                                                </m:sub>
                                              </m:sSub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Object 4">
                <a:extLst>
                  <a:ext uri="{FF2B5EF4-FFF2-40B4-BE49-F238E27FC236}">
                    <a16:creationId xmlns:a16="http://schemas.microsoft.com/office/drawing/2014/main" id="{C8324962-D495-17A7-EC54-1143FE4301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0512" y="4025349"/>
                <a:ext cx="3135584" cy="97611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7938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5A4A8-09BD-FEA3-B7F2-84C3505F5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58083A-A226-0AD3-97EA-EE8F94035B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7AEE2C2B-A7B1-3819-3AFE-C32A916953F7}"/>
                  </a:ext>
                </a:extLst>
              </p:cNvPr>
              <p:cNvSpPr txBox="1"/>
              <p:nvPr/>
            </p:nvSpPr>
            <p:spPr>
              <a:xfrm>
                <a:off x="6918325" y="854075"/>
                <a:ext cx="3676650" cy="5918200"/>
              </a:xfrm>
              <a:prstGeom prst="rect">
                <a:avLst/>
              </a:prstGeom>
            </p:spPr>
            <p:txBody>
              <a:bodyPr>
                <a:normAutofit fontScale="77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Failure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factor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each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element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Let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the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maximum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FF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approximated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by</m:t>
                      </m:r>
                    </m:oMath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We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want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Let</m:t>
                      </m:r>
                    </m:oMath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Therefore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7AEE2C2B-A7B1-3819-3AFE-C32A91695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8325" y="854075"/>
                <a:ext cx="3676650" cy="5918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8">
                <a:extLst>
                  <a:ext uri="{FF2B5EF4-FFF2-40B4-BE49-F238E27FC236}">
                    <a16:creationId xmlns:a16="http://schemas.microsoft.com/office/drawing/2014/main" id="{90AA989B-5B01-9394-2DA3-73E519123D7B}"/>
                  </a:ext>
                </a:extLst>
              </p:cNvPr>
              <p:cNvSpPr txBox="1"/>
              <p:nvPr/>
            </p:nvSpPr>
            <p:spPr>
              <a:xfrm>
                <a:off x="324390" y="1358106"/>
                <a:ext cx="3082925" cy="4910138"/>
              </a:xfrm>
              <a:prstGeom prst="rect">
                <a:avLst/>
              </a:prstGeom>
            </p:spPr>
            <p:txBody>
              <a:bodyPr>
                <a:normAutofit fontScale="700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Let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the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maximum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value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von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mises</m:t>
                      </m:r>
                    </m:oMath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We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want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Let</m:t>
                      </m:r>
                    </m:oMath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Therefore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Object 8">
                <a:extLst>
                  <a:ext uri="{FF2B5EF4-FFF2-40B4-BE49-F238E27FC236}">
                    <a16:creationId xmlns:a16="http://schemas.microsoft.com/office/drawing/2014/main" id="{90AA989B-5B01-9394-2DA3-73E519123D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390" y="1358106"/>
                <a:ext cx="3082925" cy="49101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711D2F7-E3C4-F7C4-5084-6655497F3293}"/>
              </a:ext>
            </a:extLst>
          </p:cNvPr>
          <p:cNvSpPr txBox="1"/>
          <p:nvPr/>
        </p:nvSpPr>
        <p:spPr>
          <a:xfrm>
            <a:off x="3407315" y="85725"/>
            <a:ext cx="5377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Sensitivity of stress failure factor to density variable</a:t>
            </a:r>
          </a:p>
        </p:txBody>
      </p:sp>
    </p:spTree>
    <p:extLst>
      <p:ext uri="{BB962C8B-B14F-4D97-AF65-F5344CB8AC3E}">
        <p14:creationId xmlns:p14="http://schemas.microsoft.com/office/powerpoint/2010/main" val="148075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53185-07C7-3FBD-B08D-AD0B0DB0D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5E91D1-6D5A-A5D1-3EFE-855A253E687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C4A825C3-91EB-6C53-1025-66E1F8DF3214}"/>
                  </a:ext>
                </a:extLst>
              </p:cNvPr>
              <p:cNvSpPr txBox="1"/>
              <p:nvPr/>
            </p:nvSpPr>
            <p:spPr>
              <a:xfrm>
                <a:off x="6807200" y="854075"/>
                <a:ext cx="3898900" cy="5918200"/>
              </a:xfrm>
              <a:prstGeom prst="rect">
                <a:avLst/>
              </a:prstGeom>
            </p:spPr>
            <p:txBody>
              <a:bodyPr>
                <a:normAutofit fontScale="77500" lnSpcReduction="2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Failure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factor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each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element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Let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the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maximum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FF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approximated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by</m:t>
                      </m:r>
                    </m:oMath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We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want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Let</m:t>
                      </m:r>
                    </m:oMath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b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Therefore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num>
                        <m:den>
                          <m:sSubSup>
                            <m:sSub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C4A825C3-91EB-6C53-1025-66E1F8DF32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7200" y="854075"/>
                <a:ext cx="3898900" cy="5918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4B4A35AA-AEF1-6953-3AB6-FD8D639E31A7}"/>
              </a:ext>
            </a:extLst>
          </p:cNvPr>
          <p:cNvSpPr txBox="1"/>
          <p:nvPr/>
        </p:nvSpPr>
        <p:spPr>
          <a:xfrm>
            <a:off x="3910520" y="184826"/>
            <a:ext cx="5110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Sensitivity of stress failure factor to latent variable</a:t>
            </a:r>
          </a:p>
        </p:txBody>
      </p:sp>
    </p:spTree>
    <p:extLst>
      <p:ext uri="{BB962C8B-B14F-4D97-AF65-F5344CB8AC3E}">
        <p14:creationId xmlns:p14="http://schemas.microsoft.com/office/powerpoint/2010/main" val="1002233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4487</TotalTime>
  <Words>535</Words>
  <Application>Microsoft Office PowerPoint</Application>
  <PresentationFormat>Widescreen</PresentationFormat>
  <Paragraphs>158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Microsoft Sans Serif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Gaurav Girish Deodhare</dc:creator>
  <cp:lastModifiedBy>Krishnan Suresh</cp:lastModifiedBy>
  <cp:revision>459</cp:revision>
  <dcterms:created xsi:type="dcterms:W3CDTF">2025-08-22T00:14:33Z</dcterms:created>
  <dcterms:modified xsi:type="dcterms:W3CDTF">2025-11-30T12:34:51Z</dcterms:modified>
</cp:coreProperties>
</file>