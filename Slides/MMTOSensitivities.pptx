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408" r:id="rId2"/>
    <p:sldId id="2410" r:id="rId3"/>
    <p:sldId id="2403" r:id="rId4"/>
    <p:sldId id="2406" r:id="rId5"/>
    <p:sldId id="2407" r:id="rId6"/>
    <p:sldId id="2405" r:id="rId7"/>
    <p:sldId id="240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049" autoAdjust="0"/>
  </p:normalViewPr>
  <p:slideViewPr>
    <p:cSldViewPr snapToGrid="0">
      <p:cViewPr varScale="1">
        <p:scale>
          <a:sx n="66" d="100"/>
          <a:sy n="66" d="100"/>
        </p:scale>
        <p:origin x="114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BC63F-E652-456B-B880-2F318D1A192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65DCE-AB5F-46FA-B07C-E9C2FA202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BCDF-9DB4-0A7A-981C-33F85D1C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C3E41-7E40-905B-2452-E901C3173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52EC8-9361-15CF-85B9-3D561343F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FD47-18E3-E432-0BD5-351E503E0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38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AE86E-E397-6CB4-F258-8EFDF7EF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B3D9A-FAEE-77BC-F2CE-D14FBA109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A8051-75FC-817A-E390-8F637EA2B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B794-62A3-CB85-5BC0-E826C7BD7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2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E921-FB76-0F4E-CF67-342D9943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B462-56C8-46A7-CCE8-306B8EEB4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38E72-6F95-C42B-2756-4A763FFE7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CD1C-4385-157B-93D0-0E661B20C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38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F4F3-0C8A-67C0-982C-7B861EBA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3C794-C19D-CAF9-FB58-9A18860BC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5966C-38B7-D985-F026-EB34BEE63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D1746-D9A0-6166-3B44-41B82B4B3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48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9D560-E9BA-9949-4710-D9E8E978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17104-C727-94DC-0C8C-81BE6D671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A7368-F9F4-86FD-F4AA-A45E24C4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1B820-4FE6-1DD0-A46E-621D95E40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27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ED1E-8127-8075-5023-3C4BC86C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DC165-B4A6-E70B-6BD9-2A5E110FC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BC902-1A56-C848-9351-DE67EC90E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522E5-2469-2EB8-D276-0431F7902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0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FFD9-3AF4-F346-3772-817021B9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C8A93-F7AD-B256-A72C-411137862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D919D-BE13-E45C-A08B-F9265E8FE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EF494-2324-ADB5-1AEC-4DA05EBFA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56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511-8B4B-89B2-7667-C1A25FE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457D6-580D-82D3-E580-E61C7089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7E62-71C6-AFF0-22D5-88BD1F6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C5DB-1A12-E644-E213-B457544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1BF5-C276-C51F-4B7F-954EF3C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EB0-96DE-174B-31AC-320FF784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04DB-3DA6-15DA-E034-BE11140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104-193F-E0BE-58A8-6DC26F3F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851-23A2-FF77-90D2-5D3FEC23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0BCF-CCA8-7064-2EA7-F9FB3794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FD85-33A4-04FF-6164-4454A6E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9931-0FB0-9171-CE3C-BC670C1B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012E-8400-632B-410D-2C764CF8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E2F-C8DB-9479-FA52-D89E612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68E0-3AC3-220F-2B51-864908E7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4EA7-01EB-8AA0-5619-F7B06E9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D5C6-E7F3-439D-AD89-E25D2AE7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CEC15-2409-2B4D-7825-527ECED6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BE98-26E3-8D23-2350-A972AF0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D656-0C5B-DB07-918B-DADD9F43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BE08-19A6-93E7-3B2E-21539D3D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B1B-6C89-87D8-783D-B713F86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1DBE-318B-BC02-EEFD-BED88032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11DAC-C51C-7526-13CD-2D6E8802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EC80-94EF-E5FB-23DF-E07B491C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F387F-C489-B6EC-60EE-C909DE9C4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241A0-BBA5-D8DB-4325-C4A831E5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F47EB-B808-F09F-8D01-39CBA84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9359-2E83-1D5B-F061-07361D4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900D-A811-EF23-F8A1-AE51FD31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C503C-9176-CF2C-06B9-AF292779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AC571-50BE-21AA-C729-3C307B60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C2DE-5563-9201-1C47-E7A2C401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57C9E-18D9-B611-A4D6-8D33A880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C2DD6-7065-FCDF-24EB-B2032184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D967-DDE3-9040-0478-2DD991DC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77CE-FD57-4B95-2DAC-0442441A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B0C6-5D43-3005-F1B8-21555EE3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82AED-BEC1-5525-E364-1A3C1600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F75D-BCD9-A48B-87A2-C6A429C1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1453-1C7C-1FFA-397A-F3140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4D9C-02BA-1B5A-9AE7-8E2107AF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D4B-5366-92C3-59D3-50693A5C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6B78B-A2EC-CC14-A349-AA9CED269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CEE1C-A1A2-74C9-635D-E50FB463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4D90-842D-3201-CDD6-2632892F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0DCF2-BA1B-93B5-BF7F-BD819610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DDCA-2A6B-422F-8DC0-DC603D23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9F7D-AE69-CC47-6713-526C186F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506-2A5C-CBFA-A31D-233EBCE5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65F3-5A9B-7557-97C0-F1A8EFE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7616-AC41-CCA5-FB5E-65C3926C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8FC5-380A-AB24-5631-87E5424F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48E9-D3C7-6BE2-CF1D-C050F25E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620F-CEC7-B36C-E0A5-A318BEEF3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3526-2001-C706-E871-1DC40D4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EE5C3-8F04-ADDB-3339-5E49968D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DB9-B500-1797-4DA5-BA053642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2522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92AA6-9341-EA9F-B7D4-287FC038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6B7-5586-DDCA-0568-200B219A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47A2-342A-2BD1-C0EC-9704E35C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B4303-DE67-4DA8-B375-7E6264E8BDE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170-5168-B6B7-C383-0381F7934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C7B2-DEB6-C941-D77B-010A348EF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C0A7-8F9C-C798-4AC9-787A8199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EE579C-FE47-6BA5-41EE-F6BCDE806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13648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AB84B428-8F4D-2C6E-BC6C-19B933B78A9A}"/>
                  </a:ext>
                </a:extLst>
              </p:cNvPr>
              <p:cNvSpPr txBox="1"/>
              <p:nvPr/>
            </p:nvSpPr>
            <p:spPr>
              <a:xfrm>
                <a:off x="917636" y="2022268"/>
                <a:ext cx="478742" cy="45773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AB84B428-8F4D-2C6E-BC6C-19B933B78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6" y="2022268"/>
                <a:ext cx="478742" cy="457735"/>
              </a:xfrm>
              <a:prstGeom prst="rect">
                <a:avLst/>
              </a:prstGeom>
              <a:blipFill>
                <a:blip r:embed="rId3"/>
                <a:stretch>
                  <a:fillRect l="-25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6A9BB831-8BFE-5E5E-825F-C03484AB2072}"/>
                  </a:ext>
                </a:extLst>
              </p:cNvPr>
              <p:cNvSpPr txBox="1"/>
              <p:nvPr/>
            </p:nvSpPr>
            <p:spPr>
              <a:xfrm>
                <a:off x="2106690" y="2036863"/>
                <a:ext cx="1076325" cy="445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6A9BB831-8BFE-5E5E-825F-C03484AB2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90" y="2036863"/>
                <a:ext cx="1076325" cy="4453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96207FF1-5A09-DDEC-17D1-06AE36963E75}"/>
                  </a:ext>
                </a:extLst>
              </p:cNvPr>
              <p:cNvSpPr txBox="1"/>
              <p:nvPr/>
            </p:nvSpPr>
            <p:spPr>
              <a:xfrm>
                <a:off x="3620560" y="2075298"/>
                <a:ext cx="796049" cy="3685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96207FF1-5A09-DDEC-17D1-06AE36963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560" y="2075298"/>
                <a:ext cx="796049" cy="368513"/>
              </a:xfrm>
              <a:prstGeom prst="rect">
                <a:avLst/>
              </a:prstGeom>
              <a:blipFill>
                <a:blip r:embed="rId5"/>
                <a:stretch>
                  <a:fillRect r="-916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F19106-3370-2F40-F6B6-7CC17DBE55DA}"/>
              </a:ext>
            </a:extLst>
          </p:cNvPr>
          <p:cNvCxnSpPr>
            <a:cxnSpLocks/>
            <a:stCxn id="12" idx="3"/>
            <a:endCxn id="107" idx="1"/>
          </p:cNvCxnSpPr>
          <p:nvPr/>
        </p:nvCxnSpPr>
        <p:spPr>
          <a:xfrm>
            <a:off x="4416609" y="2259555"/>
            <a:ext cx="612250" cy="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2B08A08-1CB4-5D48-23BB-C881219D5904}"/>
              </a:ext>
            </a:extLst>
          </p:cNvPr>
          <p:cNvSpPr txBox="1"/>
          <p:nvPr/>
        </p:nvSpPr>
        <p:spPr>
          <a:xfrm>
            <a:off x="376531" y="1271292"/>
            <a:ext cx="1523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Topology variables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4C1C8A-B339-B15A-CEC5-7B9E87BC02CC}"/>
              </a:ext>
            </a:extLst>
          </p:cNvPr>
          <p:cNvSpPr txBox="1"/>
          <p:nvPr/>
        </p:nvSpPr>
        <p:spPr>
          <a:xfrm>
            <a:off x="3505478" y="1096655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Global</a:t>
            </a:r>
          </a:p>
          <a:p>
            <a:pPr algn="ctr"/>
            <a:r>
              <a:rPr lang="en-US" dirty="0"/>
              <a:t>Thermal Matrix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DE4011-0653-850E-4B9E-DBF6818E12DF}"/>
              </a:ext>
            </a:extLst>
          </p:cNvPr>
          <p:cNvSpPr txBox="1"/>
          <p:nvPr/>
        </p:nvSpPr>
        <p:spPr>
          <a:xfrm>
            <a:off x="4993766" y="1594522"/>
            <a:ext cx="156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F1BB894-C89B-50F3-7160-A92AE11D32F4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1396378" y="2251136"/>
            <a:ext cx="710312" cy="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EFCB67F-EC22-997C-58D0-45D2FE7709B8}"/>
              </a:ext>
            </a:extLst>
          </p:cNvPr>
          <p:cNvSpPr txBox="1"/>
          <p:nvPr/>
        </p:nvSpPr>
        <p:spPr>
          <a:xfrm>
            <a:off x="215700" y="132745"/>
            <a:ext cx="7509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SMTO Thermal Analysis: Compliance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4E89F1-7FDE-7D52-35EE-50CB50105FF1}"/>
              </a:ext>
            </a:extLst>
          </p:cNvPr>
          <p:cNvSpPr txBox="1"/>
          <p:nvPr/>
        </p:nvSpPr>
        <p:spPr>
          <a:xfrm>
            <a:off x="1944783" y="1110397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Element</a:t>
            </a:r>
          </a:p>
          <a:p>
            <a:pPr algn="ctr"/>
            <a:r>
              <a:rPr lang="en-US" dirty="0"/>
              <a:t>Thermal Matrix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1484FC9-49FB-8FAA-9DED-830E74E52EC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183015" y="2259555"/>
            <a:ext cx="4375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A4DAE84B-0D5E-F292-F4AB-7EAE8A617818}"/>
                  </a:ext>
                </a:extLst>
              </p:cNvPr>
              <p:cNvSpPr txBox="1"/>
              <p:nvPr/>
            </p:nvSpPr>
            <p:spPr>
              <a:xfrm>
                <a:off x="5028859" y="2072123"/>
                <a:ext cx="1551443" cy="381996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A4DAE84B-0D5E-F292-F4AB-7EAE8A617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859" y="2072123"/>
                <a:ext cx="1551443" cy="381996"/>
              </a:xfrm>
              <a:prstGeom prst="rect">
                <a:avLst/>
              </a:prstGeom>
              <a:blipFill>
                <a:blip r:embed="rId6"/>
                <a:stretch>
                  <a:fillRect l="-2756"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9105F358-20F1-B40D-0097-7C24199A7F45}"/>
                  </a:ext>
                </a:extLst>
              </p:cNvPr>
              <p:cNvSpPr txBox="1"/>
              <p:nvPr/>
            </p:nvSpPr>
            <p:spPr>
              <a:xfrm>
                <a:off x="3796187" y="4365904"/>
                <a:ext cx="771861" cy="39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9105F358-20F1-B40D-0097-7C24199A7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187" y="4365904"/>
                <a:ext cx="771861" cy="394864"/>
              </a:xfrm>
              <a:prstGeom prst="rect">
                <a:avLst/>
              </a:prstGeom>
              <a:blipFill>
                <a:blip r:embed="rId7"/>
                <a:stretch>
                  <a:fillRect r="-6349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F038883-A046-EB8B-C45A-A96B22B4ECC8}"/>
              </a:ext>
            </a:extLst>
          </p:cNvPr>
          <p:cNvCxnSpPr>
            <a:cxnSpLocks/>
            <a:stCxn id="7" idx="2"/>
            <a:endCxn id="38" idx="1"/>
          </p:cNvCxnSpPr>
          <p:nvPr/>
        </p:nvCxnSpPr>
        <p:spPr>
          <a:xfrm rot="16200000" flipH="1">
            <a:off x="540998" y="3096011"/>
            <a:ext cx="2079869" cy="8478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55C5A4-24B5-9935-2282-4714134B8CC0}"/>
              </a:ext>
            </a:extLst>
          </p:cNvPr>
          <p:cNvCxnSpPr>
            <a:cxnSpLocks/>
            <a:stCxn id="30" idx="3"/>
            <a:endCxn id="96" idx="1"/>
          </p:cNvCxnSpPr>
          <p:nvPr/>
        </p:nvCxnSpPr>
        <p:spPr>
          <a:xfrm>
            <a:off x="4568048" y="4563336"/>
            <a:ext cx="609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64">
                <a:extLst>
                  <a:ext uri="{FF2B5EF4-FFF2-40B4-BE49-F238E27FC236}">
                    <a16:creationId xmlns:a16="http://schemas.microsoft.com/office/drawing/2014/main" id="{6DC1EDB6-2E99-7420-9AEF-3E5B2CF016CD}"/>
                  </a:ext>
                </a:extLst>
              </p:cNvPr>
              <p:cNvSpPr txBox="1"/>
              <p:nvPr/>
            </p:nvSpPr>
            <p:spPr>
              <a:xfrm>
                <a:off x="2004858" y="4306119"/>
                <a:ext cx="1023752" cy="5075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bject 64">
                <a:extLst>
                  <a:ext uri="{FF2B5EF4-FFF2-40B4-BE49-F238E27FC236}">
                    <a16:creationId xmlns:a16="http://schemas.microsoft.com/office/drawing/2014/main" id="{6DC1EDB6-2E99-7420-9AEF-3E5B2CF01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858" y="4306119"/>
                <a:ext cx="1023752" cy="507505"/>
              </a:xfrm>
              <a:prstGeom prst="rect">
                <a:avLst/>
              </a:prstGeom>
              <a:blipFill>
                <a:blip r:embed="rId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705168-49F7-1023-DFE4-46B93952FE30}"/>
              </a:ext>
            </a:extLst>
          </p:cNvPr>
          <p:cNvCxnSpPr>
            <a:cxnSpLocks/>
            <a:stCxn id="38" idx="3"/>
            <a:endCxn id="30" idx="1"/>
          </p:cNvCxnSpPr>
          <p:nvPr/>
        </p:nvCxnSpPr>
        <p:spPr>
          <a:xfrm>
            <a:off x="3028610" y="4559872"/>
            <a:ext cx="767577" cy="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81">
                <a:extLst>
                  <a:ext uri="{FF2B5EF4-FFF2-40B4-BE49-F238E27FC236}">
                    <a16:creationId xmlns:a16="http://schemas.microsoft.com/office/drawing/2014/main" id="{959FF7C2-7F86-3635-EBBA-181079EFCF09}"/>
                  </a:ext>
                </a:extLst>
              </p:cNvPr>
              <p:cNvSpPr txBox="1"/>
              <p:nvPr/>
            </p:nvSpPr>
            <p:spPr>
              <a:xfrm>
                <a:off x="5824296" y="3113537"/>
                <a:ext cx="468985" cy="387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Object 81">
                <a:extLst>
                  <a:ext uri="{FF2B5EF4-FFF2-40B4-BE49-F238E27FC236}">
                    <a16:creationId xmlns:a16="http://schemas.microsoft.com/office/drawing/2014/main" id="{959FF7C2-7F86-3635-EBBA-181079EFC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96" y="3113537"/>
                <a:ext cx="468985" cy="387385"/>
              </a:xfrm>
              <a:prstGeom prst="rect">
                <a:avLst/>
              </a:prstGeom>
              <a:blipFill>
                <a:blip r:embed="rId9"/>
                <a:stretch>
                  <a:fillRect l="-3896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5D5BB473-F51E-D593-EDA9-A1D573FF63D3}"/>
              </a:ext>
            </a:extLst>
          </p:cNvPr>
          <p:cNvSpPr txBox="1"/>
          <p:nvPr/>
        </p:nvSpPr>
        <p:spPr>
          <a:xfrm>
            <a:off x="6031880" y="3100835"/>
            <a:ext cx="238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Thermo-structural force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B69DB08-3586-AE57-75E5-0FC93C8BE302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5776487" y="2454119"/>
            <a:ext cx="28094" cy="180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Object 43">
                <a:extLst>
                  <a:ext uri="{FF2B5EF4-FFF2-40B4-BE49-F238E27FC236}">
                    <a16:creationId xmlns:a16="http://schemas.microsoft.com/office/drawing/2014/main" id="{36D48E73-E6ED-6AE6-7E54-D2115CE019B3}"/>
                  </a:ext>
                </a:extLst>
              </p:cNvPr>
              <p:cNvSpPr txBox="1"/>
              <p:nvPr/>
            </p:nvSpPr>
            <p:spPr>
              <a:xfrm>
                <a:off x="5177381" y="4365904"/>
                <a:ext cx="1212213" cy="39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Object 43">
                <a:extLst>
                  <a:ext uri="{FF2B5EF4-FFF2-40B4-BE49-F238E27FC236}">
                    <a16:creationId xmlns:a16="http://schemas.microsoft.com/office/drawing/2014/main" id="{36D48E73-E6ED-6AE6-7E54-D2115CE01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381" y="4365904"/>
                <a:ext cx="1212213" cy="394864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BCEA3D4C-98A3-6B15-BD99-509834EDF028}"/>
              </a:ext>
            </a:extLst>
          </p:cNvPr>
          <p:cNvSpPr txBox="1"/>
          <p:nvPr/>
        </p:nvSpPr>
        <p:spPr>
          <a:xfrm>
            <a:off x="4722734" y="4946013"/>
            <a:ext cx="237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Displacement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B458733-4E74-8AEC-1C1B-4590329C43BC}"/>
              </a:ext>
            </a:extLst>
          </p:cNvPr>
          <p:cNvSpPr txBox="1"/>
          <p:nvPr/>
        </p:nvSpPr>
        <p:spPr>
          <a:xfrm>
            <a:off x="3523029" y="4813624"/>
            <a:ext cx="1450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Global</a:t>
            </a:r>
          </a:p>
          <a:p>
            <a:pPr algn="ctr"/>
            <a:r>
              <a:rPr lang="en-US" dirty="0"/>
              <a:t>Structural Matrix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C81B84F-C52B-9788-52C1-5ED8FB0E8844}"/>
              </a:ext>
            </a:extLst>
          </p:cNvPr>
          <p:cNvCxnSpPr>
            <a:cxnSpLocks/>
            <a:stCxn id="96" idx="3"/>
            <a:endCxn id="124" idx="1"/>
          </p:cNvCxnSpPr>
          <p:nvPr/>
        </p:nvCxnSpPr>
        <p:spPr>
          <a:xfrm>
            <a:off x="6389594" y="4563336"/>
            <a:ext cx="609333" cy="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bject 42">
                <a:extLst>
                  <a:ext uri="{FF2B5EF4-FFF2-40B4-BE49-F238E27FC236}">
                    <a16:creationId xmlns:a16="http://schemas.microsoft.com/office/drawing/2014/main" id="{87DA730D-6B83-D48C-5160-7E2AC6922187}"/>
                  </a:ext>
                </a:extLst>
              </p:cNvPr>
              <p:cNvSpPr txBox="1"/>
              <p:nvPr/>
            </p:nvSpPr>
            <p:spPr>
              <a:xfrm>
                <a:off x="6998927" y="4373291"/>
                <a:ext cx="1420026" cy="39105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4" name="Object 42">
                <a:extLst>
                  <a:ext uri="{FF2B5EF4-FFF2-40B4-BE49-F238E27FC236}">
                    <a16:creationId xmlns:a16="http://schemas.microsoft.com/office/drawing/2014/main" id="{87DA730D-6B83-D48C-5160-7E2AC6922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927" y="4373291"/>
                <a:ext cx="1420026" cy="391050"/>
              </a:xfrm>
              <a:prstGeom prst="rect">
                <a:avLst/>
              </a:prstGeom>
              <a:blipFill>
                <a:blip r:embed="rId11"/>
                <a:stretch>
                  <a:fillRect l="-426" b="-14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3BAF2B47-5D71-F969-3B01-E2D23B8B0C21}"/>
              </a:ext>
            </a:extLst>
          </p:cNvPr>
          <p:cNvSpPr txBox="1"/>
          <p:nvPr/>
        </p:nvSpPr>
        <p:spPr>
          <a:xfrm>
            <a:off x="6914244" y="4813624"/>
            <a:ext cx="158939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Structural Compliance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7491E0A-39CF-B193-91A6-F7AF1260104E}"/>
              </a:ext>
            </a:extLst>
          </p:cNvPr>
          <p:cNvSpPr txBox="1"/>
          <p:nvPr/>
        </p:nvSpPr>
        <p:spPr>
          <a:xfrm>
            <a:off x="1819784" y="4760611"/>
            <a:ext cx="1333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Element</a:t>
            </a:r>
          </a:p>
          <a:p>
            <a:pPr algn="ctr"/>
            <a:r>
              <a:rPr lang="en-US" dirty="0"/>
              <a:t>Structural Matrix</a:t>
            </a:r>
          </a:p>
        </p:txBody>
      </p:sp>
    </p:spTree>
    <p:extLst>
      <p:ext uri="{BB962C8B-B14F-4D97-AF65-F5344CB8AC3E}">
        <p14:creationId xmlns:p14="http://schemas.microsoft.com/office/powerpoint/2010/main" val="365788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7D80D-BAC4-FD99-2B04-46C0F73B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93529-C983-A22C-95AA-A3849150D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13648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B68E4B1-7099-9C63-FD8E-8F8E550353B5}"/>
                  </a:ext>
                </a:extLst>
              </p:cNvPr>
              <p:cNvSpPr txBox="1"/>
              <p:nvPr/>
            </p:nvSpPr>
            <p:spPr>
              <a:xfrm>
                <a:off x="917636" y="2022268"/>
                <a:ext cx="478742" cy="45773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B68E4B1-7099-9C63-FD8E-8F8E55035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36" y="2022268"/>
                <a:ext cx="478742" cy="457735"/>
              </a:xfrm>
              <a:prstGeom prst="rect">
                <a:avLst/>
              </a:prstGeom>
              <a:blipFill>
                <a:blip r:embed="rId3"/>
                <a:stretch>
                  <a:fillRect l="-25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C6E29BA1-98F7-EC6D-458B-8C5EC9C06111}"/>
                  </a:ext>
                </a:extLst>
              </p:cNvPr>
              <p:cNvSpPr txBox="1"/>
              <p:nvPr/>
            </p:nvSpPr>
            <p:spPr>
              <a:xfrm>
                <a:off x="2106690" y="2036863"/>
                <a:ext cx="1076325" cy="445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C6E29BA1-98F7-EC6D-458B-8C5EC9C06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90" y="2036863"/>
                <a:ext cx="1076325" cy="4453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E096899A-E13F-31FC-D25F-520F2A56DFB3}"/>
                  </a:ext>
                </a:extLst>
              </p:cNvPr>
              <p:cNvSpPr txBox="1"/>
              <p:nvPr/>
            </p:nvSpPr>
            <p:spPr>
              <a:xfrm>
                <a:off x="3620560" y="2075298"/>
                <a:ext cx="796049" cy="3685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E096899A-E13F-31FC-D25F-520F2A56D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560" y="2075298"/>
                <a:ext cx="796049" cy="368513"/>
              </a:xfrm>
              <a:prstGeom prst="rect">
                <a:avLst/>
              </a:prstGeom>
              <a:blipFill>
                <a:blip r:embed="rId5"/>
                <a:stretch>
                  <a:fillRect r="-916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61B655-C485-0DDB-59D6-6F07B96DB331}"/>
              </a:ext>
            </a:extLst>
          </p:cNvPr>
          <p:cNvCxnSpPr>
            <a:cxnSpLocks/>
            <a:stCxn id="12" idx="3"/>
            <a:endCxn id="107" idx="1"/>
          </p:cNvCxnSpPr>
          <p:nvPr/>
        </p:nvCxnSpPr>
        <p:spPr>
          <a:xfrm>
            <a:off x="4416609" y="2259555"/>
            <a:ext cx="612250" cy="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48FDB9-EA52-40D6-2532-D4696A79D8C1}"/>
              </a:ext>
            </a:extLst>
          </p:cNvPr>
          <p:cNvSpPr txBox="1"/>
          <p:nvPr/>
        </p:nvSpPr>
        <p:spPr>
          <a:xfrm>
            <a:off x="375913" y="1342270"/>
            <a:ext cx="1523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Topology variables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38CB5D-932C-B6D1-7D83-910864F41555}"/>
              </a:ext>
            </a:extLst>
          </p:cNvPr>
          <p:cNvSpPr txBox="1"/>
          <p:nvPr/>
        </p:nvSpPr>
        <p:spPr>
          <a:xfrm>
            <a:off x="3505478" y="1096655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Global</a:t>
            </a:r>
          </a:p>
          <a:p>
            <a:pPr algn="ctr"/>
            <a:r>
              <a:rPr lang="en-US" dirty="0"/>
              <a:t>Thermal Matrix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A07A0B-4E78-BB05-E8E7-3F91F242818F}"/>
              </a:ext>
            </a:extLst>
          </p:cNvPr>
          <p:cNvSpPr txBox="1"/>
          <p:nvPr/>
        </p:nvSpPr>
        <p:spPr>
          <a:xfrm>
            <a:off x="4993766" y="1594522"/>
            <a:ext cx="1565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7607EFF-232B-FE3C-42B6-00D9B24C2073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1396378" y="2251136"/>
            <a:ext cx="710312" cy="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6CCE041-A2F6-7265-82EB-247530BB5EE5}"/>
              </a:ext>
            </a:extLst>
          </p:cNvPr>
          <p:cNvSpPr txBox="1"/>
          <p:nvPr/>
        </p:nvSpPr>
        <p:spPr>
          <a:xfrm>
            <a:off x="215700" y="132745"/>
            <a:ext cx="7945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SMTO Thermal Analysis: P-Norm Stress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45FC984-0E38-27B3-5C9F-EC9352CDA438}"/>
              </a:ext>
            </a:extLst>
          </p:cNvPr>
          <p:cNvSpPr txBox="1"/>
          <p:nvPr/>
        </p:nvSpPr>
        <p:spPr>
          <a:xfrm>
            <a:off x="1944783" y="1110397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Element</a:t>
            </a:r>
          </a:p>
          <a:p>
            <a:pPr algn="ctr"/>
            <a:r>
              <a:rPr lang="en-US" dirty="0"/>
              <a:t>Thermal Matrix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2C7F61C-2CAE-A55D-5F12-BF7A570359F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183015" y="2259555"/>
            <a:ext cx="4375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B83FE8CC-6239-814B-62D6-CF4D8630E8B7}"/>
                  </a:ext>
                </a:extLst>
              </p:cNvPr>
              <p:cNvSpPr txBox="1"/>
              <p:nvPr/>
            </p:nvSpPr>
            <p:spPr>
              <a:xfrm>
                <a:off x="5028859" y="2072123"/>
                <a:ext cx="1551443" cy="381996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B83FE8CC-6239-814B-62D6-CF4D8630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859" y="2072123"/>
                <a:ext cx="1551443" cy="381996"/>
              </a:xfrm>
              <a:prstGeom prst="rect">
                <a:avLst/>
              </a:prstGeom>
              <a:blipFill>
                <a:blip r:embed="rId6"/>
                <a:stretch>
                  <a:fillRect l="-2756"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7D948BD4-1DC5-CB13-3A64-69DAEC20857D}"/>
                  </a:ext>
                </a:extLst>
              </p:cNvPr>
              <p:cNvSpPr txBox="1"/>
              <p:nvPr/>
            </p:nvSpPr>
            <p:spPr>
              <a:xfrm>
                <a:off x="3796187" y="4365904"/>
                <a:ext cx="771861" cy="39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bject 10">
                <a:extLst>
                  <a:ext uri="{FF2B5EF4-FFF2-40B4-BE49-F238E27FC236}">
                    <a16:creationId xmlns:a16="http://schemas.microsoft.com/office/drawing/2014/main" id="{7D948BD4-1DC5-CB13-3A64-69DAEC208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187" y="4365904"/>
                <a:ext cx="771861" cy="394864"/>
              </a:xfrm>
              <a:prstGeom prst="rect">
                <a:avLst/>
              </a:prstGeom>
              <a:blipFill>
                <a:blip r:embed="rId7"/>
                <a:stretch>
                  <a:fillRect r="-6349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D5D87F0-3636-366C-4C10-545739D5C483}"/>
              </a:ext>
            </a:extLst>
          </p:cNvPr>
          <p:cNvCxnSpPr>
            <a:cxnSpLocks/>
            <a:stCxn id="7" idx="2"/>
            <a:endCxn id="38" idx="1"/>
          </p:cNvCxnSpPr>
          <p:nvPr/>
        </p:nvCxnSpPr>
        <p:spPr>
          <a:xfrm rot="16200000" flipH="1">
            <a:off x="540998" y="3096011"/>
            <a:ext cx="2079869" cy="8478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799B61-D8F9-09AD-8C70-1E3014B7B7B6}"/>
              </a:ext>
            </a:extLst>
          </p:cNvPr>
          <p:cNvCxnSpPr>
            <a:cxnSpLocks/>
            <a:stCxn id="30" idx="3"/>
            <a:endCxn id="96" idx="1"/>
          </p:cNvCxnSpPr>
          <p:nvPr/>
        </p:nvCxnSpPr>
        <p:spPr>
          <a:xfrm>
            <a:off x="4568048" y="4563336"/>
            <a:ext cx="6093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64">
                <a:extLst>
                  <a:ext uri="{FF2B5EF4-FFF2-40B4-BE49-F238E27FC236}">
                    <a16:creationId xmlns:a16="http://schemas.microsoft.com/office/drawing/2014/main" id="{91E06536-738C-8AB7-E97F-1471CAD7FD48}"/>
                  </a:ext>
                </a:extLst>
              </p:cNvPr>
              <p:cNvSpPr txBox="1"/>
              <p:nvPr/>
            </p:nvSpPr>
            <p:spPr>
              <a:xfrm>
                <a:off x="2004858" y="4306119"/>
                <a:ext cx="1023752" cy="5075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bject 64">
                <a:extLst>
                  <a:ext uri="{FF2B5EF4-FFF2-40B4-BE49-F238E27FC236}">
                    <a16:creationId xmlns:a16="http://schemas.microsoft.com/office/drawing/2014/main" id="{91E06536-738C-8AB7-E97F-1471CAD7F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858" y="4306119"/>
                <a:ext cx="1023752" cy="507505"/>
              </a:xfrm>
              <a:prstGeom prst="rect">
                <a:avLst/>
              </a:prstGeom>
              <a:blipFill>
                <a:blip r:embed="rId8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65508BB-E964-8088-D979-6BBACD12CAFF}"/>
              </a:ext>
            </a:extLst>
          </p:cNvPr>
          <p:cNvCxnSpPr>
            <a:cxnSpLocks/>
            <a:stCxn id="38" idx="3"/>
            <a:endCxn id="30" idx="1"/>
          </p:cNvCxnSpPr>
          <p:nvPr/>
        </p:nvCxnSpPr>
        <p:spPr>
          <a:xfrm>
            <a:off x="3028610" y="4559872"/>
            <a:ext cx="767577" cy="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81">
                <a:extLst>
                  <a:ext uri="{FF2B5EF4-FFF2-40B4-BE49-F238E27FC236}">
                    <a16:creationId xmlns:a16="http://schemas.microsoft.com/office/drawing/2014/main" id="{2F43B726-CC2C-050B-E986-1E9803623CC1}"/>
                  </a:ext>
                </a:extLst>
              </p:cNvPr>
              <p:cNvSpPr txBox="1"/>
              <p:nvPr/>
            </p:nvSpPr>
            <p:spPr>
              <a:xfrm>
                <a:off x="5824296" y="3113537"/>
                <a:ext cx="468985" cy="387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Object 81">
                <a:extLst>
                  <a:ext uri="{FF2B5EF4-FFF2-40B4-BE49-F238E27FC236}">
                    <a16:creationId xmlns:a16="http://schemas.microsoft.com/office/drawing/2014/main" id="{2F43B726-CC2C-050B-E986-1E9803623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96" y="3113537"/>
                <a:ext cx="468985" cy="387385"/>
              </a:xfrm>
              <a:prstGeom prst="rect">
                <a:avLst/>
              </a:prstGeom>
              <a:blipFill>
                <a:blip r:embed="rId9"/>
                <a:stretch>
                  <a:fillRect l="-3896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E49FF0DA-3364-5F94-0BB4-826EFEFBBD05}"/>
              </a:ext>
            </a:extLst>
          </p:cNvPr>
          <p:cNvSpPr txBox="1"/>
          <p:nvPr/>
        </p:nvSpPr>
        <p:spPr>
          <a:xfrm>
            <a:off x="6010980" y="3113537"/>
            <a:ext cx="238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Thermo-structural force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072639D-D178-348D-0CAA-DB36880D3528}"/>
              </a:ext>
            </a:extLst>
          </p:cNvPr>
          <p:cNvCxnSpPr>
            <a:cxnSpLocks/>
            <a:stCxn id="107" idx="2"/>
          </p:cNvCxnSpPr>
          <p:nvPr/>
        </p:nvCxnSpPr>
        <p:spPr>
          <a:xfrm flipH="1">
            <a:off x="5776487" y="2454119"/>
            <a:ext cx="28094" cy="180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Object 43">
                <a:extLst>
                  <a:ext uri="{FF2B5EF4-FFF2-40B4-BE49-F238E27FC236}">
                    <a16:creationId xmlns:a16="http://schemas.microsoft.com/office/drawing/2014/main" id="{82E85B46-C39D-EC84-E0F4-8AD546732255}"/>
                  </a:ext>
                </a:extLst>
              </p:cNvPr>
              <p:cNvSpPr txBox="1"/>
              <p:nvPr/>
            </p:nvSpPr>
            <p:spPr>
              <a:xfrm>
                <a:off x="5177381" y="4365904"/>
                <a:ext cx="1212213" cy="39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Object 43">
                <a:extLst>
                  <a:ext uri="{FF2B5EF4-FFF2-40B4-BE49-F238E27FC236}">
                    <a16:creationId xmlns:a16="http://schemas.microsoft.com/office/drawing/2014/main" id="{82E85B46-C39D-EC84-E0F4-8AD546732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381" y="4365904"/>
                <a:ext cx="1212213" cy="394864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C8213EF3-5BBD-F30E-22C0-670A7F96A05E}"/>
              </a:ext>
            </a:extLst>
          </p:cNvPr>
          <p:cNvSpPr txBox="1"/>
          <p:nvPr/>
        </p:nvSpPr>
        <p:spPr>
          <a:xfrm>
            <a:off x="6032743" y="4376565"/>
            <a:ext cx="237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Displacement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AA04DF-FCAE-2CF2-8D6C-50EC9A3E993E}"/>
              </a:ext>
            </a:extLst>
          </p:cNvPr>
          <p:cNvSpPr txBox="1"/>
          <p:nvPr/>
        </p:nvSpPr>
        <p:spPr>
          <a:xfrm>
            <a:off x="3523029" y="4813624"/>
            <a:ext cx="1450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Global</a:t>
            </a:r>
          </a:p>
          <a:p>
            <a:pPr algn="ctr"/>
            <a:r>
              <a:rPr lang="en-US" dirty="0"/>
              <a:t>Structural Matrix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466F519-250A-AC3A-A92E-38E3201CDB46}"/>
              </a:ext>
            </a:extLst>
          </p:cNvPr>
          <p:cNvSpPr txBox="1"/>
          <p:nvPr/>
        </p:nvSpPr>
        <p:spPr>
          <a:xfrm>
            <a:off x="1819784" y="4760611"/>
            <a:ext cx="1333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Element</a:t>
            </a:r>
          </a:p>
          <a:p>
            <a:pPr algn="ctr"/>
            <a:r>
              <a:rPr lang="en-US" dirty="0"/>
              <a:t>Structural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1">
                <a:extLst>
                  <a:ext uri="{FF2B5EF4-FFF2-40B4-BE49-F238E27FC236}">
                    <a16:creationId xmlns:a16="http://schemas.microsoft.com/office/drawing/2014/main" id="{62043278-8D5D-776C-FD0A-092A48493A24}"/>
                  </a:ext>
                </a:extLst>
              </p:cNvPr>
              <p:cNvSpPr txBox="1"/>
              <p:nvPr/>
            </p:nvSpPr>
            <p:spPr>
              <a:xfrm>
                <a:off x="5497088" y="5275630"/>
                <a:ext cx="558800" cy="4867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51">
                <a:extLst>
                  <a:ext uri="{FF2B5EF4-FFF2-40B4-BE49-F238E27FC236}">
                    <a16:creationId xmlns:a16="http://schemas.microsoft.com/office/drawing/2014/main" id="{62043278-8D5D-776C-FD0A-092A48493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88" y="5275630"/>
                <a:ext cx="558800" cy="4867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F82E83-E985-4AD0-6109-4A49EAAF220E}"/>
              </a:ext>
            </a:extLst>
          </p:cNvPr>
          <p:cNvCxnSpPr>
            <a:cxnSpLocks/>
            <a:stCxn id="96" idx="2"/>
            <a:endCxn id="2" idx="0"/>
          </p:cNvCxnSpPr>
          <p:nvPr/>
        </p:nvCxnSpPr>
        <p:spPr>
          <a:xfrm flipH="1">
            <a:off x="5776488" y="4760768"/>
            <a:ext cx="7000" cy="514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5">
                <a:extLst>
                  <a:ext uri="{FF2B5EF4-FFF2-40B4-BE49-F238E27FC236}">
                    <a16:creationId xmlns:a16="http://schemas.microsoft.com/office/drawing/2014/main" id="{FB3E002B-AE9B-0502-C894-21CBE9931A16}"/>
                  </a:ext>
                </a:extLst>
              </p:cNvPr>
              <p:cNvSpPr txBox="1"/>
              <p:nvPr/>
            </p:nvSpPr>
            <p:spPr>
              <a:xfrm>
                <a:off x="6707579" y="5323464"/>
                <a:ext cx="721206" cy="3910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𝑉𝑀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55">
                <a:extLst>
                  <a:ext uri="{FF2B5EF4-FFF2-40B4-BE49-F238E27FC236}">
                    <a16:creationId xmlns:a16="http://schemas.microsoft.com/office/drawing/2014/main" id="{FB3E002B-AE9B-0502-C894-21CBE9931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579" y="5323464"/>
                <a:ext cx="721206" cy="3910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6EA512-CF3B-B54A-4D85-82997255CA4F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6055888" y="5518989"/>
            <a:ext cx="65169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2A7D5F-DD82-BC91-5F6F-28FD32ACD3AD}"/>
              </a:ext>
            </a:extLst>
          </p:cNvPr>
          <p:cNvSpPr txBox="1"/>
          <p:nvPr/>
        </p:nvSpPr>
        <p:spPr>
          <a:xfrm>
            <a:off x="8738992" y="5968914"/>
            <a:ext cx="166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P-Norm </a:t>
            </a:r>
          </a:p>
          <a:p>
            <a:pPr algn="ctr"/>
            <a:r>
              <a:rPr lang="en-US" b="1" dirty="0"/>
              <a:t>von Mises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EA4EAD19-398D-C2A9-1062-96EE5608C2B1}"/>
                  </a:ext>
                </a:extLst>
              </p:cNvPr>
              <p:cNvSpPr txBox="1"/>
              <p:nvPr/>
            </p:nvSpPr>
            <p:spPr>
              <a:xfrm>
                <a:off x="7836324" y="5030932"/>
                <a:ext cx="3135584" cy="9761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𝑃𝑁𝑜𝑟𝑚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𝑉𝑀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EA4EAD19-398D-C2A9-1062-96EE5608C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324" y="5030932"/>
                <a:ext cx="3135584" cy="9761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EAB048-DE9E-FB2E-47D0-9E96F54E9E8A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7428785" y="5518989"/>
            <a:ext cx="4075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CADB50E-7D98-E6A7-8DB4-F4542603BBBB}"/>
              </a:ext>
            </a:extLst>
          </p:cNvPr>
          <p:cNvCxnSpPr>
            <a:stCxn id="7" idx="1"/>
            <a:endCxn id="2" idx="2"/>
          </p:cNvCxnSpPr>
          <p:nvPr/>
        </p:nvCxnSpPr>
        <p:spPr>
          <a:xfrm rot="10800000" flipH="1" flipV="1">
            <a:off x="917636" y="2251135"/>
            <a:ext cx="4858852" cy="3511215"/>
          </a:xfrm>
          <a:prstGeom prst="bentConnector4">
            <a:avLst>
              <a:gd name="adj1" fmla="val -4705"/>
              <a:gd name="adj2" fmla="val 1065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75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AB31-8040-8323-B077-BC801A1B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E6319-EB59-2F14-7917-A039812DB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2902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26BEEFF-7FB3-7E63-A1E6-46C3C1F67C68}"/>
                  </a:ext>
                </a:extLst>
              </p:cNvPr>
              <p:cNvSpPr txBox="1"/>
              <p:nvPr/>
            </p:nvSpPr>
            <p:spPr>
              <a:xfrm>
                <a:off x="836613" y="1714500"/>
                <a:ext cx="478742" cy="45773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826BEEFF-7FB3-7E63-A1E6-46C3C1F67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13" y="1714500"/>
                <a:ext cx="478742" cy="457735"/>
              </a:xfrm>
              <a:prstGeom prst="rect">
                <a:avLst/>
              </a:prstGeom>
              <a:blipFill>
                <a:blip r:embed="rId3"/>
                <a:stretch>
                  <a:fillRect l="-24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472B6EAC-0717-22D9-B3F0-8DEA017EBECB}"/>
                  </a:ext>
                </a:extLst>
              </p:cNvPr>
              <p:cNvSpPr txBox="1"/>
              <p:nvPr/>
            </p:nvSpPr>
            <p:spPr>
              <a:xfrm>
                <a:off x="757657" y="2892389"/>
                <a:ext cx="497732" cy="40014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472B6EAC-0717-22D9-B3F0-8DEA017EB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57" y="2892389"/>
                <a:ext cx="497732" cy="4001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66A19702-B411-1676-DD46-8734ED7FD94E}"/>
                  </a:ext>
                </a:extLst>
              </p:cNvPr>
              <p:cNvSpPr txBox="1"/>
              <p:nvPr/>
            </p:nvSpPr>
            <p:spPr>
              <a:xfrm>
                <a:off x="2008352" y="2968965"/>
                <a:ext cx="477837" cy="4381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66A19702-B411-1676-DD46-8734ED7FD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352" y="2968965"/>
                <a:ext cx="477837" cy="438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363A4C5C-F5CD-04FE-AD9D-F893B6FC5244}"/>
                  </a:ext>
                </a:extLst>
              </p:cNvPr>
              <p:cNvSpPr txBox="1"/>
              <p:nvPr/>
            </p:nvSpPr>
            <p:spPr>
              <a:xfrm>
                <a:off x="4823628" y="2619324"/>
                <a:ext cx="1076325" cy="445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363A4C5C-F5CD-04FE-AD9D-F893B6FC5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628" y="2619324"/>
                <a:ext cx="1076325" cy="4453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3326EBCC-8A48-EFF0-3EBC-42DAE52B8D27}"/>
                  </a:ext>
                </a:extLst>
              </p:cNvPr>
              <p:cNvSpPr txBox="1"/>
              <p:nvPr/>
            </p:nvSpPr>
            <p:spPr>
              <a:xfrm>
                <a:off x="6740525" y="2674268"/>
                <a:ext cx="1033463" cy="39486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3326EBCC-8A48-EFF0-3EBC-42DAE52B8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525" y="2674268"/>
                <a:ext cx="1033463" cy="394865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0C944C7-FF82-0DFB-869F-311A17499541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421105" y="2842017"/>
            <a:ext cx="1402523" cy="2971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0124EE9-A7FB-48CC-FE2D-5A76CC0086B5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1315355" y="1943368"/>
            <a:ext cx="4046436" cy="67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97A51-2FC0-CE69-DD19-1B058E4DC79D}"/>
              </a:ext>
            </a:extLst>
          </p:cNvPr>
          <p:cNvCxnSpPr>
            <a:cxnSpLocks/>
          </p:cNvCxnSpPr>
          <p:nvPr/>
        </p:nvCxnSpPr>
        <p:spPr>
          <a:xfrm>
            <a:off x="7836334" y="2871700"/>
            <a:ext cx="1000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31B696-48F3-C0DC-1F5A-9ACB68EE5E40}"/>
              </a:ext>
            </a:extLst>
          </p:cNvPr>
          <p:cNvCxnSpPr>
            <a:cxnSpLocks/>
          </p:cNvCxnSpPr>
          <p:nvPr/>
        </p:nvCxnSpPr>
        <p:spPr>
          <a:xfrm flipV="1">
            <a:off x="1286562" y="3150923"/>
            <a:ext cx="649910" cy="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2624025-A6FD-1286-D56E-EBA6DC53BD8A}"/>
              </a:ext>
            </a:extLst>
          </p:cNvPr>
          <p:cNvSpPr txBox="1"/>
          <p:nvPr/>
        </p:nvSpPr>
        <p:spPr>
          <a:xfrm>
            <a:off x="294890" y="1034502"/>
            <a:ext cx="1523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Topology variables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C78A23-35EA-6D63-0A68-4035E222349D}"/>
              </a:ext>
            </a:extLst>
          </p:cNvPr>
          <p:cNvSpPr txBox="1"/>
          <p:nvPr/>
        </p:nvSpPr>
        <p:spPr>
          <a:xfrm>
            <a:off x="532841" y="3551680"/>
            <a:ext cx="1193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Material variables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286783-6E8C-81AE-6941-2BD668ECA7EF}"/>
              </a:ext>
            </a:extLst>
          </p:cNvPr>
          <p:cNvSpPr txBox="1"/>
          <p:nvPr/>
        </p:nvSpPr>
        <p:spPr>
          <a:xfrm>
            <a:off x="1636262" y="3567119"/>
            <a:ext cx="119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Decoder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B510C7-8824-B913-78AA-F83AAFF51E05}"/>
              </a:ext>
            </a:extLst>
          </p:cNvPr>
          <p:cNvSpPr txBox="1"/>
          <p:nvPr/>
        </p:nvSpPr>
        <p:spPr>
          <a:xfrm>
            <a:off x="6643172" y="3116471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</a:t>
            </a:r>
          </a:p>
          <a:p>
            <a:pPr algn="ctr"/>
            <a:r>
              <a:rPr lang="en-US" b="1" dirty="0"/>
              <a:t>Thermal Matrix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0B03BD-5DE2-50D2-7017-724DA716C78B}"/>
              </a:ext>
            </a:extLst>
          </p:cNvPr>
          <p:cNvSpPr txBox="1"/>
          <p:nvPr/>
        </p:nvSpPr>
        <p:spPr>
          <a:xfrm>
            <a:off x="8752018" y="2123426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Temperature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366C39-1EBC-6AB7-1B0B-80A18260C4E1}"/>
              </a:ext>
            </a:extLst>
          </p:cNvPr>
          <p:cNvCxnSpPr>
            <a:cxnSpLocks/>
          </p:cNvCxnSpPr>
          <p:nvPr/>
        </p:nvCxnSpPr>
        <p:spPr>
          <a:xfrm>
            <a:off x="2504023" y="3127484"/>
            <a:ext cx="4151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67">
                <a:extLst>
                  <a:ext uri="{FF2B5EF4-FFF2-40B4-BE49-F238E27FC236}">
                    <a16:creationId xmlns:a16="http://schemas.microsoft.com/office/drawing/2014/main" id="{D8BE2CB1-DABB-D9BA-52C6-64265B0D27D0}"/>
                  </a:ext>
                </a:extLst>
              </p:cNvPr>
              <p:cNvSpPr txBox="1"/>
              <p:nvPr/>
            </p:nvSpPr>
            <p:spPr>
              <a:xfrm>
                <a:off x="2951060" y="2902039"/>
                <a:ext cx="438150" cy="397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Object 67">
                <a:extLst>
                  <a:ext uri="{FF2B5EF4-FFF2-40B4-BE49-F238E27FC236}">
                    <a16:creationId xmlns:a16="http://schemas.microsoft.com/office/drawing/2014/main" id="{D8BE2CB1-DABB-D9BA-52C6-64265B0D2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60" y="2902039"/>
                <a:ext cx="438150" cy="3973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BA1C9C57-FB78-7384-6EBF-925BCFD6DB6A}"/>
              </a:ext>
            </a:extLst>
          </p:cNvPr>
          <p:cNvSpPr txBox="1"/>
          <p:nvPr/>
        </p:nvSpPr>
        <p:spPr>
          <a:xfrm>
            <a:off x="2499155" y="2538335"/>
            <a:ext cx="168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Conductivity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FF30CFFD-A4DD-D85E-AB9C-09F5CAC5EE03}"/>
              </a:ext>
            </a:extLst>
          </p:cNvPr>
          <p:cNvCxnSpPr>
            <a:cxnSpLocks/>
          </p:cNvCxnSpPr>
          <p:nvPr/>
        </p:nvCxnSpPr>
        <p:spPr>
          <a:xfrm rot="5400000">
            <a:off x="6317389" y="-45441"/>
            <a:ext cx="292365" cy="6685092"/>
          </a:xfrm>
          <a:prstGeom prst="bentConnector3">
            <a:avLst>
              <a:gd name="adj1" fmla="val 60576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11364D7-3BEC-0CA5-4C19-2E8F5E3AAC65}"/>
              </a:ext>
            </a:extLst>
          </p:cNvPr>
          <p:cNvSpPr txBox="1"/>
          <p:nvPr/>
        </p:nvSpPr>
        <p:spPr>
          <a:xfrm>
            <a:off x="5526844" y="456512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Non-linear thermal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773A48-CDA0-7714-5CF2-7631534791E0}"/>
              </a:ext>
            </a:extLst>
          </p:cNvPr>
          <p:cNvSpPr txBox="1"/>
          <p:nvPr/>
        </p:nvSpPr>
        <p:spPr>
          <a:xfrm>
            <a:off x="215700" y="132745"/>
            <a:ext cx="494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MMTO Thermal Analysis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28AE5DF-6812-FE7A-A1A7-D8A75E933C71}"/>
              </a:ext>
            </a:extLst>
          </p:cNvPr>
          <p:cNvSpPr txBox="1"/>
          <p:nvPr/>
        </p:nvSpPr>
        <p:spPr>
          <a:xfrm>
            <a:off x="4545215" y="3116471"/>
            <a:ext cx="119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Element</a:t>
            </a:r>
          </a:p>
          <a:p>
            <a:pPr algn="ctr"/>
            <a:r>
              <a:rPr lang="en-US" b="1" dirty="0"/>
              <a:t>Thermal Matrix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A38075A-9866-3D7C-6ED7-2A6B52883A4B}"/>
              </a:ext>
            </a:extLst>
          </p:cNvPr>
          <p:cNvCxnSpPr>
            <a:cxnSpLocks/>
          </p:cNvCxnSpPr>
          <p:nvPr/>
        </p:nvCxnSpPr>
        <p:spPr>
          <a:xfrm flipV="1">
            <a:off x="6030290" y="2842948"/>
            <a:ext cx="649910" cy="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C90840C9-0EE2-3532-B02D-D2B5C4EAC54B}"/>
                  </a:ext>
                </a:extLst>
              </p:cNvPr>
              <p:cNvSpPr txBox="1"/>
              <p:nvPr/>
            </p:nvSpPr>
            <p:spPr>
              <a:xfrm>
                <a:off x="8899200" y="2694649"/>
                <a:ext cx="2149475" cy="3954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C90840C9-0EE2-3532-B02D-D2B5C4EAC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200" y="2694649"/>
                <a:ext cx="2149475" cy="395480"/>
              </a:xfrm>
              <a:prstGeom prst="rect">
                <a:avLst/>
              </a:prstGeom>
              <a:blipFill>
                <a:blip r:embed="rId9"/>
                <a:stretch>
                  <a:fillRect l="-2557" t="-6154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15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13FA-09C0-810C-D23B-CD99937E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86049-9490-ACF9-5749-97E51FE89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2902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720052AE-7DFD-F138-3D36-B14D54204F74}"/>
                  </a:ext>
                </a:extLst>
              </p:cNvPr>
              <p:cNvSpPr txBox="1"/>
              <p:nvPr/>
            </p:nvSpPr>
            <p:spPr>
              <a:xfrm>
                <a:off x="285188" y="3248493"/>
                <a:ext cx="450409" cy="41866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720052AE-7DFD-F138-3D36-B14D54204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88" y="3248493"/>
                <a:ext cx="450409" cy="4186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32DE9F11-8575-1515-A4EB-9493038C8B66}"/>
                  </a:ext>
                </a:extLst>
              </p:cNvPr>
              <p:cNvSpPr txBox="1"/>
              <p:nvPr/>
            </p:nvSpPr>
            <p:spPr>
              <a:xfrm>
                <a:off x="1613267" y="3404278"/>
                <a:ext cx="477837" cy="4381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32DE9F11-8575-1515-A4EB-9493038C8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67" y="3404278"/>
                <a:ext cx="477837" cy="43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92FDF1E7-6A22-5D7F-46BC-9297646832AE}"/>
                  </a:ext>
                </a:extLst>
              </p:cNvPr>
              <p:cNvSpPr txBox="1"/>
              <p:nvPr/>
            </p:nvSpPr>
            <p:spPr>
              <a:xfrm>
                <a:off x="8060892" y="2772661"/>
                <a:ext cx="708664" cy="37625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92FDF1E7-6A22-5D7F-46BC-929764683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892" y="2772661"/>
                <a:ext cx="708664" cy="376255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1">
            <a:extLst>
              <a:ext uri="{FF2B5EF4-FFF2-40B4-BE49-F238E27FC236}">
                <a16:creationId xmlns:a16="http://schemas.microsoft.com/office/drawing/2014/main" id="{E71E8409-9743-F463-5A98-2A0C6163160E}"/>
              </a:ext>
            </a:extLst>
          </p:cNvPr>
          <p:cNvSpPr txBox="1"/>
          <p:nvPr/>
        </p:nvSpPr>
        <p:spPr>
          <a:xfrm>
            <a:off x="536575" y="4760066"/>
            <a:ext cx="374224" cy="4448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0EF121-717C-0CD6-5BA7-DF63F5723232}"/>
              </a:ext>
            </a:extLst>
          </p:cNvPr>
          <p:cNvCxnSpPr>
            <a:cxnSpLocks/>
          </p:cNvCxnSpPr>
          <p:nvPr/>
        </p:nvCxnSpPr>
        <p:spPr>
          <a:xfrm flipV="1">
            <a:off x="763930" y="3586986"/>
            <a:ext cx="649910" cy="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DB791EF7-171B-E00B-9C8F-CBC7EFFB5697}"/>
                  </a:ext>
                </a:extLst>
              </p:cNvPr>
              <p:cNvSpPr txBox="1"/>
              <p:nvPr/>
            </p:nvSpPr>
            <p:spPr>
              <a:xfrm>
                <a:off x="4769283" y="4152079"/>
                <a:ext cx="1033462" cy="71587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DB791EF7-171B-E00B-9C8F-CBC7EFFB5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283" y="4152079"/>
                <a:ext cx="1033462" cy="715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0DE422-7FC5-A8BB-DB8A-9D7EC40DDC98}"/>
              </a:ext>
            </a:extLst>
          </p:cNvPr>
          <p:cNvCxnSpPr>
            <a:cxnSpLocks/>
          </p:cNvCxnSpPr>
          <p:nvPr/>
        </p:nvCxnSpPr>
        <p:spPr>
          <a:xfrm flipV="1">
            <a:off x="2290140" y="3586985"/>
            <a:ext cx="649910" cy="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6E4348-97F2-0A2C-AE3A-97CE69DABC47}"/>
              </a:ext>
            </a:extLst>
          </p:cNvPr>
          <p:cNvSpPr txBox="1"/>
          <p:nvPr/>
        </p:nvSpPr>
        <p:spPr>
          <a:xfrm>
            <a:off x="6475894" y="3205896"/>
            <a:ext cx="1535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Element</a:t>
            </a:r>
          </a:p>
          <a:p>
            <a:pPr algn="ctr"/>
            <a:r>
              <a:rPr lang="en-US" b="1" dirty="0"/>
              <a:t>Structural Matrix and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34DE6362-636E-242D-7344-94671B111976}"/>
                  </a:ext>
                </a:extLst>
              </p:cNvPr>
              <p:cNvSpPr txBox="1"/>
              <p:nvPr/>
            </p:nvSpPr>
            <p:spPr>
              <a:xfrm>
                <a:off x="2941324" y="3306544"/>
                <a:ext cx="1112837" cy="633619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34DE6362-636E-242D-7344-94671B111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324" y="3306544"/>
                <a:ext cx="1112837" cy="633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6F24603-246A-6F9A-C1CA-12BB0F17639C}"/>
              </a:ext>
            </a:extLst>
          </p:cNvPr>
          <p:cNvCxnSpPr>
            <a:cxnSpLocks/>
          </p:cNvCxnSpPr>
          <p:nvPr/>
        </p:nvCxnSpPr>
        <p:spPr>
          <a:xfrm flipV="1">
            <a:off x="995423" y="4524404"/>
            <a:ext cx="3843518" cy="4249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FE0148B-458E-43D1-8DC0-6B96EAD31CB4}"/>
              </a:ext>
            </a:extLst>
          </p:cNvPr>
          <p:cNvCxnSpPr>
            <a:cxnSpLocks/>
            <a:stCxn id="20" idx="3"/>
            <a:endCxn id="2" idx="0"/>
          </p:cNvCxnSpPr>
          <p:nvPr/>
        </p:nvCxnSpPr>
        <p:spPr>
          <a:xfrm>
            <a:off x="4054161" y="3623354"/>
            <a:ext cx="1231853" cy="5287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934B183-B11C-3DE9-313B-FFACD96F603D}"/>
              </a:ext>
            </a:extLst>
          </p:cNvPr>
          <p:cNvSpPr txBox="1"/>
          <p:nvPr/>
        </p:nvSpPr>
        <p:spPr>
          <a:xfrm>
            <a:off x="1365890" y="3085711"/>
            <a:ext cx="119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Decoder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0EE142-B8DB-F329-5D3C-FA61EC1CA1AB}"/>
              </a:ext>
            </a:extLst>
          </p:cNvPr>
          <p:cNvSpPr txBox="1"/>
          <p:nvPr/>
        </p:nvSpPr>
        <p:spPr>
          <a:xfrm>
            <a:off x="2844116" y="2718250"/>
            <a:ext cx="1193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Material Controls 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C7067DD-3D98-174A-D7B7-2FB29049955F}"/>
              </a:ext>
            </a:extLst>
          </p:cNvPr>
          <p:cNvCxnSpPr>
            <a:cxnSpLocks/>
          </p:cNvCxnSpPr>
          <p:nvPr/>
        </p:nvCxnSpPr>
        <p:spPr>
          <a:xfrm flipV="1">
            <a:off x="5873991" y="2920838"/>
            <a:ext cx="852048" cy="16035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43">
                <a:extLst>
                  <a:ext uri="{FF2B5EF4-FFF2-40B4-BE49-F238E27FC236}">
                    <a16:creationId xmlns:a16="http://schemas.microsoft.com/office/drawing/2014/main" id="{F171BC00-4018-707D-CF16-C582DA4663DF}"/>
                  </a:ext>
                </a:extLst>
              </p:cNvPr>
              <p:cNvSpPr txBox="1"/>
              <p:nvPr/>
            </p:nvSpPr>
            <p:spPr>
              <a:xfrm>
                <a:off x="9193895" y="2798981"/>
                <a:ext cx="1386103" cy="43066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Object 43">
                <a:extLst>
                  <a:ext uri="{FF2B5EF4-FFF2-40B4-BE49-F238E27FC236}">
                    <a16:creationId xmlns:a16="http://schemas.microsoft.com/office/drawing/2014/main" id="{F171BC00-4018-707D-CF16-C582DA466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895" y="2798981"/>
                <a:ext cx="1386103" cy="4306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042348F-D659-E142-7A25-CF16BD7063BE}"/>
              </a:ext>
            </a:extLst>
          </p:cNvPr>
          <p:cNvSpPr txBox="1"/>
          <p:nvPr/>
        </p:nvSpPr>
        <p:spPr>
          <a:xfrm>
            <a:off x="9036848" y="2375590"/>
            <a:ext cx="170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Displacement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1EE010-622D-E19B-BED5-1509B0E571F0}"/>
              </a:ext>
            </a:extLst>
          </p:cNvPr>
          <p:cNvCxnSpPr>
            <a:cxnSpLocks/>
          </p:cNvCxnSpPr>
          <p:nvPr/>
        </p:nvCxnSpPr>
        <p:spPr>
          <a:xfrm>
            <a:off x="161654" y="4949363"/>
            <a:ext cx="429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4636A84-774E-D439-FED5-F264C8956E63}"/>
              </a:ext>
            </a:extLst>
          </p:cNvPr>
          <p:cNvSpPr txBox="1"/>
          <p:nvPr/>
        </p:nvSpPr>
        <p:spPr>
          <a:xfrm>
            <a:off x="-174662" y="1004800"/>
            <a:ext cx="1523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Topology variables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09047F-38E9-CA7C-7EB1-8D2DD3F5BD49}"/>
              </a:ext>
            </a:extLst>
          </p:cNvPr>
          <p:cNvSpPr txBox="1"/>
          <p:nvPr/>
        </p:nvSpPr>
        <p:spPr>
          <a:xfrm>
            <a:off x="42592" y="3941682"/>
            <a:ext cx="1193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Material variables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E62292-29AC-C8E7-0C93-CD6629708A3F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733701" y="3002953"/>
            <a:ext cx="460194" cy="11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FBBDF3B-FBB0-38DF-7CC5-12873540E359}"/>
              </a:ext>
            </a:extLst>
          </p:cNvPr>
          <p:cNvSpPr txBox="1"/>
          <p:nvPr/>
        </p:nvSpPr>
        <p:spPr>
          <a:xfrm>
            <a:off x="215700" y="132745"/>
            <a:ext cx="5286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MMTO Structural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7C4D1B5A-014B-3D18-DE69-5D90D76113C0}"/>
                  </a:ext>
                </a:extLst>
              </p:cNvPr>
              <p:cNvSpPr txBox="1"/>
              <p:nvPr/>
            </p:nvSpPr>
            <p:spPr>
              <a:xfrm>
                <a:off x="6777368" y="2743100"/>
                <a:ext cx="1157927" cy="47708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𝑒𝑆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7C4D1B5A-014B-3D18-DE69-5D90D7611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368" y="2743100"/>
                <a:ext cx="1157927" cy="4770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CE91672-7F14-B2D2-0CBB-79E61A693D3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7705583" y="2960789"/>
            <a:ext cx="355309" cy="7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01D88638-1F51-5D8E-21AD-E703AFF754C8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2108793" y="3819767"/>
            <a:ext cx="665350" cy="34355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DCDDA09C-93E4-5A3C-7707-84016F7DCDFC}"/>
                  </a:ext>
                </a:extLst>
              </p:cNvPr>
              <p:cNvSpPr txBox="1"/>
              <p:nvPr/>
            </p:nvSpPr>
            <p:spPr>
              <a:xfrm>
                <a:off x="1593227" y="1885992"/>
                <a:ext cx="515937" cy="4577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DCDDA09C-93E4-5A3C-7707-84016F7DC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27" y="1885992"/>
                <a:ext cx="515937" cy="457736"/>
              </a:xfrm>
              <a:prstGeom prst="rect">
                <a:avLst/>
              </a:prstGeom>
              <a:blipFill>
                <a:blip r:embed="rId10"/>
                <a:stretch>
                  <a:fillRect l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DBE28781-74D2-830E-5F03-41C2F7A1DFFC}"/>
              </a:ext>
            </a:extLst>
          </p:cNvPr>
          <p:cNvSpPr txBox="1"/>
          <p:nvPr/>
        </p:nvSpPr>
        <p:spPr>
          <a:xfrm>
            <a:off x="1251855" y="2177485"/>
            <a:ext cx="1193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Body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bject 81">
                <a:extLst>
                  <a:ext uri="{FF2B5EF4-FFF2-40B4-BE49-F238E27FC236}">
                    <a16:creationId xmlns:a16="http://schemas.microsoft.com/office/drawing/2014/main" id="{B77E90F0-FF86-D7CC-6142-8B91FEF45061}"/>
                  </a:ext>
                </a:extLst>
              </p:cNvPr>
              <p:cNvSpPr txBox="1"/>
              <p:nvPr/>
            </p:nvSpPr>
            <p:spPr>
              <a:xfrm>
                <a:off x="4206201" y="5631340"/>
                <a:ext cx="468985" cy="38738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Object 81">
                <a:extLst>
                  <a:ext uri="{FF2B5EF4-FFF2-40B4-BE49-F238E27FC236}">
                    <a16:creationId xmlns:a16="http://schemas.microsoft.com/office/drawing/2014/main" id="{B77E90F0-FF86-D7CC-6142-8B91FEF45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01" y="5631340"/>
                <a:ext cx="468985" cy="387385"/>
              </a:xfrm>
              <a:prstGeom prst="rect">
                <a:avLst/>
              </a:prstGeom>
              <a:blipFill>
                <a:blip r:embed="rId11"/>
                <a:stretch>
                  <a:fillRect l="-3896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39EA086-0323-FF3A-D3F3-7DF5F39A4C3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675187" y="4406225"/>
            <a:ext cx="2568377" cy="14639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6486012-3029-57CC-8589-5DD704ECF05B}"/>
              </a:ext>
            </a:extLst>
          </p:cNvPr>
          <p:cNvSpPr txBox="1"/>
          <p:nvPr/>
        </p:nvSpPr>
        <p:spPr>
          <a:xfrm>
            <a:off x="3254784" y="6053987"/>
            <a:ext cx="2371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Thermo-Structural force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050ADCF-900B-EB0E-91D2-879D5F5C818A}"/>
              </a:ext>
            </a:extLst>
          </p:cNvPr>
          <p:cNvCxnSpPr>
            <a:cxnSpLocks/>
          </p:cNvCxnSpPr>
          <p:nvPr/>
        </p:nvCxnSpPr>
        <p:spPr>
          <a:xfrm flipV="1">
            <a:off x="910799" y="2117476"/>
            <a:ext cx="649910" cy="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E90944EF-2402-FC7D-B613-430D17092B78}"/>
              </a:ext>
            </a:extLst>
          </p:cNvPr>
          <p:cNvCxnSpPr>
            <a:cxnSpLocks/>
          </p:cNvCxnSpPr>
          <p:nvPr/>
        </p:nvCxnSpPr>
        <p:spPr>
          <a:xfrm>
            <a:off x="2396891" y="2095544"/>
            <a:ext cx="4885567" cy="4871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AA4AB0B7-2714-CBB0-66CF-69B12150AAD4}"/>
                  </a:ext>
                </a:extLst>
              </p:cNvPr>
              <p:cNvSpPr txBox="1"/>
              <p:nvPr/>
            </p:nvSpPr>
            <p:spPr>
              <a:xfrm>
                <a:off x="354380" y="1866676"/>
                <a:ext cx="478742" cy="457735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AA4AB0B7-2714-CBB0-66CF-69B12150A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80" y="1866676"/>
                <a:ext cx="478742" cy="457735"/>
              </a:xfrm>
              <a:prstGeom prst="rect">
                <a:avLst/>
              </a:prstGeom>
              <a:blipFill>
                <a:blip r:embed="rId12"/>
                <a:stretch>
                  <a:fillRect l="-24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51">
                <a:extLst>
                  <a:ext uri="{FF2B5EF4-FFF2-40B4-BE49-F238E27FC236}">
                    <a16:creationId xmlns:a16="http://schemas.microsoft.com/office/drawing/2014/main" id="{840AD432-F40F-B9C5-F3C3-6D6D7D5019CD}"/>
                  </a:ext>
                </a:extLst>
              </p:cNvPr>
              <p:cNvSpPr txBox="1"/>
              <p:nvPr/>
            </p:nvSpPr>
            <p:spPr>
              <a:xfrm>
                <a:off x="10882458" y="2770267"/>
                <a:ext cx="558800" cy="4867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bject 51">
                <a:extLst>
                  <a:ext uri="{FF2B5EF4-FFF2-40B4-BE49-F238E27FC236}">
                    <a16:creationId xmlns:a16="http://schemas.microsoft.com/office/drawing/2014/main" id="{840AD432-F40F-B9C5-F3C3-6D6D7D50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458" y="2770267"/>
                <a:ext cx="558800" cy="4867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26C0D85E-E57D-9D23-D52F-93674A36A6B1}"/>
              </a:ext>
            </a:extLst>
          </p:cNvPr>
          <p:cNvSpPr txBox="1"/>
          <p:nvPr/>
        </p:nvSpPr>
        <p:spPr>
          <a:xfrm>
            <a:off x="11019554" y="2770266"/>
            <a:ext cx="12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Stress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8A52B2-DEF5-C668-8588-666B341C2EF0}"/>
              </a:ext>
            </a:extLst>
          </p:cNvPr>
          <p:cNvSpPr txBox="1"/>
          <p:nvPr/>
        </p:nvSpPr>
        <p:spPr>
          <a:xfrm>
            <a:off x="10812659" y="4914895"/>
            <a:ext cx="1470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Element von Mises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5">
                <a:extLst>
                  <a:ext uri="{FF2B5EF4-FFF2-40B4-BE49-F238E27FC236}">
                    <a16:creationId xmlns:a16="http://schemas.microsoft.com/office/drawing/2014/main" id="{7EB7EBB1-BC9E-23D4-05B3-B88588F6BEC6}"/>
                  </a:ext>
                </a:extLst>
              </p:cNvPr>
              <p:cNvSpPr txBox="1"/>
              <p:nvPr/>
            </p:nvSpPr>
            <p:spPr>
              <a:xfrm>
                <a:off x="10887567" y="3748912"/>
                <a:ext cx="758825" cy="48795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𝑉𝑀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Object 55">
                <a:extLst>
                  <a:ext uri="{FF2B5EF4-FFF2-40B4-BE49-F238E27FC236}">
                    <a16:creationId xmlns:a16="http://schemas.microsoft.com/office/drawing/2014/main" id="{7EB7EBB1-BC9E-23D4-05B3-B88588F6B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567" y="3748912"/>
                <a:ext cx="758825" cy="4879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AB71480-045B-3CAE-6C49-FC3CE567F21B}"/>
              </a:ext>
            </a:extLst>
          </p:cNvPr>
          <p:cNvCxnSpPr>
            <a:cxnSpLocks/>
          </p:cNvCxnSpPr>
          <p:nvPr/>
        </p:nvCxnSpPr>
        <p:spPr>
          <a:xfrm>
            <a:off x="11104094" y="3270377"/>
            <a:ext cx="0" cy="439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6F9059D-1241-D31D-F680-7B1C7EA26E29}"/>
              </a:ext>
            </a:extLst>
          </p:cNvPr>
          <p:cNvCxnSpPr>
            <a:cxnSpLocks/>
            <a:stCxn id="2" idx="2"/>
            <a:endCxn id="82" idx="0"/>
          </p:cNvCxnSpPr>
          <p:nvPr/>
        </p:nvCxnSpPr>
        <p:spPr>
          <a:xfrm rot="5400000">
            <a:off x="4481660" y="4826985"/>
            <a:ext cx="763389" cy="8453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C01F2E2-73A1-BE54-8C9A-4B7EA79D44D0}"/>
              </a:ext>
            </a:extLst>
          </p:cNvPr>
          <p:cNvCxnSpPr>
            <a:cxnSpLocks/>
            <a:stCxn id="6" idx="0"/>
            <a:endCxn id="41" idx="0"/>
          </p:cNvCxnSpPr>
          <p:nvPr/>
        </p:nvCxnSpPr>
        <p:spPr>
          <a:xfrm rot="16200000" flipH="1">
            <a:off x="5426008" y="-2965582"/>
            <a:ext cx="903591" cy="10568107"/>
          </a:xfrm>
          <a:prstGeom prst="bentConnector3">
            <a:avLst>
              <a:gd name="adj1" fmla="val -252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2DD6E9-1EF8-49A0-2D8A-0423C5B9CEFB}"/>
              </a:ext>
            </a:extLst>
          </p:cNvPr>
          <p:cNvCxnSpPr>
            <a:cxnSpLocks/>
          </p:cNvCxnSpPr>
          <p:nvPr/>
        </p:nvCxnSpPr>
        <p:spPr>
          <a:xfrm>
            <a:off x="10452495" y="3014314"/>
            <a:ext cx="513292" cy="6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2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E84AE-DAAF-C951-0F09-D4C560D3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6FE0CA18-744C-5631-4BEF-5E1F2CD63BF2}"/>
                  </a:ext>
                </a:extLst>
              </p:cNvPr>
              <p:cNvSpPr txBox="1"/>
              <p:nvPr/>
            </p:nvSpPr>
            <p:spPr>
              <a:xfrm>
                <a:off x="3027633" y="2984775"/>
                <a:ext cx="3135584" cy="9761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𝑆𝐹𝐹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𝑉𝑀</m:t>
                                                  </m:r>
                                                </m:sup>
                                              </m:sSubSup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6FE0CA18-744C-5631-4BEF-5E1F2CD63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633" y="2984775"/>
                <a:ext cx="3135584" cy="9761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E32A26B-467B-EE21-877A-18683E4AE051}"/>
              </a:ext>
            </a:extLst>
          </p:cNvPr>
          <p:cNvSpPr txBox="1"/>
          <p:nvPr/>
        </p:nvSpPr>
        <p:spPr>
          <a:xfrm>
            <a:off x="215700" y="132745"/>
            <a:ext cx="4379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Quantities of Interest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42">
                <a:extLst>
                  <a:ext uri="{FF2B5EF4-FFF2-40B4-BE49-F238E27FC236}">
                    <a16:creationId xmlns:a16="http://schemas.microsoft.com/office/drawing/2014/main" id="{C1C1EE1E-CCF1-38EF-6C8C-21FFF48DF074}"/>
                  </a:ext>
                </a:extLst>
              </p:cNvPr>
              <p:cNvSpPr txBox="1"/>
              <p:nvPr/>
            </p:nvSpPr>
            <p:spPr>
              <a:xfrm>
                <a:off x="3085623" y="2149067"/>
                <a:ext cx="2103437" cy="42010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Object 42">
                <a:extLst>
                  <a:ext uri="{FF2B5EF4-FFF2-40B4-BE49-F238E27FC236}">
                    <a16:creationId xmlns:a16="http://schemas.microsoft.com/office/drawing/2014/main" id="{C1C1EE1E-CCF1-38EF-6C8C-21FFF48DF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623" y="2149067"/>
                <a:ext cx="2103437" cy="420107"/>
              </a:xfrm>
              <a:prstGeom prst="rect">
                <a:avLst/>
              </a:prstGeom>
              <a:blipFill>
                <a:blip r:embed="rId4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36AA962-4591-E1A0-3736-3E2E01228E2B}"/>
              </a:ext>
            </a:extLst>
          </p:cNvPr>
          <p:cNvSpPr txBox="1"/>
          <p:nvPr/>
        </p:nvSpPr>
        <p:spPr>
          <a:xfrm>
            <a:off x="-99776" y="2144539"/>
            <a:ext cx="3071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Structural Compliance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C927C5-7551-6D3E-BBF3-B6C310FE3ACB}"/>
              </a:ext>
            </a:extLst>
          </p:cNvPr>
          <p:cNvSpPr txBox="1"/>
          <p:nvPr/>
        </p:nvSpPr>
        <p:spPr>
          <a:xfrm>
            <a:off x="-84152" y="3228945"/>
            <a:ext cx="2826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Stress Failure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E3E02E23-947B-E9E3-D899-EA3F99CD37F4}"/>
                  </a:ext>
                </a:extLst>
              </p:cNvPr>
              <p:cNvSpPr txBox="1"/>
              <p:nvPr/>
            </p:nvSpPr>
            <p:spPr>
              <a:xfrm>
                <a:off x="3066373" y="1218669"/>
                <a:ext cx="1944688" cy="4668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E3E02E23-947B-E9E3-D899-EA3F99CD3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373" y="1218669"/>
                <a:ext cx="1944688" cy="466813"/>
              </a:xfrm>
              <a:prstGeom prst="rect">
                <a:avLst/>
              </a:prstGeom>
              <a:blipFill>
                <a:blip r:embed="rId5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A70541DA-A4AE-F3F9-E6B4-7F1BF7479A90}"/>
              </a:ext>
            </a:extLst>
          </p:cNvPr>
          <p:cNvSpPr txBox="1"/>
          <p:nvPr/>
        </p:nvSpPr>
        <p:spPr>
          <a:xfrm>
            <a:off x="-427120" y="1161660"/>
            <a:ext cx="3512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Thermal Compliance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60F548-B5A7-EC94-4F72-A57C73903EB6}"/>
              </a:ext>
            </a:extLst>
          </p:cNvPr>
          <p:cNvSpPr txBox="1"/>
          <p:nvPr/>
        </p:nvSpPr>
        <p:spPr>
          <a:xfrm>
            <a:off x="-84152" y="4313351"/>
            <a:ext cx="2826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Fatigue Failure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">
                <a:extLst>
                  <a:ext uri="{FF2B5EF4-FFF2-40B4-BE49-F238E27FC236}">
                    <a16:creationId xmlns:a16="http://schemas.microsoft.com/office/drawing/2014/main" id="{C8324962-D495-17A7-EC54-1143FE430117}"/>
                  </a:ext>
                </a:extLst>
              </p:cNvPr>
              <p:cNvSpPr txBox="1"/>
              <p:nvPr/>
            </p:nvSpPr>
            <p:spPr>
              <a:xfrm>
                <a:off x="3050512" y="4025349"/>
                <a:ext cx="3135584" cy="9761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𝐹𝐹𝐹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𝑉𝑀</m:t>
                                                  </m:r>
                                                </m:sup>
                                              </m:sSubSup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𝐹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bject 4">
                <a:extLst>
                  <a:ext uri="{FF2B5EF4-FFF2-40B4-BE49-F238E27FC236}">
                    <a16:creationId xmlns:a16="http://schemas.microsoft.com/office/drawing/2014/main" id="{C8324962-D495-17A7-EC54-1143FE430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12" y="4025349"/>
                <a:ext cx="3135584" cy="9761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93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A4A8-09BD-FEA3-B7F2-84C3505F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8083A-A226-0AD3-97EA-EE8F94035B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2902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AEE2C2B-A7B1-3819-3AFE-C32A916953F7}"/>
                  </a:ext>
                </a:extLst>
              </p:cNvPr>
              <p:cNvSpPr txBox="1"/>
              <p:nvPr/>
            </p:nvSpPr>
            <p:spPr>
              <a:xfrm>
                <a:off x="6918325" y="854075"/>
                <a:ext cx="3676650" cy="591820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Failure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factor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element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FF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approximated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want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Therefore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7AEE2C2B-A7B1-3819-3AFE-C32A91695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325" y="854075"/>
                <a:ext cx="3676650" cy="5918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90AA989B-5B01-9394-2DA3-73E519123D7B}"/>
                  </a:ext>
                </a:extLst>
              </p:cNvPr>
              <p:cNvSpPr txBox="1"/>
              <p:nvPr/>
            </p:nvSpPr>
            <p:spPr>
              <a:xfrm>
                <a:off x="324390" y="1358106"/>
                <a:ext cx="3082925" cy="491013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von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mises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want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Therefore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90AA989B-5B01-9394-2DA3-73E519123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0" y="1358106"/>
                <a:ext cx="3082925" cy="4910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11D2F7-E3C4-F7C4-5084-6655497F3293}"/>
              </a:ext>
            </a:extLst>
          </p:cNvPr>
          <p:cNvSpPr txBox="1"/>
          <p:nvPr/>
        </p:nvSpPr>
        <p:spPr>
          <a:xfrm>
            <a:off x="3407315" y="85725"/>
            <a:ext cx="537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 of stress failure factor to density variable</a:t>
            </a:r>
          </a:p>
        </p:txBody>
      </p:sp>
    </p:spTree>
    <p:extLst>
      <p:ext uri="{BB962C8B-B14F-4D97-AF65-F5344CB8AC3E}">
        <p14:creationId xmlns:p14="http://schemas.microsoft.com/office/powerpoint/2010/main" val="14807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3185-07C7-3FBD-B08D-AD0B0DB0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E91D1-6D5A-A5D1-3EFE-855A253E68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2902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C4A825C3-91EB-6C53-1025-66E1F8DF3214}"/>
                  </a:ext>
                </a:extLst>
              </p:cNvPr>
              <p:cNvSpPr txBox="1"/>
              <p:nvPr/>
            </p:nvSpPr>
            <p:spPr>
              <a:xfrm>
                <a:off x="6807200" y="854075"/>
                <a:ext cx="3898900" cy="591820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Failure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factor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element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FF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approximated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want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Let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Therefore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C4A825C3-91EB-6C53-1025-66E1F8DF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0" y="854075"/>
                <a:ext cx="3898900" cy="5918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B4A35AA-AEF1-6953-3AB6-FD8D639E31A7}"/>
              </a:ext>
            </a:extLst>
          </p:cNvPr>
          <p:cNvSpPr txBox="1"/>
          <p:nvPr/>
        </p:nvSpPr>
        <p:spPr>
          <a:xfrm>
            <a:off x="3910520" y="184826"/>
            <a:ext cx="5110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Sensitivity of stress failure factor to latent variable</a:t>
            </a:r>
          </a:p>
        </p:txBody>
      </p:sp>
    </p:spTree>
    <p:extLst>
      <p:ext uri="{BB962C8B-B14F-4D97-AF65-F5344CB8AC3E}">
        <p14:creationId xmlns:p14="http://schemas.microsoft.com/office/powerpoint/2010/main" val="1002233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4383</TotalTime>
  <Words>415</Words>
  <Application>Microsoft Office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Microsoft Sans Serif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Girish Deodhare</dc:creator>
  <cp:lastModifiedBy>Krishnan Suresh</cp:lastModifiedBy>
  <cp:revision>434</cp:revision>
  <dcterms:created xsi:type="dcterms:W3CDTF">2025-08-22T00:14:33Z</dcterms:created>
  <dcterms:modified xsi:type="dcterms:W3CDTF">2025-11-28T03:52:21Z</dcterms:modified>
</cp:coreProperties>
</file>