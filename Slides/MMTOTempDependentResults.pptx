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403" r:id="rId2"/>
    <p:sldId id="2383" r:id="rId3"/>
    <p:sldId id="2385" r:id="rId4"/>
    <p:sldId id="2384" r:id="rId5"/>
    <p:sldId id="2393" r:id="rId6"/>
    <p:sldId id="2402" r:id="rId7"/>
    <p:sldId id="2396" r:id="rId8"/>
    <p:sldId id="2404" r:id="rId9"/>
    <p:sldId id="2381" r:id="rId10"/>
    <p:sldId id="2392" r:id="rId11"/>
    <p:sldId id="2394" r:id="rId12"/>
    <p:sldId id="2395" r:id="rId13"/>
    <p:sldId id="2405" r:id="rId14"/>
    <p:sldId id="2398" r:id="rId15"/>
    <p:sldId id="2401" r:id="rId16"/>
    <p:sldId id="2397" r:id="rId17"/>
    <p:sldId id="2399" r:id="rId18"/>
    <p:sldId id="2400" r:id="rId19"/>
    <p:sldId id="240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834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E46DE-46F9-2E7B-1683-957A7C2F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E7A33-8011-18DA-804E-4F874BBA6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48D15F-C4B5-CED8-947D-D947D962C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3AFB7-C9BF-030A-0FB9-AB828EA3B8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65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792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55361-C014-2AD6-5B2F-6348C6DA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2099C1-8EB9-DCAC-2A7F-812C04D73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0C86C4-8D34-95FE-7C63-44B12DCF2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40C50-738A-CB4E-6012-1CEF0BC90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3907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665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B83F-554E-2C8F-69A9-33D1198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3893E-5391-FE5B-02F6-E6B64222F9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3B735-244E-EA04-5DEF-E49100870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839BE-8C6D-E8F0-F222-C61774493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3657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B776B-667A-8903-8714-F2C15AF3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45C33D-33B1-7684-94B3-AFD5C5803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AAED9-2096-8096-33F3-3B449C6DB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A87F2-898E-90FA-5A09-483C46CBD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299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43D1-4202-EC09-82EF-186187F74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E523F1-7C48-2D2F-917E-BD88AB9B4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9D4FF-AECE-1FD8-0D7C-683FB7506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7E4D3-4524-7D26-6AF8-2382769B6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10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CC4D1-7398-9706-97DF-45F64EAF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255D6F-DD8B-31FA-4BDA-6FF1E56DD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40E9E-EBE7-CD83-7226-88F876954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35A28-C2DD-9CFE-70E4-A7CEB3FED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67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3D92A-C809-88BD-DC73-33A94683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4DBD5-71B6-4625-ECED-B56420E4D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3F84F-708F-5EF3-75C2-F06BB48CD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47F62-3604-26CB-819A-E300EB7B9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38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D0A73-5D20-FB1E-1A74-8CFDB3FF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E1BD4-F01C-64CC-BF7E-FD9149514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CF540-2358-68A8-8D4D-E47CFBE3B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2D920-C0C3-F98F-5BFD-462D3B0F9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251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E7D17-FC19-5BC8-DE7B-2521B9E1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B65A8-24D6-F579-3153-E8A560FD4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95C11-7497-4B21-B82E-6A0F1616B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32726-47BB-9947-D9DE-7B4D7F7FE7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96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2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1.wmf"/><Relationship Id="rId4" Type="http://schemas.openxmlformats.org/officeDocument/2006/relationships/oleObject" Target="../embeddings/oleObject1.bin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F4CBB14-5163-3CAF-43FE-009FFE315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6835" y="2673753"/>
            <a:ext cx="9387069" cy="162657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Results and observations for </a:t>
            </a:r>
            <a:r>
              <a:rPr lang="en-US" b="1" dirty="0"/>
              <a:t>temperature-dependent</a:t>
            </a:r>
            <a:r>
              <a:rPr lang="en-US" dirty="0"/>
              <a:t> MMTO</a:t>
            </a:r>
            <a:br>
              <a:rPr lang="en-US" dirty="0"/>
            </a:br>
            <a:r>
              <a:rPr lang="en-US" dirty="0"/>
              <a:t>(both linear and non-linear thermal scenarios)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See MMTO_TempDependent_main.py</a:t>
            </a:r>
          </a:p>
        </p:txBody>
      </p:sp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CD4A1-2E39-6F08-5790-2A63FA49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F2B57892-BB59-A249-AAF2-B1F57CCDC1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3864377" y="439992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n-US" dirty="0"/>
              <a:t>FEDCON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6BB511B-5008-050C-138F-0A8518565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Material-Temperature Interpolation Schemes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787B40-E988-4B8A-C86B-C8DDD3F17558}"/>
              </a:ext>
            </a:extLst>
          </p:cNvPr>
          <p:cNvGraphicFramePr>
            <a:graphicFrameLocks noGrp="1"/>
          </p:cNvGraphicFramePr>
          <p:nvPr/>
        </p:nvGraphicFramePr>
        <p:xfrm>
          <a:off x="98424" y="871221"/>
          <a:ext cx="11887200" cy="5775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1188267077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169665259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310490042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342899678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128721402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Scheme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Cubic 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Hermite polynomial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Bezier Curve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Log Bezier Curve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851907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US" sz="1200" b="1" dirty="0"/>
                    </a:p>
                    <a:p>
                      <a:pPr algn="l"/>
                      <a:endParaRPr lang="en-US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3483837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Advantages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779074"/>
                  </a:ext>
                </a:extLst>
              </a:tr>
              <a:tr h="1660397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Drawbacks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481165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490B3DE-8217-BDCB-95B2-C8163D92FBE3}"/>
                  </a:ext>
                </a:extLst>
              </p:cNvPr>
              <p:cNvSpPr txBox="1"/>
              <p:nvPr/>
            </p:nvSpPr>
            <p:spPr>
              <a:xfrm>
                <a:off x="2181225" y="2792565"/>
                <a:ext cx="3000375" cy="312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</m:d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sSup>
                        <m:sSup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p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𝒃</m:t>
                      </m:r>
                      <m:sSup>
                        <m:sSup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p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𝒄𝑻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𝒅</m:t>
                      </m:r>
                    </m:oMath>
                  </m:oMathPara>
                </a14:m>
                <a:endParaRPr lang="en-US" sz="14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490B3DE-8217-BDCB-95B2-C8163D92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225" y="2792565"/>
                <a:ext cx="3000375" cy="3125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26BE76E-2839-7D9B-67FC-4BB424D814B8}"/>
              </a:ext>
            </a:extLst>
          </p:cNvPr>
          <p:cNvSpPr txBox="1"/>
          <p:nvPr/>
        </p:nvSpPr>
        <p:spPr>
          <a:xfrm>
            <a:off x="4852301" y="3829040"/>
            <a:ext cx="2487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4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avoid local minima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model use-temperature</a:t>
            </a:r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CDC6B427-22FA-E39A-A4F2-FF9BB068B4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75381" y="2268953"/>
          <a:ext cx="2314235" cy="7828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11200" imgH="545760" progId="Equation.DSMT4">
                  <p:embed/>
                </p:oleObj>
              </mc:Choice>
              <mc:Fallback>
                <p:oleObj name="Equation" r:id="rId4" imgW="2311200" imgH="545760" progId="Equation.DSMT4">
                  <p:embed/>
                  <p:pic>
                    <p:nvPicPr>
                      <p:cNvPr id="10" name="Object 9">
                        <a:extLst>
                          <a:ext uri="{FF2B5EF4-FFF2-40B4-BE49-F238E27FC236}">
                            <a16:creationId xmlns:a16="http://schemas.microsoft.com/office/drawing/2014/main" id="{CDC6B427-22FA-E39A-A4F2-FF9BB068B4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875381" y="2268953"/>
                        <a:ext cx="2314235" cy="7828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106B2D36-0D98-E5BF-CD7C-851D9519B4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56175" y="3054204"/>
          <a:ext cx="1648860" cy="5307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66680" imgH="342720" progId="Equation.DSMT4">
                  <p:embed/>
                </p:oleObj>
              </mc:Choice>
              <mc:Fallback>
                <p:oleObj name="Equation" r:id="rId6" imgW="1066680" imgH="342720" progId="Equation.DSMT4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106B2D36-0D98-E5BF-CD7C-851D9519B4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956175" y="3054204"/>
                        <a:ext cx="1648860" cy="53077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92ACEE4-462D-8C04-9F13-5F1B3FDF117A}"/>
              </a:ext>
            </a:extLst>
          </p:cNvPr>
          <p:cNvSpPr txBox="1"/>
          <p:nvPr/>
        </p:nvSpPr>
        <p:spPr>
          <a:xfrm>
            <a:off x="7339699" y="3584980"/>
            <a:ext cx="212545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4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avoid local minima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Coefficients represent real physical quantities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B970E2-845C-B9F3-DA47-B07B9B581924}"/>
              </a:ext>
            </a:extLst>
          </p:cNvPr>
          <p:cNvSpPr txBox="1"/>
          <p:nvPr/>
        </p:nvSpPr>
        <p:spPr>
          <a:xfrm>
            <a:off x="7337001" y="4969975"/>
            <a:ext cx="212545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Coefficients vary by large orders of magnitude for large gradient with respect to temperature.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Hence: Best for thermal conductivity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13E32-3CE7-0D65-0AFD-BD98A5AC4AB3}"/>
              </a:ext>
            </a:extLst>
          </p:cNvPr>
          <p:cNvSpPr txBox="1"/>
          <p:nvPr/>
        </p:nvSpPr>
        <p:spPr>
          <a:xfrm>
            <a:off x="9659963" y="4969975"/>
            <a:ext cx="212545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Not suited for small gradients with respect to temperature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Hence: Best for elastic modulus and yield strength</a:t>
            </a:r>
          </a:p>
          <a:p>
            <a:endParaRPr lang="en-US" sz="1400" dirty="0">
              <a:solidFill>
                <a:srgbClr val="FF0000"/>
              </a:solidFill>
            </a:endParaRPr>
          </a:p>
          <a:p>
            <a:endParaRPr lang="en-US" sz="1400" b="1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E8294-8FD2-B9D8-4FDB-C22FCC87D960}"/>
              </a:ext>
            </a:extLst>
          </p:cNvPr>
          <p:cNvSpPr txBox="1"/>
          <p:nvPr/>
        </p:nvSpPr>
        <p:spPr>
          <a:xfrm>
            <a:off x="9659963" y="3584980"/>
            <a:ext cx="212545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4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avoid local minima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B050"/>
                </a:solidFill>
              </a:rPr>
              <a:t>Best for large gradients and hence max use temp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77A469-D9D3-CF57-B27F-1ECD44BD0C31}"/>
              </a:ext>
            </a:extLst>
          </p:cNvPr>
          <p:cNvSpPr txBox="1"/>
          <p:nvPr/>
        </p:nvSpPr>
        <p:spPr>
          <a:xfrm>
            <a:off x="2511189" y="3641500"/>
            <a:ext cx="20000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Most simple interpolation scheme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Coefficients represent real physical quantities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05923-25B7-B2BB-54B4-EC3B685122C8}"/>
              </a:ext>
            </a:extLst>
          </p:cNvPr>
          <p:cNvSpPr txBox="1"/>
          <p:nvPr/>
        </p:nvSpPr>
        <p:spPr>
          <a:xfrm>
            <a:off x="2508491" y="4980563"/>
            <a:ext cx="2000015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Leads to local minima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Enforcing max use temperature implicitly is difficult due to coefficient scaling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DBC1E3-0A4A-6694-9BE4-36973A8055D0}"/>
              </a:ext>
            </a:extLst>
          </p:cNvPr>
          <p:cNvSpPr txBox="1"/>
          <p:nvPr/>
        </p:nvSpPr>
        <p:spPr>
          <a:xfrm>
            <a:off x="4791497" y="5046918"/>
            <a:ext cx="2482002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Cannot effectively capture large gradients of elastic modulus and yield strength with respect to 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Non-physical parameters (slopes </a:t>
            </a:r>
            <a:r>
              <a:rPr lang="en-US" sz="1400" dirty="0" err="1"/>
              <a:t>etc</a:t>
            </a:r>
            <a:r>
              <a:rPr lang="en-US" sz="1400" dirty="0"/>
              <a:t>)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B8E433-24EC-3410-50EE-7FBB3DA0A7BE}"/>
                  </a:ext>
                </a:extLst>
              </p:cNvPr>
              <p:cNvSpPr txBox="1"/>
              <p:nvPr/>
            </p:nvSpPr>
            <p:spPr>
              <a:xfrm>
                <a:off x="7273499" y="2268953"/>
                <a:ext cx="2314235" cy="1211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/>
                  <a:t>M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200" b="1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200" b="1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d>
                      <m:d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200" b="1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  <m:r>
                      <a:rPr lang="en-US" sz="12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b="1" dirty="0"/>
              </a:p>
              <a:p>
                <a:endParaRPr lang="en-US" sz="12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12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𝒎𝒊𝒏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2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sub>
                          </m:sSub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𝒎𝒊𝒏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2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d>
                        <m:d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sz="1200" b="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e>
                        <m:sup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B8E433-24EC-3410-50EE-7FBB3DA0A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3499" y="2268953"/>
                <a:ext cx="2314235" cy="1211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3C3130-ADC6-97B1-14DA-1DD79EF4026D}"/>
                  </a:ext>
                </a:extLst>
              </p:cNvPr>
              <p:cNvSpPr txBox="1"/>
              <p:nvPr/>
            </p:nvSpPr>
            <p:spPr>
              <a:xfrm>
                <a:off x="9587734" y="2266933"/>
                <a:ext cx="230661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Smooth cubic </a:t>
                </a:r>
                <a:r>
                  <a:rPr lang="en-US" sz="1600" dirty="0" err="1"/>
                  <a:t>Bézier</a:t>
                </a:r>
                <a:r>
                  <a:rPr lang="en-US" sz="1600" dirty="0"/>
                  <a:t> curve in log₁₀-space.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b="1" dirty="0"/>
                  <a:t>Input: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.</m:t>
                    </m:r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b="1" dirty="0"/>
                  <a:t>Output: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𝑙𝑜𝑔𝐵𝑒𝑧𝑖𝑒𝑟</m:t>
                        </m:r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</m:sup>
                    </m:sSup>
                  </m:oMath>
                </a14:m>
                <a:endParaRPr lang="en-US" sz="16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3C3130-ADC6-97B1-14DA-1DD79EF40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7734" y="2266933"/>
                <a:ext cx="2306610" cy="1569660"/>
              </a:xfrm>
              <a:prstGeom prst="rect">
                <a:avLst/>
              </a:prstGeom>
              <a:blipFill>
                <a:blip r:embed="rId9"/>
                <a:stretch>
                  <a:fillRect l="-1058" t="-1167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3357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build="allAtOnce"/>
      <p:bldP spid="13" grpId="0"/>
      <p:bldP spid="14" grpId="0"/>
      <p:bldP spid="15" grpId="0"/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03CCF-F11B-97F0-1ED7-AC4B731FAA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Fitting log-Bezier curve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F0475-8924-7E7D-94DA-23D8B5F7B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137537"/>
            <a:ext cx="10501922" cy="116688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16AB91D-8DB0-CB97-8ECE-AD1FF2C89726}"/>
              </a:ext>
            </a:extLst>
          </p:cNvPr>
          <p:cNvSpPr/>
          <p:nvPr/>
        </p:nvSpPr>
        <p:spPr>
          <a:xfrm>
            <a:off x="9820275" y="1028700"/>
            <a:ext cx="1062647" cy="14254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DD8885-0CC8-E3D3-1DDD-0CD62088F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79" y="2677888"/>
            <a:ext cx="5184782" cy="40094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9119CA-8A1E-9C95-A1E2-7AE65ECD2E35}"/>
              </a:ext>
            </a:extLst>
          </p:cNvPr>
          <p:cNvSpPr txBox="1"/>
          <p:nvPr/>
        </p:nvSpPr>
        <p:spPr>
          <a:xfrm>
            <a:off x="5927185" y="2827571"/>
            <a:ext cx="46767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E(7068 Al): </a:t>
            </a:r>
            <a:r>
              <a:rPr lang="en-US" sz="2000" dirty="0"/>
              <a:t>3 orders of  magnitude drop at 600. Discourages use at high temperatures</a:t>
            </a:r>
          </a:p>
        </p:txBody>
      </p:sp>
    </p:spTree>
    <p:extLst>
      <p:ext uri="{BB962C8B-B14F-4D97-AF65-F5344CB8AC3E}">
        <p14:creationId xmlns:p14="http://schemas.microsoft.com/office/powerpoint/2010/main" val="89450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89873-C57C-C6C2-9E42-3A228F755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AFBBDC02-B68D-515C-70ED-48D6E63AD0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159652" y="6366509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n-US" dirty="0"/>
              <a:t>FEDCON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B7F82496-98BB-DA22-CB83-62FC7CEB23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BDE73B-5606-2F9D-7A4D-B66A07BC6FDC}"/>
              </a:ext>
            </a:extLst>
          </p:cNvPr>
          <p:cNvSpPr txBox="1"/>
          <p:nvPr/>
        </p:nvSpPr>
        <p:spPr>
          <a:xfrm>
            <a:off x="264058" y="982299"/>
            <a:ext cx="116638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/>
              <a:t>Use </a:t>
            </a:r>
            <a:r>
              <a:rPr lang="en-US" sz="2400" b="1" dirty="0"/>
              <a:t>standard (cubic) Bezier </a:t>
            </a:r>
            <a:r>
              <a:rPr lang="en-US" sz="2400" dirty="0"/>
              <a:t>for material properties such as </a:t>
            </a:r>
            <a:r>
              <a:rPr lang="en-US" sz="2400" b="1" dirty="0"/>
              <a:t>conductivity (K) </a:t>
            </a:r>
            <a:r>
              <a:rPr lang="en-US" sz="2400" dirty="0"/>
              <a:t>, that do not vary by orders of magnitude over working temperature</a:t>
            </a:r>
          </a:p>
          <a:p>
            <a:pPr marL="457200" indent="-457200">
              <a:buAutoNum type="arabicPeriod"/>
            </a:pPr>
            <a:endParaRPr lang="en-US" sz="2400" dirty="0"/>
          </a:p>
          <a:p>
            <a:pPr marL="457200" indent="-457200">
              <a:buFontTx/>
              <a:buAutoNum type="arabicPeriod"/>
            </a:pPr>
            <a:r>
              <a:rPr lang="en-US" sz="2400" dirty="0"/>
              <a:t>Use </a:t>
            </a:r>
            <a:r>
              <a:rPr lang="en-US" sz="2400" b="1" dirty="0"/>
              <a:t>(cubic) Log-Bezier </a:t>
            </a:r>
            <a:r>
              <a:rPr lang="en-US" sz="2400" dirty="0"/>
              <a:t>for material properties such as </a:t>
            </a:r>
            <a:r>
              <a:rPr lang="en-US" sz="2400" b="1" dirty="0"/>
              <a:t>E and Y</a:t>
            </a:r>
            <a:r>
              <a:rPr lang="en-US" sz="2400" dirty="0"/>
              <a:t>, that vary by orders of magnitude over working temperature</a:t>
            </a:r>
          </a:p>
          <a:p>
            <a:pPr marL="457200" indent="-457200">
              <a:buFontTx/>
              <a:buAutoNum type="arabicPeriod"/>
            </a:pPr>
            <a:endParaRPr lang="en-US" sz="2400" dirty="0"/>
          </a:p>
          <a:p>
            <a:pPr marL="457200" indent="-457200">
              <a:buFontTx/>
              <a:buAutoNum type="arabicPeriod"/>
            </a:pPr>
            <a:r>
              <a:rPr lang="en-US" sz="2400" dirty="0"/>
              <a:t>For both, provide 4 parameters: </a:t>
            </a:r>
            <a:r>
              <a:rPr lang="en-US" sz="2400" b="1" dirty="0"/>
              <a:t>M0, M1, M2, M3</a:t>
            </a:r>
            <a:r>
              <a:rPr lang="en-US" sz="2400" dirty="0"/>
              <a:t>, that best match the data using the Bezier or log-Bezier curve, </a:t>
            </a:r>
            <a:r>
              <a:rPr lang="en-US" sz="2400"/>
              <a:t>as appropriate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48165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17E4E-F9CF-332D-B426-98BB3C230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25F00-855C-9993-40CE-A5DE1ABABA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8DFDD62-0E32-6E82-BD12-06D9825F4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Material: </a:t>
            </a:r>
            <a:r>
              <a:rPr lang="en-US" dirty="0" err="1"/>
              <a:t>DataVaryingTemperature</a:t>
            </a:r>
            <a:r>
              <a:rPr lang="en-US" dirty="0"/>
              <a:t>/3MaterialsTempDependent.xlsx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6006D1-AB20-2C9B-E484-CD43DE025578}"/>
              </a:ext>
            </a:extLst>
          </p:cNvPr>
          <p:cNvSpPr txBox="1"/>
          <p:nvPr/>
        </p:nvSpPr>
        <p:spPr>
          <a:xfrm>
            <a:off x="24642" y="961000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attributes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D74625-E3BD-660B-9C75-D2CE4C4F8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2" y="3250863"/>
            <a:ext cx="3802827" cy="2804743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66030CC5-EC78-D6F5-392D-BAB555B69B80}"/>
              </a:ext>
            </a:extLst>
          </p:cNvPr>
          <p:cNvSpPr/>
          <p:nvPr/>
        </p:nvSpPr>
        <p:spPr>
          <a:xfrm rot="16200000">
            <a:off x="3772046" y="534318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130244-6D8E-6EAB-B374-307626F75635}"/>
              </a:ext>
            </a:extLst>
          </p:cNvPr>
          <p:cNvSpPr txBox="1"/>
          <p:nvPr/>
        </p:nvSpPr>
        <p:spPr>
          <a:xfrm>
            <a:off x="3103123" y="1029807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FB0BB55-51E5-FC9B-BB1A-1C1759A8AB45}"/>
              </a:ext>
            </a:extLst>
          </p:cNvPr>
          <p:cNvSpPr/>
          <p:nvPr/>
        </p:nvSpPr>
        <p:spPr>
          <a:xfrm rot="16200000">
            <a:off x="6245393" y="477012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F8393-334A-C96E-98D3-409900BC09E6}"/>
              </a:ext>
            </a:extLst>
          </p:cNvPr>
          <p:cNvSpPr txBox="1"/>
          <p:nvPr/>
        </p:nvSpPr>
        <p:spPr>
          <a:xfrm>
            <a:off x="5576470" y="972501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C37343C6-A368-01AD-493B-D27ACAA88BE5}"/>
              </a:ext>
            </a:extLst>
          </p:cNvPr>
          <p:cNvSpPr/>
          <p:nvPr/>
        </p:nvSpPr>
        <p:spPr>
          <a:xfrm rot="16200000">
            <a:off x="8667608" y="435857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5D70B3-4D0B-B99D-D6C8-D31495338AB5}"/>
              </a:ext>
            </a:extLst>
          </p:cNvPr>
          <p:cNvSpPr txBox="1"/>
          <p:nvPr/>
        </p:nvSpPr>
        <p:spPr>
          <a:xfrm>
            <a:off x="8020210" y="914833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F60A53-8E79-A4A0-F47E-0846BF567619}"/>
              </a:ext>
            </a:extLst>
          </p:cNvPr>
          <p:cNvSpPr txBox="1"/>
          <p:nvPr/>
        </p:nvSpPr>
        <p:spPr>
          <a:xfrm>
            <a:off x="9996303" y="999372"/>
            <a:ext cx="1196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Max use temp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B9ECC18-B429-B495-CA1D-C7E9E77E2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544" y="3107978"/>
            <a:ext cx="4031489" cy="30336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22B7A2-53FF-844F-92BB-8CE1AFACB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109" y="3069829"/>
            <a:ext cx="4163357" cy="31668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B30ECE-F9AB-2F82-B564-BF04EC403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3501" y="1829317"/>
            <a:ext cx="12192000" cy="9906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9E3B27-6150-1276-EF74-EB2A21E941FE}"/>
              </a:ext>
            </a:extLst>
          </p:cNvPr>
          <p:cNvSpPr txBox="1"/>
          <p:nvPr/>
        </p:nvSpPr>
        <p:spPr>
          <a:xfrm>
            <a:off x="1530698" y="28815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E(T)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E598-FFCD-DA8C-BF45-D2D7E54D9345}"/>
              </a:ext>
            </a:extLst>
          </p:cNvPr>
          <p:cNvSpPr txBox="1"/>
          <p:nvPr/>
        </p:nvSpPr>
        <p:spPr>
          <a:xfrm>
            <a:off x="5737625" y="277816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Y(T)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0EE723-EA9E-F37D-E9FF-0D923ECCE86D}"/>
              </a:ext>
            </a:extLst>
          </p:cNvPr>
          <p:cNvSpPr txBox="1"/>
          <p:nvPr/>
        </p:nvSpPr>
        <p:spPr>
          <a:xfrm>
            <a:off x="9900982" y="2870257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K(T)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D32C4-4E52-DEDD-CDB3-D97E03103824}"/>
              </a:ext>
            </a:extLst>
          </p:cNvPr>
          <p:cNvSpPr txBox="1"/>
          <p:nvPr/>
        </p:nvSpPr>
        <p:spPr>
          <a:xfrm>
            <a:off x="222645" y="6213772"/>
            <a:ext cx="11746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 steep drop in E and Y dissuades the optimizer from using 7068 Al at high temperatures</a:t>
            </a:r>
          </a:p>
        </p:txBody>
      </p:sp>
    </p:spTree>
    <p:extLst>
      <p:ext uri="{BB962C8B-B14F-4D97-AF65-F5344CB8AC3E}">
        <p14:creationId xmlns:p14="http://schemas.microsoft.com/office/powerpoint/2010/main" val="728101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559E-5A41-81E3-3708-79648CE5D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9F2DA8-BD79-62E1-04D5-8755ACD3B5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4B39436-CCB4-D1E2-0C9F-A62C609D48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Latent Space Accuracy and Computational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7C206-7BB1-FA5F-D685-1F326BE84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88" y="1135058"/>
            <a:ext cx="3838095" cy="4257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C1C8B9-07A7-2DB4-7776-E93DB3D71754}"/>
              </a:ext>
            </a:extLst>
          </p:cNvPr>
          <p:cNvSpPr txBox="1"/>
          <p:nvPr/>
        </p:nvSpPr>
        <p:spPr>
          <a:xfrm>
            <a:off x="4916462" y="2940463"/>
            <a:ext cx="3314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All attribute reconstruction errors are less than 0.02%</a:t>
            </a:r>
          </a:p>
        </p:txBody>
      </p:sp>
    </p:spTree>
    <p:extLst>
      <p:ext uri="{BB962C8B-B14F-4D97-AF65-F5344CB8AC3E}">
        <p14:creationId xmlns:p14="http://schemas.microsoft.com/office/powerpoint/2010/main" val="17612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382EE-4DD5-AC3C-34AD-39EFBF94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DE274-243D-0CA6-5AFC-F37C1AC1AB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129175" y="5613199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EBC48CA-9DFD-1F0A-F5DF-5365B2644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2E8DE8-EF3A-D09D-520F-91EFB053D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01335"/>
            <a:ext cx="5557772" cy="45769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9D887D-872F-9BE8-3502-B1C72D872558}"/>
              </a:ext>
            </a:extLst>
          </p:cNvPr>
          <p:cNvSpPr txBox="1"/>
          <p:nvPr/>
        </p:nvSpPr>
        <p:spPr>
          <a:xfrm>
            <a:off x="1909241" y="984307"/>
            <a:ext cx="2422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E0 Latent Space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2D43E05-388B-66E1-AAC3-F9CC778EC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924" y="1401334"/>
            <a:ext cx="5646502" cy="45769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51CDC-CC67-8B66-AEDE-74E6B29C8127}"/>
              </a:ext>
            </a:extLst>
          </p:cNvPr>
          <p:cNvSpPr txBox="1"/>
          <p:nvPr/>
        </p:nvSpPr>
        <p:spPr>
          <a:xfrm>
            <a:off x="7672590" y="967775"/>
            <a:ext cx="2422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E1 Latent Space</a:t>
            </a:r>
          </a:p>
        </p:txBody>
      </p:sp>
    </p:spTree>
    <p:extLst>
      <p:ext uri="{BB962C8B-B14F-4D97-AF65-F5344CB8AC3E}">
        <p14:creationId xmlns:p14="http://schemas.microsoft.com/office/powerpoint/2010/main" val="10962577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807-4203-5EFC-076F-9FD7B166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4D00DF-FA5D-5062-ED1E-02D70A7A1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294CFC7-9CC0-B7DB-3603-1D41FE476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 err="1"/>
              <a:t>Lbracket</a:t>
            </a:r>
            <a:r>
              <a:rPr lang="en-US" dirty="0"/>
              <a:t> Structural and Thermal Problems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98CED5-8369-EAD1-39EF-8537290BF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39" y="2414926"/>
            <a:ext cx="4846740" cy="38103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D177B7-4E1E-2DC4-95D7-03E4E482E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117" y="1988652"/>
            <a:ext cx="4302089" cy="4198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777948-CAFC-2066-AD00-9A80BBA8FD73}"/>
              </a:ext>
            </a:extLst>
          </p:cNvPr>
          <p:cNvSpPr txBox="1"/>
          <p:nvPr/>
        </p:nvSpPr>
        <p:spPr>
          <a:xfrm>
            <a:off x="7134035" y="1951734"/>
            <a:ext cx="97709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50 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E2A4-0E70-81E2-0676-56D467481FC5}"/>
              </a:ext>
            </a:extLst>
          </p:cNvPr>
          <p:cNvSpPr txBox="1"/>
          <p:nvPr/>
        </p:nvSpPr>
        <p:spPr>
          <a:xfrm>
            <a:off x="9901002" y="3950759"/>
            <a:ext cx="97709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1000 C</a:t>
            </a:r>
          </a:p>
        </p:txBody>
      </p:sp>
    </p:spTree>
    <p:extLst>
      <p:ext uri="{BB962C8B-B14F-4D97-AF65-F5344CB8AC3E}">
        <p14:creationId xmlns:p14="http://schemas.microsoft.com/office/powerpoint/2010/main" val="2308628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85D25-A985-5F79-194C-F342A5E87DEA}"/>
              </a:ext>
            </a:extLst>
          </p:cNvPr>
          <p:cNvSpPr txBox="1"/>
          <p:nvPr/>
        </p:nvSpPr>
        <p:spPr>
          <a:xfrm>
            <a:off x="381000" y="1104606"/>
            <a:ext cx="8052071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A76F48-6B0E-BF15-85D6-79D1575DE589}"/>
              </a:ext>
            </a:extLst>
          </p:cNvPr>
          <p:cNvSpPr txBox="1"/>
          <p:nvPr/>
        </p:nvSpPr>
        <p:spPr>
          <a:xfrm>
            <a:off x="381000" y="1368141"/>
            <a:ext cx="6515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Linear thermal (i.e., conductivity is assumed to be constant = K0)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6B5933-0563-6313-25EC-F1F1DC93A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0799" y="4594586"/>
            <a:ext cx="2743200" cy="2030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CB43CEA-93F3-A280-0660-1EB86E695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938" y="1961714"/>
            <a:ext cx="3214921" cy="2352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40E77D-07BD-0483-F644-37F7F1635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0" y="1961714"/>
            <a:ext cx="3293620" cy="25296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220A3F1-8DB0-098B-2690-BF138F3354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795570"/>
            <a:ext cx="4385553" cy="95716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DD3BB6-6D16-E781-8AD2-DA5228FB212E}"/>
              </a:ext>
            </a:extLst>
          </p:cNvPr>
          <p:cNvSpPr txBox="1"/>
          <p:nvPr/>
        </p:nvSpPr>
        <p:spPr>
          <a:xfrm>
            <a:off x="9293293" y="1552807"/>
            <a:ext cx="2038210" cy="671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BAF067-4C46-64C0-F219-81D02FA281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2571" y="2001008"/>
            <a:ext cx="3116511" cy="2301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0E5B6-73C4-DB31-5AC8-8490CB74A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1026F2-ED68-E585-2ECC-9A371200A6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A0AC8653-9B97-4272-51EE-A9FE4436B2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080C5-F77D-60E1-CDA0-738478DFE126}"/>
              </a:ext>
            </a:extLst>
          </p:cNvPr>
          <p:cNvSpPr txBox="1"/>
          <p:nvPr/>
        </p:nvSpPr>
        <p:spPr>
          <a:xfrm>
            <a:off x="381000" y="1025481"/>
            <a:ext cx="8052071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436832-3398-91A7-55C7-B41E1A8105CA}"/>
              </a:ext>
            </a:extLst>
          </p:cNvPr>
          <p:cNvSpPr txBox="1"/>
          <p:nvPr/>
        </p:nvSpPr>
        <p:spPr>
          <a:xfrm>
            <a:off x="381000" y="1410012"/>
            <a:ext cx="627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Non-Linear thermal (i.e., conductivity is also temp dependent)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5E4870-5E88-1C40-8FEF-63CCE119D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599" y="2125440"/>
            <a:ext cx="3628571" cy="22666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2ED7E6-D958-5901-1F0C-79937CE09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89" y="5078657"/>
            <a:ext cx="4885714" cy="11142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B34008-87E6-092F-C64D-D801468B6FA8}"/>
              </a:ext>
            </a:extLst>
          </p:cNvPr>
          <p:cNvSpPr txBox="1"/>
          <p:nvPr/>
        </p:nvSpPr>
        <p:spPr>
          <a:xfrm>
            <a:off x="167178" y="6362302"/>
            <a:ext cx="4523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adds 30% to computational time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9FE24F-0B15-1941-28E3-0A8C630FD278}"/>
              </a:ext>
            </a:extLst>
          </p:cNvPr>
          <p:cNvSpPr txBox="1"/>
          <p:nvPr/>
        </p:nvSpPr>
        <p:spPr>
          <a:xfrm>
            <a:off x="9033751" y="1575553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054D95-3891-CBD5-4B07-7FB36FC5E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87" y="2125440"/>
            <a:ext cx="3514286" cy="24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9117AD-E45D-46FF-FF5C-FC52ABCAD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0276" y="2125440"/>
            <a:ext cx="2952381" cy="23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619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82D2B-2DDB-23E2-B36A-89826C20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A3B781-456A-6E2A-7EE7-C7D9BBA723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0A365960-1B7A-D298-8F24-088EF488F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30FB44-1DFB-BA1F-AA88-38EC239EF060}"/>
              </a:ext>
            </a:extLst>
          </p:cNvPr>
          <p:cNvSpPr txBox="1"/>
          <p:nvPr/>
        </p:nvSpPr>
        <p:spPr>
          <a:xfrm>
            <a:off x="381000" y="1368141"/>
            <a:ext cx="6515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Linear thermal (i.e., conductivity is assumed to be constant = K0)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BDD72D-C275-464B-4100-B7D915AF1542}"/>
              </a:ext>
            </a:extLst>
          </p:cNvPr>
          <p:cNvSpPr txBox="1"/>
          <p:nvPr/>
        </p:nvSpPr>
        <p:spPr>
          <a:xfrm>
            <a:off x="5993360" y="4907395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475156-FD84-949B-31CB-C787277FC634}"/>
              </a:ext>
            </a:extLst>
          </p:cNvPr>
          <p:cNvSpPr txBox="1"/>
          <p:nvPr/>
        </p:nvSpPr>
        <p:spPr>
          <a:xfrm>
            <a:off x="381000" y="986944"/>
            <a:ext cx="863681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5A0585-85A6-D6F2-4688-14E6446A7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571" y="2319033"/>
            <a:ext cx="3542857" cy="2180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0F1FC-5604-94A3-61AC-2D7EB0D17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57" y="2319476"/>
            <a:ext cx="2933333" cy="22190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FB1AAD-D6AC-1042-E64B-3DF8BFE6E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07" y="4747567"/>
            <a:ext cx="4952381" cy="1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83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FD678-47D5-F04C-7996-4B1B8BB2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771A68-6AF9-9A97-A304-5E7B66DC407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4C9DFB8-A8BC-AE0C-4996-4B6AEC8F6E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2b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5F99DF-8559-9CE2-98FD-31F11569E87A}"/>
              </a:ext>
            </a:extLst>
          </p:cNvPr>
          <p:cNvSpPr txBox="1"/>
          <p:nvPr/>
        </p:nvSpPr>
        <p:spPr>
          <a:xfrm>
            <a:off x="5993360" y="4907395"/>
            <a:ext cx="2217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 elements exceed temperature limit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5033E9-AC60-3CC8-DA1A-461160D5224B}"/>
              </a:ext>
            </a:extLst>
          </p:cNvPr>
          <p:cNvSpPr txBox="1"/>
          <p:nvPr/>
        </p:nvSpPr>
        <p:spPr>
          <a:xfrm>
            <a:off x="381000" y="986944"/>
            <a:ext cx="863681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B9A661-874C-1344-7183-8305226E3876}"/>
              </a:ext>
            </a:extLst>
          </p:cNvPr>
          <p:cNvSpPr txBox="1"/>
          <p:nvPr/>
        </p:nvSpPr>
        <p:spPr>
          <a:xfrm>
            <a:off x="381000" y="1410012"/>
            <a:ext cx="6270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thermal (i.e., conductivity is also temp dependent)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E1415-A9C0-F61B-EA21-FBC7003A0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405" y="2172979"/>
            <a:ext cx="3238095" cy="2180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26DEF8-70E8-7124-20D4-A48D770AA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747566"/>
            <a:ext cx="4971429" cy="127619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0AFBD22-25B8-E7FF-0130-3394F6B66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480" y="2303129"/>
            <a:ext cx="3228571" cy="2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092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7E50F-5C0B-502A-2AD9-45F082F79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F52368-9862-943F-98BB-8E28D38A6B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136B64C4-42A0-B17F-57CD-83A2B4050D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9CAEC4-170B-DAA5-6FC1-E0BFB247E8BC}"/>
              </a:ext>
            </a:extLst>
          </p:cNvPr>
          <p:cNvSpPr txBox="1"/>
          <p:nvPr/>
        </p:nvSpPr>
        <p:spPr>
          <a:xfrm>
            <a:off x="8414427" y="1119619"/>
            <a:ext cx="3698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0.1% elements exceed temperature limit (needs additional filtering)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F73952-AE5E-B2CB-142E-47EBF77205E8}"/>
              </a:ext>
            </a:extLst>
          </p:cNvPr>
          <p:cNvSpPr txBox="1"/>
          <p:nvPr/>
        </p:nvSpPr>
        <p:spPr>
          <a:xfrm>
            <a:off x="0" y="4906256"/>
            <a:ext cx="5554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Optimizer avoid aluminum in high temperature regions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096ABE-2E96-C775-623C-EB7C719534A5}"/>
              </a:ext>
            </a:extLst>
          </p:cNvPr>
          <p:cNvSpPr txBox="1"/>
          <p:nvPr/>
        </p:nvSpPr>
        <p:spPr>
          <a:xfrm>
            <a:off x="120243" y="976439"/>
            <a:ext cx="882055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LBracket_Stress_MassCompliance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DC58CF-42A1-0143-DD0E-C865F83F2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3314" y="1903567"/>
            <a:ext cx="3550014" cy="22893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BED180-CEBB-A1A9-0202-7C789E251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11" y="5417348"/>
            <a:ext cx="4809524" cy="13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12A0E4-F7C6-E9C1-467B-247815F50B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11" y="1903567"/>
            <a:ext cx="3809524" cy="30190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AD2331-EF8A-EED3-F5EB-CF3EDCD83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476" y="1698710"/>
            <a:ext cx="3476190" cy="287619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BE88EC3-3E4C-074F-BFB2-61A7098F2B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8817" y="4330540"/>
            <a:ext cx="3476190" cy="258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622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49253-AEA9-67B5-7D19-B2C1BB06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B7B17F-8035-E4F7-C010-3ED32FE0FA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324259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2888050-E696-26FD-B07D-F1DA9562F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Material: </a:t>
            </a:r>
            <a:r>
              <a:rPr lang="en-US" dirty="0" err="1"/>
              <a:t>DataVaryingTemperature</a:t>
            </a:r>
            <a:r>
              <a:rPr lang="en-US" dirty="0"/>
              <a:t>/6MaterialsTempDependent.xlsx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0ED8D1-99BC-7818-9F7A-DFBDB02CF5EF}"/>
              </a:ext>
            </a:extLst>
          </p:cNvPr>
          <p:cNvSpPr txBox="1"/>
          <p:nvPr/>
        </p:nvSpPr>
        <p:spPr>
          <a:xfrm>
            <a:off x="24642" y="961000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6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attributes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58068B97-87D4-4A02-9E03-C600E07AF89F}"/>
              </a:ext>
            </a:extLst>
          </p:cNvPr>
          <p:cNvSpPr/>
          <p:nvPr/>
        </p:nvSpPr>
        <p:spPr>
          <a:xfrm rot="16200000">
            <a:off x="3772046" y="534318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4B1A05-7F71-AA83-6ABC-3C5985FFB818}"/>
              </a:ext>
            </a:extLst>
          </p:cNvPr>
          <p:cNvSpPr txBox="1"/>
          <p:nvPr/>
        </p:nvSpPr>
        <p:spPr>
          <a:xfrm>
            <a:off x="3103123" y="1029807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4D656828-AE42-1718-779A-16C9DA2FF029}"/>
              </a:ext>
            </a:extLst>
          </p:cNvPr>
          <p:cNvSpPr/>
          <p:nvPr/>
        </p:nvSpPr>
        <p:spPr>
          <a:xfrm rot="16200000">
            <a:off x="6245393" y="477012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F245A9-FB9A-4C44-C85A-FB8629814DF0}"/>
              </a:ext>
            </a:extLst>
          </p:cNvPr>
          <p:cNvSpPr txBox="1"/>
          <p:nvPr/>
        </p:nvSpPr>
        <p:spPr>
          <a:xfrm>
            <a:off x="5576470" y="972501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5FED8EE8-78C4-0E90-327F-6D7D569DB13E}"/>
              </a:ext>
            </a:extLst>
          </p:cNvPr>
          <p:cNvSpPr/>
          <p:nvPr/>
        </p:nvSpPr>
        <p:spPr>
          <a:xfrm rot="16200000">
            <a:off x="8667608" y="435857"/>
            <a:ext cx="291537" cy="22227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983C1-395F-3C60-C404-5676E59B8473}"/>
              </a:ext>
            </a:extLst>
          </p:cNvPr>
          <p:cNvSpPr txBox="1"/>
          <p:nvPr/>
        </p:nvSpPr>
        <p:spPr>
          <a:xfrm>
            <a:off x="7898963" y="949579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F7D6D7-E693-BE95-D627-90893EB94657}"/>
              </a:ext>
            </a:extLst>
          </p:cNvPr>
          <p:cNvSpPr txBox="1"/>
          <p:nvPr/>
        </p:nvSpPr>
        <p:spPr>
          <a:xfrm>
            <a:off x="10995602" y="949579"/>
            <a:ext cx="1196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Max use temp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15DBC0-0AB0-A837-BDD3-240E55810F82}"/>
              </a:ext>
            </a:extLst>
          </p:cNvPr>
          <p:cNvSpPr txBox="1"/>
          <p:nvPr/>
        </p:nvSpPr>
        <p:spPr>
          <a:xfrm>
            <a:off x="1540878" y="305966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E(T)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22779E-0F4E-2584-B52E-67D25D8CD809}"/>
              </a:ext>
            </a:extLst>
          </p:cNvPr>
          <p:cNvSpPr txBox="1"/>
          <p:nvPr/>
        </p:nvSpPr>
        <p:spPr>
          <a:xfrm>
            <a:off x="5747805" y="29563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Y(T)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8F3E0C-72D5-CC2B-09F4-E8F730FCDA0B}"/>
              </a:ext>
            </a:extLst>
          </p:cNvPr>
          <p:cNvSpPr txBox="1"/>
          <p:nvPr/>
        </p:nvSpPr>
        <p:spPr>
          <a:xfrm>
            <a:off x="9711608" y="2875002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K(T)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2A7799-E665-0508-BE78-D4901CF4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2" y="1775947"/>
            <a:ext cx="12103856" cy="15807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3809F-4498-5EAF-F9EA-F94B0360D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2" y="3647813"/>
            <a:ext cx="3654614" cy="273487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CCB6B6-FFB1-5071-636F-C3A8D22E4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9255" y="3620448"/>
            <a:ext cx="3833136" cy="285478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ABFA5E3-FCE2-CF50-B0C4-9FE5951987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903" y="3706549"/>
            <a:ext cx="3649097" cy="27489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00D2D26-B40A-E28E-423D-3A364FD24728}"/>
              </a:ext>
            </a:extLst>
          </p:cNvPr>
          <p:cNvSpPr txBox="1"/>
          <p:nvPr/>
        </p:nvSpPr>
        <p:spPr>
          <a:xfrm>
            <a:off x="1205909" y="3394218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E(T)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8D4E65-5114-DE2F-5AE4-ED27E3FD0BDE}"/>
              </a:ext>
            </a:extLst>
          </p:cNvPr>
          <p:cNvSpPr txBox="1"/>
          <p:nvPr/>
        </p:nvSpPr>
        <p:spPr>
          <a:xfrm>
            <a:off x="5239332" y="3356724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Y(T)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1C929C-3CDD-462E-1684-A2022C0898F0}"/>
              </a:ext>
            </a:extLst>
          </p:cNvPr>
          <p:cNvSpPr txBox="1"/>
          <p:nvPr/>
        </p:nvSpPr>
        <p:spPr>
          <a:xfrm>
            <a:off x="9924762" y="3368145"/>
            <a:ext cx="158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Captures K(T)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EBA44B-D5D6-03D0-6327-A6C9D7C2EFEB}"/>
              </a:ext>
            </a:extLst>
          </p:cNvPr>
          <p:cNvSpPr txBox="1"/>
          <p:nvPr/>
        </p:nvSpPr>
        <p:spPr>
          <a:xfrm>
            <a:off x="781742" y="6441123"/>
            <a:ext cx="9932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 steep drop in E and Y dissuades the optimizer from using some materials at high temperatures</a:t>
            </a:r>
          </a:p>
        </p:txBody>
      </p:sp>
    </p:spTree>
    <p:extLst>
      <p:ext uri="{BB962C8B-B14F-4D97-AF65-F5344CB8AC3E}">
        <p14:creationId xmlns:p14="http://schemas.microsoft.com/office/powerpoint/2010/main" val="1339667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AFA08-09AB-0730-4B62-80D6DF18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E6A686-1423-F9E8-FA50-5BD76CD0E1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6D629A3-E080-0512-7AA9-6E2990D4B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Latent Space Accuracy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963-4A72-D9D0-E235-ECC14336A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989764"/>
            <a:ext cx="5506883" cy="57418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A96BCA-0943-40C9-9D78-D4B6129A4AAD}"/>
              </a:ext>
            </a:extLst>
          </p:cNvPr>
          <p:cNvSpPr txBox="1"/>
          <p:nvPr/>
        </p:nvSpPr>
        <p:spPr>
          <a:xfrm>
            <a:off x="6998181" y="2938302"/>
            <a:ext cx="33142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All attribute reconstruction errors are less than 0.1%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Training takes about 4 minutes.</a:t>
            </a:r>
          </a:p>
        </p:txBody>
      </p:sp>
    </p:spTree>
    <p:extLst>
      <p:ext uri="{BB962C8B-B14F-4D97-AF65-F5344CB8AC3E}">
        <p14:creationId xmlns:p14="http://schemas.microsoft.com/office/powerpoint/2010/main" val="1354079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C716-A279-FE58-C315-E8F688C67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DC64E-D59B-B022-5E59-2DAF65548B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6AF962D-7AD7-0F67-D54C-64AC542BE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57D66F-B187-024F-CE3B-38B3025B6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14" y="1362181"/>
            <a:ext cx="6326465" cy="51402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B26563-04CD-FF0C-6110-03FEB2294280}"/>
              </a:ext>
            </a:extLst>
          </p:cNvPr>
          <p:cNvSpPr txBox="1"/>
          <p:nvPr/>
        </p:nvSpPr>
        <p:spPr>
          <a:xfrm>
            <a:off x="3146205" y="107024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1EF97D-71F2-0C65-8B22-E357F0D55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679" y="1362181"/>
            <a:ext cx="5732321" cy="48461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679D8DD-F5ED-9395-7CD0-613317794465}"/>
              </a:ext>
            </a:extLst>
          </p:cNvPr>
          <p:cNvSpPr txBox="1"/>
          <p:nvPr/>
        </p:nvSpPr>
        <p:spPr>
          <a:xfrm>
            <a:off x="8909211" y="113134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E1</a:t>
            </a:r>
          </a:p>
        </p:txBody>
      </p:sp>
    </p:spTree>
    <p:extLst>
      <p:ext uri="{BB962C8B-B14F-4D97-AF65-F5344CB8AC3E}">
        <p14:creationId xmlns:p14="http://schemas.microsoft.com/office/powerpoint/2010/main" val="186458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7251-FD65-CF96-53AA-76D502701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66B6DD-5118-41C8-E1CC-5AAD2BC4E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DFEC319-A7D3-F90A-265C-4E07813FB1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4a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F105B-DE88-CE40-8FB9-4F898B88E619}"/>
              </a:ext>
            </a:extLst>
          </p:cNvPr>
          <p:cNvSpPr txBox="1"/>
          <p:nvPr/>
        </p:nvSpPr>
        <p:spPr>
          <a:xfrm>
            <a:off x="280685" y="1330201"/>
            <a:ext cx="1677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Linear thermal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8E942-6ADF-4E77-06A8-C4E4CB71DAD1}"/>
              </a:ext>
            </a:extLst>
          </p:cNvPr>
          <p:cNvSpPr txBox="1"/>
          <p:nvPr/>
        </p:nvSpPr>
        <p:spPr>
          <a:xfrm>
            <a:off x="280685" y="1037150"/>
            <a:ext cx="8319303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B49620D-81F9-85CC-5B32-7E386354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375" y="2113786"/>
            <a:ext cx="3183038" cy="233484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022C4C-ADCA-6454-BE78-25D90ABC6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96" y="4966639"/>
            <a:ext cx="5349704" cy="11964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1655AC-A191-762A-F534-67D441C7A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96" y="1959029"/>
            <a:ext cx="3945529" cy="27122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57D98B-2362-BD19-E478-22F4DB118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036" y="2010409"/>
            <a:ext cx="3838337" cy="26094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29ED78-EDB8-FAF2-65C7-0067A33104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0879" y="4511256"/>
            <a:ext cx="3183039" cy="234674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D6F3D9F-2F00-BBA9-3C73-81880A4905A8}"/>
              </a:ext>
            </a:extLst>
          </p:cNvPr>
          <p:cNvSpPr txBox="1"/>
          <p:nvPr/>
        </p:nvSpPr>
        <p:spPr>
          <a:xfrm>
            <a:off x="902825" y="1863524"/>
            <a:ext cx="187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Young’s modulus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913C89-11A7-E09E-67EE-63F4FB60D95B}"/>
              </a:ext>
            </a:extLst>
          </p:cNvPr>
          <p:cNvSpPr txBox="1"/>
          <p:nvPr/>
        </p:nvSpPr>
        <p:spPr>
          <a:xfrm>
            <a:off x="9361994" y="1728457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 Use Temp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7C177-3A1B-BD40-28A2-6DDBD3EA675C}"/>
              </a:ext>
            </a:extLst>
          </p:cNvPr>
          <p:cNvSpPr txBox="1"/>
          <p:nvPr/>
        </p:nvSpPr>
        <p:spPr>
          <a:xfrm>
            <a:off x="5155130" y="1774363"/>
            <a:ext cx="143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0904AD-16F8-9235-4AA1-D61458C26FF7}"/>
              </a:ext>
            </a:extLst>
          </p:cNvPr>
          <p:cNvSpPr txBox="1"/>
          <p:nvPr/>
        </p:nvSpPr>
        <p:spPr>
          <a:xfrm>
            <a:off x="5685100" y="5274370"/>
            <a:ext cx="3067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0.2% elements exceed temperature limit (additional filtering needed)</a:t>
            </a:r>
          </a:p>
        </p:txBody>
      </p:sp>
    </p:spTree>
    <p:extLst>
      <p:ext uri="{BB962C8B-B14F-4D97-AF65-F5344CB8AC3E}">
        <p14:creationId xmlns:p14="http://schemas.microsoft.com/office/powerpoint/2010/main" val="1174046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20926-E43A-C426-BABD-84F2FFD1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FED218-251E-7502-CF75-A4983F0E4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1A7B5990-846F-BCE8-1113-C451659A4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4b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5A414E-6D77-E3B9-D429-7F3E8E4D0180}"/>
              </a:ext>
            </a:extLst>
          </p:cNvPr>
          <p:cNvSpPr txBox="1"/>
          <p:nvPr/>
        </p:nvSpPr>
        <p:spPr>
          <a:xfrm>
            <a:off x="280685" y="1330201"/>
            <a:ext cx="2093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NonLinear</a:t>
            </a:r>
            <a:r>
              <a:rPr lang="en-US" dirty="0">
                <a:highlight>
                  <a:srgbClr val="FFFF00"/>
                </a:highlight>
              </a:rPr>
              <a:t> thermal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AA858-9806-CE4B-20D1-6F60BBDB2211}"/>
              </a:ext>
            </a:extLst>
          </p:cNvPr>
          <p:cNvSpPr txBox="1"/>
          <p:nvPr/>
        </p:nvSpPr>
        <p:spPr>
          <a:xfrm>
            <a:off x="280685" y="1037150"/>
            <a:ext cx="8319303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0AA497-B07E-3C9C-F2BA-B5E4F98EB349}"/>
              </a:ext>
            </a:extLst>
          </p:cNvPr>
          <p:cNvSpPr txBox="1"/>
          <p:nvPr/>
        </p:nvSpPr>
        <p:spPr>
          <a:xfrm>
            <a:off x="902825" y="1863524"/>
            <a:ext cx="187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Young’s modulus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8C5E9D-5092-117B-E5DA-F1F66BF72AC7}"/>
              </a:ext>
            </a:extLst>
          </p:cNvPr>
          <p:cNvSpPr txBox="1"/>
          <p:nvPr/>
        </p:nvSpPr>
        <p:spPr>
          <a:xfrm>
            <a:off x="9382375" y="1838162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 Use Temp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D1DDFC-05E7-94EB-9558-A3DCF3B8DC10}"/>
              </a:ext>
            </a:extLst>
          </p:cNvPr>
          <p:cNvSpPr txBox="1"/>
          <p:nvPr/>
        </p:nvSpPr>
        <p:spPr>
          <a:xfrm>
            <a:off x="5155130" y="1774363"/>
            <a:ext cx="143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C15286-C717-66F6-979F-216BA3971860}"/>
              </a:ext>
            </a:extLst>
          </p:cNvPr>
          <p:cNvSpPr txBox="1"/>
          <p:nvPr/>
        </p:nvSpPr>
        <p:spPr>
          <a:xfrm>
            <a:off x="8463667" y="1128032"/>
            <a:ext cx="369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0.2% elements exceed temperature limit (additional filtering needed)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E04258-C4F8-2F01-1CE9-C1E070770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88" y="2201155"/>
            <a:ext cx="3183039" cy="22264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6D8394-9B93-D752-4F8D-216BB2051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85" y="4970774"/>
            <a:ext cx="5326842" cy="12269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8F6A04-6A75-36E5-9D6B-F097C83F7A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39" y="2258783"/>
            <a:ext cx="3804977" cy="26779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46DC00-6D5A-0ED8-2792-540053720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8881" y="2143695"/>
            <a:ext cx="3609683" cy="27762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6306AC-9E68-7441-E89D-396F9E1ED4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9988" y="4294298"/>
            <a:ext cx="3501989" cy="25637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19093C6-238C-7668-A03D-2BCC7093BCE5}"/>
              </a:ext>
            </a:extLst>
          </p:cNvPr>
          <p:cNvSpPr txBox="1"/>
          <p:nvPr/>
        </p:nvSpPr>
        <p:spPr>
          <a:xfrm>
            <a:off x="167188" y="6259403"/>
            <a:ext cx="6558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MMTO with 130,000 degrees of freedom in 22 mins   </a:t>
            </a:r>
          </a:p>
        </p:txBody>
      </p:sp>
    </p:spTree>
    <p:extLst>
      <p:ext uri="{BB962C8B-B14F-4D97-AF65-F5344CB8AC3E}">
        <p14:creationId xmlns:p14="http://schemas.microsoft.com/office/powerpoint/2010/main" val="14545728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B29D6-EBDA-673D-7A46-31100B813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397EB5-B0C9-4FC0-DB88-59D7066A1F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CB81529-9EDE-7A97-46D3-A66FDCC6A8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D6A46B-8341-2FA8-B279-B97FA8929AFB}"/>
              </a:ext>
            </a:extLst>
          </p:cNvPr>
          <p:cNvSpPr txBox="1"/>
          <p:nvPr/>
        </p:nvSpPr>
        <p:spPr>
          <a:xfrm>
            <a:off x="280685" y="1338908"/>
            <a:ext cx="6637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NonLinear</a:t>
            </a:r>
            <a:r>
              <a:rPr lang="en-US" dirty="0">
                <a:highlight>
                  <a:srgbClr val="FFFF00"/>
                </a:highlight>
              </a:rPr>
              <a:t> thermal with Stress, Mass, Compliance and Criticality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75C653-C128-51DA-2A6B-47202AEA948B}"/>
              </a:ext>
            </a:extLst>
          </p:cNvPr>
          <p:cNvSpPr txBox="1"/>
          <p:nvPr/>
        </p:nvSpPr>
        <p:spPr>
          <a:xfrm>
            <a:off x="902825" y="1863524"/>
            <a:ext cx="187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Young’s modulus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22C386-BF33-BD25-D9A5-A80C32212983}"/>
              </a:ext>
            </a:extLst>
          </p:cNvPr>
          <p:cNvSpPr txBox="1"/>
          <p:nvPr/>
        </p:nvSpPr>
        <p:spPr>
          <a:xfrm>
            <a:off x="9382375" y="1838162"/>
            <a:ext cx="1618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 Use Temp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1EA0B5-2DDC-B38A-5408-BDA5B68083A9}"/>
              </a:ext>
            </a:extLst>
          </p:cNvPr>
          <p:cNvSpPr txBox="1"/>
          <p:nvPr/>
        </p:nvSpPr>
        <p:spPr>
          <a:xfrm>
            <a:off x="5155130" y="1774363"/>
            <a:ext cx="143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64336-6A68-0FC6-DF36-F54C1BC846CA}"/>
              </a:ext>
            </a:extLst>
          </p:cNvPr>
          <p:cNvSpPr txBox="1"/>
          <p:nvPr/>
        </p:nvSpPr>
        <p:spPr>
          <a:xfrm>
            <a:off x="8463667" y="1204858"/>
            <a:ext cx="3697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1% elements exceed temperature limit (additional filtering needed)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F1ADC-1C3E-9B78-38DD-C7A4957B63AC}"/>
              </a:ext>
            </a:extLst>
          </p:cNvPr>
          <p:cNvSpPr txBox="1"/>
          <p:nvPr/>
        </p:nvSpPr>
        <p:spPr>
          <a:xfrm>
            <a:off x="134769" y="6107088"/>
            <a:ext cx="6558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Non-linear MMTO with 130,000 DOF in 34 mins.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Additional iterations needed for convergence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025179-1B2B-5F02-1F4F-5C1DAEE92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2857" y="2271293"/>
            <a:ext cx="2108638" cy="16881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D8B4AB-83F1-FC4B-18B5-292F6F768E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8" y="2149367"/>
            <a:ext cx="3138631" cy="21419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1735D1-BF26-EED4-9DDF-C10FDA73F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783" y="2232856"/>
            <a:ext cx="3138632" cy="20673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CC92BA-1669-C456-4312-D57976927C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4622" y="4161132"/>
            <a:ext cx="3582221" cy="2615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C4A9514-D81F-072C-1E77-AF89B1AD3A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1229" y="4660024"/>
            <a:ext cx="4409524" cy="125714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DC4A947-163E-F246-5B90-2E8D159F7D76}"/>
              </a:ext>
            </a:extLst>
          </p:cNvPr>
          <p:cNvSpPr txBox="1"/>
          <p:nvPr/>
        </p:nvSpPr>
        <p:spPr>
          <a:xfrm>
            <a:off x="261229" y="903005"/>
            <a:ext cx="6104106" cy="465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MMTOTempDependentExamples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BliskSection_Stress_MassComplianceCriticality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008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3005</TotalTime>
  <Words>801</Words>
  <Application>Microsoft Office PowerPoint</Application>
  <PresentationFormat>Widescreen</PresentationFormat>
  <Paragraphs>160</Paragraphs>
  <Slides>19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Consolas</vt:lpstr>
      <vt:lpstr>Microsoft Sans Serif</vt:lpstr>
      <vt:lpstr>Tahoma</vt:lpstr>
      <vt:lpstr>Office Theme</vt:lpstr>
      <vt:lpstr>Equation</vt:lpstr>
      <vt:lpstr>Results and observations for temperature-dependent MMTO (both linear and non-linear thermal scenarios)  See MMTO_TempDependent_main.py</vt:lpstr>
      <vt:lpstr>Material-Temperature Interpolation Schemes</vt:lpstr>
      <vt:lpstr>Fitting log-Bezier curve</vt:lpstr>
      <vt:lpstr>Summary</vt:lpstr>
      <vt:lpstr>Material: DataVaryingTemperature/3MaterialsTempDependent.xlsx</vt:lpstr>
      <vt:lpstr>Latent Space Accuracy and Computational Time</vt:lpstr>
      <vt:lpstr>Sample Latent Spaces</vt:lpstr>
      <vt:lpstr>Lbracket Structural and Thermal Problems</vt:lpstr>
      <vt:lpstr>Example 1a</vt:lpstr>
      <vt:lpstr>Example 1b</vt:lpstr>
      <vt:lpstr>Example 2a</vt:lpstr>
      <vt:lpstr>Example 2b</vt:lpstr>
      <vt:lpstr>Example 3</vt:lpstr>
      <vt:lpstr>Material: DataVaryingTemperature/6MaterialsTempDependent.xlsx</vt:lpstr>
      <vt:lpstr>Latent Space Accuracy</vt:lpstr>
      <vt:lpstr>Sample Latent Spaces</vt:lpstr>
      <vt:lpstr>Example 4a</vt:lpstr>
      <vt:lpstr>Example 4b</vt:lpstr>
      <vt:lpstr>Example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342</cp:revision>
  <dcterms:created xsi:type="dcterms:W3CDTF">2025-08-22T00:14:33Z</dcterms:created>
  <dcterms:modified xsi:type="dcterms:W3CDTF">2025-10-23T15:35:29Z</dcterms:modified>
</cp:coreProperties>
</file>