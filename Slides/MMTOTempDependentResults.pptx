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403" r:id="rId2"/>
    <p:sldId id="2393" r:id="rId3"/>
    <p:sldId id="2402" r:id="rId4"/>
    <p:sldId id="2396" r:id="rId5"/>
    <p:sldId id="2381" r:id="rId6"/>
    <p:sldId id="2392" r:id="rId7"/>
    <p:sldId id="2394" r:id="rId8"/>
    <p:sldId id="2395" r:id="rId9"/>
    <p:sldId id="2398" r:id="rId10"/>
    <p:sldId id="2401" r:id="rId11"/>
    <p:sldId id="2397" r:id="rId12"/>
    <p:sldId id="2399" r:id="rId13"/>
    <p:sldId id="240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66" d="100"/>
          <a:sy n="66" d="100"/>
        </p:scale>
        <p:origin x="1147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7BC63F-E652-456B-B880-2F318D1A1929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865DCE-AB5F-46FA-B07C-E9C2FA202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691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3E921-FB76-0F4E-CF67-342D99434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B462-56C8-46A7-CCE8-306B8EEB49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38E72-6F95-C42B-2756-4A763FFE7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7CD1C-4385-157B-93D0-0E661B20C0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7389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7924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55361-C014-2AD6-5B2F-6348C6DA9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2099C1-8EB9-DCAC-2A7F-812C04D73C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0C86C4-8D34-95FE-7C63-44B12DCF20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E40C50-738A-CB4E-6012-1CEF0BC902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3907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6652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B776B-667A-8903-8714-F2C15AF37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45C33D-33B1-7684-94B3-AFD5C58030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BAAED9-2096-8096-33F3-3B449C6DB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2A87F2-898E-90FA-5A09-483C46CBD2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7299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C43D1-4202-EC09-82EF-186187F74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E523F1-7C48-2D2F-917E-BD88AB9B4E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69D4FF-AECE-1FD8-0D7C-683FB7506E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97E4D3-4524-7D26-6AF8-2382769B6D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1097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CC4D1-7398-9706-97DF-45F64EAF6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255D6F-DD8B-31FA-4BDA-6FF1E56DD6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740E9E-EBE7-CD83-7226-88F876954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335A28-C2DD-9CFE-70E4-A7CEB3FED1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1670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3D92A-C809-88BD-DC73-33A94683F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B4DBD5-71B6-4625-ECED-B56420E4DD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B3F84F-708F-5EF3-75C2-F06BB48CD6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C47F62-3604-26CB-819A-E300EB7B93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5381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D0A73-5D20-FB1E-1A74-8CFDB3FFF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BE1BD4-F01C-64CC-BF7E-FD9149514D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BCF540-2358-68A8-8D4D-E47CFBE3B3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2D920-C0C3-F98F-5BFD-462D3B0F94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251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72511-8B4B-89B2-7667-C1A25FE9A4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457D6-580D-82D3-E580-E61C708944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77E62-71C6-AFF0-22D5-88BD1F6CB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3C5DB-1A12-E644-E213-B4575442B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71BF5-C276-C51F-4B7F-954EF3C00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0322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2FEB0-96DE-174B-31AC-320FF7846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0E04DB-3DA6-15DA-E034-BE11140091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9C104-193F-E0BE-58A8-6DC26F3F3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19851-23A2-FF77-90D2-5D3FEC231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460BCF-CCA8-7064-2EA7-F9FB3794F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637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3FD85-33A4-04FF-6164-4454A6EF0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659931-0FB0-9171-CE3C-BC670C1B54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38012E-8400-632B-410D-2C764CF85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F6E2F-C8DB-9479-FA52-D89E612C1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A68E0-3AC3-220F-2B51-864908E71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1735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24EA7-01EB-8AA0-5619-F7B06E99E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63D5C6-E7F3-439D-AD89-E25D2AE7B0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ECEC15-2409-2B4D-7825-527ECED6D1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C0BE98-26E3-8D23-2350-A972AF042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B4D656-0C5B-DB07-918B-DADD9F43C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B6BE08-19A6-93E7-3B2E-21539D3D7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228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E3B1B-6C89-87D8-783D-B713F8617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C31DBE-318B-BC02-EEFD-BED880323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011DAC-C51C-7526-13CD-2D6E8802BE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B6EC80-94EF-E5FB-23DF-E07B491C74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3F387F-C489-B6EC-60EE-C909DE9C4B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3241A0-BBA5-D8DB-4325-C4A831E5C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7F47EB-B808-F09F-8D01-39CBA84F1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AF9359-2E83-1D5B-F061-07361D46D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185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B900D-A811-EF23-F8A1-AE51FD316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5C503C-9176-CF2C-06B9-AF2927797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1AC571-50BE-21AA-C729-3C307B600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4C2DE-5563-9201-1C47-E7A2C401E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945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257C9E-18D9-B611-A4D6-8D33A880A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CC2DD6-7065-FCDF-24EB-B20321847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67D967-DDE3-9040-0478-2DD991DC0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84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777CE-FD57-4B95-2DAC-0442441A9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FB0C6-5D43-3005-F1B8-21555EE33A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A82AED-BEC1-5525-E364-1A3C16006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14F75D-BCD9-A48B-87A2-C6A429C1A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151453-1C7C-1FFA-397A-F31403A04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DE4D9C-02BA-1B5A-9AE7-8E2107AFC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82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C4D4B-5366-92C3-59D3-50693A5C9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76B78B-A2EC-CC14-A349-AA9CED2699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4CEE1C-A1A2-74C9-635D-E50FB46307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604D90-842D-3201-CDD6-2632892F3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D0DCF2-BA1B-93B5-BF7F-BD819610B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6CDDCA-2A6B-422F-8DC0-DC603D236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16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B9F7D-AE69-CC47-6713-526C186F0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578506-2A5C-CBFA-A31D-233EBCE54D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5E65F3-5A9B-7557-97C0-F1A8EFE6F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AD7616-AC41-CCA5-FB5E-65C3926CC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38FC5-380A-AB24-5631-87E5424F7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520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2248E9-D3C7-6BE2-CF1D-C050F25E23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2620F-CEC7-B36C-E0A5-A318BEEF35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513526-2001-C706-E871-1DC40D4FA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2EE5C3-8F04-ADDB-3339-5E49968D8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8ADB9-B500-1797-4DA5-BA053642D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3376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_and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Distribution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5" name="Content Placeholder 10"/>
          <p:cNvSpPr>
            <a:spLocks noGrp="1"/>
          </p:cNvSpPr>
          <p:nvPr>
            <p:ph sz="quarter" idx="13"/>
          </p:nvPr>
        </p:nvSpPr>
        <p:spPr>
          <a:xfrm>
            <a:off x="381000" y="1143000"/>
            <a:ext cx="11252200" cy="5334000"/>
          </a:xfrm>
        </p:spPr>
        <p:txBody>
          <a:bodyPr/>
          <a:lstStyle>
            <a:lvl1pPr marL="342900" indent="-342900">
              <a:buFont typeface="Arial" pitchFamily="34" charset="0"/>
              <a:buChar char="•"/>
              <a:defRPr sz="1800">
                <a:latin typeface="Tahoma" pitchFamily="34" charset="0"/>
                <a:ea typeface="Tahoma" pitchFamily="34" charset="0"/>
                <a:cs typeface="Tahoma" pitchFamily="34" charset="0"/>
              </a:defRPr>
            </a:lvl1pPr>
            <a:lvl2pPr marL="742950" indent="-285750">
              <a:buFont typeface="Arial" pitchFamily="34" charset="0"/>
              <a:buChar char="•"/>
              <a:defRPr sz="1600"/>
            </a:lvl2pPr>
            <a:lvl3pPr marL="1143000" indent="-228600">
              <a:buFont typeface="Arial" pitchFamily="34" charset="0"/>
              <a:buChar char="•"/>
              <a:defRPr sz="1400"/>
            </a:lvl3pPr>
            <a:lvl4pPr marL="1600200" indent="-228600">
              <a:buFont typeface="Arial" pitchFamily="34" charset="0"/>
              <a:buChar char="•"/>
              <a:defRPr sz="1300"/>
            </a:lvl4pPr>
            <a:lvl5pPr marL="2057400" indent="-228600">
              <a:buFont typeface="Arial" pitchFamily="34" charset="0"/>
              <a:buChar char="•"/>
              <a:defRPr sz="13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itle 1"/>
          <p:cNvSpPr>
            <a:spLocks noGrp="1"/>
          </p:cNvSpPr>
          <p:nvPr>
            <p:ph type="ctrTitle"/>
          </p:nvPr>
        </p:nvSpPr>
        <p:spPr>
          <a:xfrm>
            <a:off x="381000" y="151418"/>
            <a:ext cx="11302999" cy="612648"/>
          </a:xfrm>
        </p:spPr>
        <p:txBody>
          <a:bodyPr>
            <a:normAutofit/>
          </a:bodyPr>
          <a:lstStyle>
            <a:lvl1pPr algn="l">
              <a:defRPr sz="2400" b="0">
                <a:latin typeface="Tahoma" pitchFamily="34" charset="0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/>
          <p:cNvCxnSpPr>
            <a:cxnSpLocks noChangeShapeType="1"/>
          </p:cNvCxnSpPr>
          <p:nvPr userDrawn="1"/>
        </p:nvCxnSpPr>
        <p:spPr bwMode="auto">
          <a:xfrm>
            <a:off x="381000" y="841689"/>
            <a:ext cx="11302999" cy="0"/>
          </a:xfrm>
          <a:prstGeom prst="line">
            <a:avLst/>
          </a:prstGeom>
          <a:noFill/>
          <a:ln w="22225">
            <a:solidFill>
              <a:srgbClr val="0F5E9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flSlideMaster.Title_and_ContentFooter">
            <a:extLst>
              <a:ext uri="{FF2B5EF4-FFF2-40B4-BE49-F238E27FC236}">
                <a16:creationId xmlns:a16="http://schemas.microsoft.com/office/drawing/2014/main" id="{F05F7EFF-3110-B928-68C2-871312C89898}"/>
              </a:ext>
            </a:extLst>
          </p:cNvPr>
          <p:cNvSpPr txBox="1"/>
          <p:nvPr userDrawn="1"/>
        </p:nvSpPr>
        <p:spPr>
          <a:xfrm>
            <a:off x="0" y="6537960"/>
            <a:ext cx="12192000" cy="22313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endParaRPr lang="en-US" sz="850" b="0" i="0" u="none" baseline="0">
              <a:solidFill>
                <a:srgbClr val="666666"/>
              </a:solidFill>
              <a:latin typeface="Microsoft Sans Serif" panose="020B0604020202020204" pitchFamily="34" charset="0"/>
            </a:endParaRPr>
          </a:p>
        </p:txBody>
      </p:sp>
      <p:sp>
        <p:nvSpPr>
          <p:cNvPr id="8" name="hlSlideMaster.Title_and_ContentHeader">
            <a:extLst>
              <a:ext uri="{FF2B5EF4-FFF2-40B4-BE49-F238E27FC236}">
                <a16:creationId xmlns:a16="http://schemas.microsoft.com/office/drawing/2014/main" id="{44F40F80-E77B-F084-C964-B32D14012E01}"/>
              </a:ext>
            </a:extLst>
          </p:cNvPr>
          <p:cNvSpPr txBox="1"/>
          <p:nvPr userDrawn="1"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859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892AA6-9341-EA9F-B7D4-287FC0389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C46B7-5586-DDCA-0568-200B219A45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9547A2-342A-2BD1-C0EC-9704E35C0D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D170-5168-B6B7-C383-0381F79340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0C7B2-DEB6-C941-D77B-010A348EF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636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9AB31-8040-8323-B077-BC801A1BA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1E6319-EB59-2F14-7917-A039812DBC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22902" y="6492875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F4CBB14-5163-3CAF-43FE-009FFE315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6835" y="2673753"/>
            <a:ext cx="9387069" cy="1626574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Results and observations for </a:t>
            </a:r>
            <a:r>
              <a:rPr lang="en-US" b="1" dirty="0"/>
              <a:t>temperature-dependent</a:t>
            </a:r>
            <a:r>
              <a:rPr lang="en-US" dirty="0"/>
              <a:t> MMTO</a:t>
            </a:r>
            <a:br>
              <a:rPr lang="en-US" dirty="0"/>
            </a:br>
            <a:r>
              <a:rPr lang="en-US" dirty="0"/>
              <a:t>(both linear and non-linear scenarios)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See MMTO_TempDependent_main.py</a:t>
            </a:r>
          </a:p>
        </p:txBody>
      </p:sp>
    </p:spTree>
    <p:extLst>
      <p:ext uri="{BB962C8B-B14F-4D97-AF65-F5344CB8AC3E}">
        <p14:creationId xmlns:p14="http://schemas.microsoft.com/office/powerpoint/2010/main" val="35171579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17E4E-F9CF-332D-B426-98BB3C230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B25F00-855C-9993-40CE-A5DE1ABABA1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22902" y="6492875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E8DFDD62-0E32-6E82-BD12-06D9825F4B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Material: </a:t>
            </a:r>
            <a:r>
              <a:rPr lang="en-US" dirty="0" err="1"/>
              <a:t>DataVaryingTemperature</a:t>
            </a:r>
            <a:r>
              <a:rPr lang="en-US" dirty="0"/>
              <a:t>/3MaterialsTempDependent.xlsx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6006D1-AB20-2C9B-E484-CD43DE025578}"/>
              </a:ext>
            </a:extLst>
          </p:cNvPr>
          <p:cNvSpPr txBox="1"/>
          <p:nvPr/>
        </p:nvSpPr>
        <p:spPr>
          <a:xfrm>
            <a:off x="24642" y="961000"/>
            <a:ext cx="17994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3 materials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16 attributes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D74625-E3BD-660B-9C75-D2CE4C4F84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72" y="3250863"/>
            <a:ext cx="3802827" cy="2804743"/>
          </a:xfrm>
          <a:prstGeom prst="rect">
            <a:avLst/>
          </a:prstGeom>
        </p:spPr>
      </p:pic>
      <p:sp>
        <p:nvSpPr>
          <p:cNvPr id="16" name="Right Brace 15">
            <a:extLst>
              <a:ext uri="{FF2B5EF4-FFF2-40B4-BE49-F238E27FC236}">
                <a16:creationId xmlns:a16="http://schemas.microsoft.com/office/drawing/2014/main" id="{66030CC5-EC78-D6F5-392D-BAB555B69B80}"/>
              </a:ext>
            </a:extLst>
          </p:cNvPr>
          <p:cNvSpPr/>
          <p:nvPr/>
        </p:nvSpPr>
        <p:spPr>
          <a:xfrm rot="16200000">
            <a:off x="3772046" y="534318"/>
            <a:ext cx="291537" cy="222277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C130244-6D8E-6EAB-B374-307626F75635}"/>
              </a:ext>
            </a:extLst>
          </p:cNvPr>
          <p:cNvSpPr txBox="1"/>
          <p:nvPr/>
        </p:nvSpPr>
        <p:spPr>
          <a:xfrm>
            <a:off x="3103123" y="1029807"/>
            <a:ext cx="158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Captures E(T)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2FB0BB55-51E5-FC9B-BB1A-1C1759A8AB45}"/>
              </a:ext>
            </a:extLst>
          </p:cNvPr>
          <p:cNvSpPr/>
          <p:nvPr/>
        </p:nvSpPr>
        <p:spPr>
          <a:xfrm rot="16200000">
            <a:off x="6245393" y="477012"/>
            <a:ext cx="291537" cy="222277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BF8393-334A-C96E-98D3-409900BC09E6}"/>
              </a:ext>
            </a:extLst>
          </p:cNvPr>
          <p:cNvSpPr txBox="1"/>
          <p:nvPr/>
        </p:nvSpPr>
        <p:spPr>
          <a:xfrm>
            <a:off x="5576470" y="972501"/>
            <a:ext cx="158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Captures Y(T)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C37343C6-A368-01AD-493B-D27ACAA88BE5}"/>
              </a:ext>
            </a:extLst>
          </p:cNvPr>
          <p:cNvSpPr/>
          <p:nvPr/>
        </p:nvSpPr>
        <p:spPr>
          <a:xfrm rot="16200000">
            <a:off x="8667608" y="435857"/>
            <a:ext cx="291537" cy="222277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5D70B3-4D0B-B99D-D6C8-D31495338AB5}"/>
              </a:ext>
            </a:extLst>
          </p:cNvPr>
          <p:cNvSpPr txBox="1"/>
          <p:nvPr/>
        </p:nvSpPr>
        <p:spPr>
          <a:xfrm>
            <a:off x="8020210" y="914833"/>
            <a:ext cx="158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Captures K(T)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F60A53-8E79-A4A0-F47E-0846BF567619}"/>
              </a:ext>
            </a:extLst>
          </p:cNvPr>
          <p:cNvSpPr txBox="1"/>
          <p:nvPr/>
        </p:nvSpPr>
        <p:spPr>
          <a:xfrm>
            <a:off x="9996303" y="999372"/>
            <a:ext cx="11963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Max use temp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7B9ECC18-B429-B495-CA1D-C7E9E77E2B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7544" y="3107978"/>
            <a:ext cx="4031489" cy="303366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722B7A2-53FF-844F-92BB-8CE1AFACBF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6109" y="3069829"/>
            <a:ext cx="4163357" cy="31668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6B30ECE-F9AB-2F82-B564-BF04EC403F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3501" y="1829317"/>
            <a:ext cx="12192000" cy="99068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69E3B27-6150-1276-EF74-EB2A21E941FE}"/>
              </a:ext>
            </a:extLst>
          </p:cNvPr>
          <p:cNvSpPr txBox="1"/>
          <p:nvPr/>
        </p:nvSpPr>
        <p:spPr>
          <a:xfrm>
            <a:off x="1530698" y="2881531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E(T)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F2E598-FFCD-DA8C-BF45-D2D7E54D9345}"/>
              </a:ext>
            </a:extLst>
          </p:cNvPr>
          <p:cNvSpPr txBox="1"/>
          <p:nvPr/>
        </p:nvSpPr>
        <p:spPr>
          <a:xfrm>
            <a:off x="5737625" y="277816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Y(T)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0EE723-EA9E-F37D-E9FF-0D923ECCE86D}"/>
              </a:ext>
            </a:extLst>
          </p:cNvPr>
          <p:cNvSpPr txBox="1"/>
          <p:nvPr/>
        </p:nvSpPr>
        <p:spPr>
          <a:xfrm>
            <a:off x="9900982" y="2870257"/>
            <a:ext cx="580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K(T)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4D32C4-4E52-DEDD-CDB3-D97E03103824}"/>
              </a:ext>
            </a:extLst>
          </p:cNvPr>
          <p:cNvSpPr txBox="1"/>
          <p:nvPr/>
        </p:nvSpPr>
        <p:spPr>
          <a:xfrm>
            <a:off x="222645" y="6213772"/>
            <a:ext cx="117467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A steep drop in E and Y dissuades the optimizer from using 7068 Al at high temperatures</a:t>
            </a:r>
          </a:p>
        </p:txBody>
      </p:sp>
    </p:spTree>
    <p:extLst>
      <p:ext uri="{BB962C8B-B14F-4D97-AF65-F5344CB8AC3E}">
        <p14:creationId xmlns:p14="http://schemas.microsoft.com/office/powerpoint/2010/main" val="7281018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1559E-5A41-81E3-3708-79648CE5D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9F2DA8-BD79-62E1-04D5-8755ACD3B53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22902" y="6492875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4B39436-CCB4-D1E2-0C9F-A62C609D48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Latent Space Accuracy</a:t>
            </a:r>
          </a:p>
        </p:txBody>
      </p:sp>
    </p:spTree>
    <p:extLst>
      <p:ext uri="{BB962C8B-B14F-4D97-AF65-F5344CB8AC3E}">
        <p14:creationId xmlns:p14="http://schemas.microsoft.com/office/powerpoint/2010/main" val="1761236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382EE-4DD5-AC3C-34AD-39EFBF945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7DE274-243D-0CA6-5AFC-F37C1AC1AB2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129175" y="5613199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EEBC48CA-9DFD-1F0A-F5DF-5365B2644C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Sample Latent Spaces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2E8DE8-EF3A-D09D-520F-91EFB053D7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01335"/>
            <a:ext cx="5557772" cy="457698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59D887D-872F-9BE8-3502-B1C72D872558}"/>
              </a:ext>
            </a:extLst>
          </p:cNvPr>
          <p:cNvSpPr txBox="1"/>
          <p:nvPr/>
        </p:nvSpPr>
        <p:spPr>
          <a:xfrm>
            <a:off x="1909241" y="984307"/>
            <a:ext cx="24227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E0 Latent Space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2D43E05-388B-66E1-AAC3-F9CC778EC4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5924" y="1401334"/>
            <a:ext cx="5646502" cy="457698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B251CDC-CC67-8B66-AEDE-74E6B29C8127}"/>
              </a:ext>
            </a:extLst>
          </p:cNvPr>
          <p:cNvSpPr txBox="1"/>
          <p:nvPr/>
        </p:nvSpPr>
        <p:spPr>
          <a:xfrm>
            <a:off x="7672590" y="967775"/>
            <a:ext cx="24227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E1 Latent Space</a:t>
            </a:r>
          </a:p>
        </p:txBody>
      </p:sp>
    </p:spTree>
    <p:extLst>
      <p:ext uri="{BB962C8B-B14F-4D97-AF65-F5344CB8AC3E}">
        <p14:creationId xmlns:p14="http://schemas.microsoft.com/office/powerpoint/2010/main" val="1096257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82AB9-3C4F-7EE5-5414-906B02184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09EF4D-F594-919E-C850-C770ACF712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37958ED7-7E4D-A9FF-1BDC-2E023AB756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1a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285D25-A985-5F79-194C-F342A5E87DEA}"/>
              </a:ext>
            </a:extLst>
          </p:cNvPr>
          <p:cNvSpPr txBox="1"/>
          <p:nvPr/>
        </p:nvSpPr>
        <p:spPr>
          <a:xfrm>
            <a:off x="381000" y="1104606"/>
            <a:ext cx="8052071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MMTOTempDependentExamples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LBracket_Compliance_Mass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9A76F48-6B0E-BF15-85D6-79D1575DE589}"/>
              </a:ext>
            </a:extLst>
          </p:cNvPr>
          <p:cNvSpPr txBox="1"/>
          <p:nvPr/>
        </p:nvSpPr>
        <p:spPr>
          <a:xfrm>
            <a:off x="381000" y="1368141"/>
            <a:ext cx="6515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Linear thermal (i.e., conductivity is assumed to be constant = K0)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96B5933-0563-6313-25EC-F1F1DC93A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0370" y="4737244"/>
            <a:ext cx="2743200" cy="203097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CB43CEA-93F3-A280-0660-1EB86E6954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187" y="1961714"/>
            <a:ext cx="3214921" cy="235238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F40E77D-07BD-0483-F644-37F7F16352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0" y="1961714"/>
            <a:ext cx="3293620" cy="252968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220A3F1-8DB0-098B-2690-BF138F3354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4795570"/>
            <a:ext cx="4385553" cy="957164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4DD3BB6-6D16-E781-8AD2-DA5228FB212E}"/>
              </a:ext>
            </a:extLst>
          </p:cNvPr>
          <p:cNvSpPr txBox="1"/>
          <p:nvPr/>
        </p:nvSpPr>
        <p:spPr>
          <a:xfrm>
            <a:off x="5155791" y="4938227"/>
            <a:ext cx="2038210" cy="671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0 elements exceed temperature limit</a:t>
            </a:r>
          </a:p>
        </p:txBody>
      </p:sp>
    </p:spTree>
    <p:extLst>
      <p:ext uri="{BB962C8B-B14F-4D97-AF65-F5344CB8AC3E}">
        <p14:creationId xmlns:p14="http://schemas.microsoft.com/office/powerpoint/2010/main" val="10358530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0E5B6-73C4-DB31-5AC8-8490CB74A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1026F2-ED68-E585-2ECC-9A371200A67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A0AC8653-9B97-4272-51EE-A9FE4436B2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1b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D080C5-F77D-60E1-CDA0-738478DFE126}"/>
              </a:ext>
            </a:extLst>
          </p:cNvPr>
          <p:cNvSpPr txBox="1"/>
          <p:nvPr/>
        </p:nvSpPr>
        <p:spPr>
          <a:xfrm>
            <a:off x="381000" y="1025481"/>
            <a:ext cx="8052071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MMTOTempDependentExamples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LBracket_Compliance_Mass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436832-3398-91A7-55C7-B41E1A8105CA}"/>
              </a:ext>
            </a:extLst>
          </p:cNvPr>
          <p:cNvSpPr txBox="1"/>
          <p:nvPr/>
        </p:nvSpPr>
        <p:spPr>
          <a:xfrm>
            <a:off x="381000" y="1410012"/>
            <a:ext cx="6270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Non-Linear thermal (i.e., conductivity is also temp dependent)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5E4870-5E88-1C40-8FEF-63CCE119DD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5101" y="2060472"/>
            <a:ext cx="3628571" cy="226666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32ED7E6-D958-5901-1F0C-79937CE090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189" y="5078657"/>
            <a:ext cx="4885714" cy="111428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5B34008-87E6-092F-C64D-D801468B6FA8}"/>
              </a:ext>
            </a:extLst>
          </p:cNvPr>
          <p:cNvSpPr txBox="1"/>
          <p:nvPr/>
        </p:nvSpPr>
        <p:spPr>
          <a:xfrm>
            <a:off x="167178" y="6362302"/>
            <a:ext cx="4523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Non-linear adds 30% to computational time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9FE24F-0B15-1941-28E3-0A8C630FD278}"/>
              </a:ext>
            </a:extLst>
          </p:cNvPr>
          <p:cNvSpPr txBox="1"/>
          <p:nvPr/>
        </p:nvSpPr>
        <p:spPr>
          <a:xfrm>
            <a:off x="5580432" y="4989469"/>
            <a:ext cx="22179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0 elements exceed temperature limit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A054D95-3891-CBD5-4B07-7FB36FC5EF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87" y="2125440"/>
            <a:ext cx="3514286" cy="24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619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82D2B-2DDB-23E2-B36A-89826C202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A3B781-456A-6E2A-7EE7-C7D9BBA723E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0A365960-1B7A-D298-8F24-088EF488F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2a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30FB44-1DFB-BA1F-AA88-38EC239EF060}"/>
              </a:ext>
            </a:extLst>
          </p:cNvPr>
          <p:cNvSpPr txBox="1"/>
          <p:nvPr/>
        </p:nvSpPr>
        <p:spPr>
          <a:xfrm>
            <a:off x="381000" y="1368141"/>
            <a:ext cx="6515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Linear thermal (i.e., conductivity is assumed to be constant = K0)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BDD72D-C275-464B-4100-B7D915AF1542}"/>
              </a:ext>
            </a:extLst>
          </p:cNvPr>
          <p:cNvSpPr txBox="1"/>
          <p:nvPr/>
        </p:nvSpPr>
        <p:spPr>
          <a:xfrm>
            <a:off x="5993360" y="4907395"/>
            <a:ext cx="22179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0 elements exceed temperature limit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475156-FD84-949B-31CB-C787277FC634}"/>
              </a:ext>
            </a:extLst>
          </p:cNvPr>
          <p:cNvSpPr txBox="1"/>
          <p:nvPr/>
        </p:nvSpPr>
        <p:spPr>
          <a:xfrm>
            <a:off x="381000" y="986944"/>
            <a:ext cx="8636810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MMTOTempDependentExamples</a:t>
            </a:r>
            <a:r>
              <a:rPr lang="en-US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LBracket_Compliance_MassCriticality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5A0585-85A6-D6F2-4688-14E6446A7E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4571" y="2319033"/>
            <a:ext cx="3542857" cy="218095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20F1FC-5604-94A3-61AC-2D7EB0D17D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57" y="2319476"/>
            <a:ext cx="2933333" cy="221904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BFB1AAD-D6AC-1042-E64B-3DF8BFE6E0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307" y="4747567"/>
            <a:ext cx="4952381" cy="131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5835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FD678-47D5-F04C-7996-4B1B8BB28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771A68-6AF9-9A97-A304-5E7B66DC407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D4C9DFB8-A8BC-AE0C-4996-4B6AEC8F6E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2b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A5F99DF-8559-9CE2-98FD-31F11569E87A}"/>
              </a:ext>
            </a:extLst>
          </p:cNvPr>
          <p:cNvSpPr txBox="1"/>
          <p:nvPr/>
        </p:nvSpPr>
        <p:spPr>
          <a:xfrm>
            <a:off x="5993360" y="4907395"/>
            <a:ext cx="22179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0 elements exceed temperature limit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5033E9-AC60-3CC8-DA1A-461160D5224B}"/>
              </a:ext>
            </a:extLst>
          </p:cNvPr>
          <p:cNvSpPr txBox="1"/>
          <p:nvPr/>
        </p:nvSpPr>
        <p:spPr>
          <a:xfrm>
            <a:off x="381000" y="986944"/>
            <a:ext cx="8636810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MMTOTempDependentExamples</a:t>
            </a:r>
            <a:r>
              <a:rPr lang="en-US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LBracket_Compliance_MassCriticality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B9A661-874C-1344-7183-8305226E3876}"/>
              </a:ext>
            </a:extLst>
          </p:cNvPr>
          <p:cNvSpPr txBox="1"/>
          <p:nvPr/>
        </p:nvSpPr>
        <p:spPr>
          <a:xfrm>
            <a:off x="381000" y="1410012"/>
            <a:ext cx="6270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Non-Linear thermal (i.e., conductivity is also temp dependent)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5CE1415-A9C0-F61B-EA21-FBC7003A0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405" y="2172979"/>
            <a:ext cx="3238095" cy="218095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C26DEF8-70E8-7124-20D4-A48D770AA4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4747566"/>
            <a:ext cx="4971429" cy="127619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0AFBD22-25B8-E7FF-0130-3394F6B66C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480" y="2303129"/>
            <a:ext cx="3228571" cy="224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0927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49253-AEA9-67B5-7D19-B2C1BB068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B7B17F-8035-E4F7-C010-3ED32FE0FAA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22902" y="6324259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62888050-E696-26FD-B07D-F1DA9562F8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Material: </a:t>
            </a:r>
            <a:r>
              <a:rPr lang="en-US" dirty="0" err="1"/>
              <a:t>DataVaryingTemperature</a:t>
            </a:r>
            <a:r>
              <a:rPr lang="en-US" dirty="0"/>
              <a:t>/6MaterialsTempDependent.xlsx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0ED8D1-99BC-7818-9F7A-DFBDB02CF5EF}"/>
              </a:ext>
            </a:extLst>
          </p:cNvPr>
          <p:cNvSpPr txBox="1"/>
          <p:nvPr/>
        </p:nvSpPr>
        <p:spPr>
          <a:xfrm>
            <a:off x="24642" y="961000"/>
            <a:ext cx="17994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6 materials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16 attributes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58068B97-87D4-4A02-9E03-C600E07AF89F}"/>
              </a:ext>
            </a:extLst>
          </p:cNvPr>
          <p:cNvSpPr/>
          <p:nvPr/>
        </p:nvSpPr>
        <p:spPr>
          <a:xfrm rot="16200000">
            <a:off x="3772046" y="534318"/>
            <a:ext cx="291537" cy="222277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4B1A05-7F71-AA83-6ABC-3C5985FFB818}"/>
              </a:ext>
            </a:extLst>
          </p:cNvPr>
          <p:cNvSpPr txBox="1"/>
          <p:nvPr/>
        </p:nvSpPr>
        <p:spPr>
          <a:xfrm>
            <a:off x="3103123" y="1029807"/>
            <a:ext cx="158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Captures E(T)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4D656828-AE42-1718-779A-16C9DA2FF029}"/>
              </a:ext>
            </a:extLst>
          </p:cNvPr>
          <p:cNvSpPr/>
          <p:nvPr/>
        </p:nvSpPr>
        <p:spPr>
          <a:xfrm rot="16200000">
            <a:off x="6245393" y="477012"/>
            <a:ext cx="291537" cy="222277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F245A9-FB9A-4C44-C85A-FB8629814DF0}"/>
              </a:ext>
            </a:extLst>
          </p:cNvPr>
          <p:cNvSpPr txBox="1"/>
          <p:nvPr/>
        </p:nvSpPr>
        <p:spPr>
          <a:xfrm>
            <a:off x="5576470" y="972501"/>
            <a:ext cx="158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Captures Y(T)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5FED8EE8-78C4-0E90-327F-6D7D569DB13E}"/>
              </a:ext>
            </a:extLst>
          </p:cNvPr>
          <p:cNvSpPr/>
          <p:nvPr/>
        </p:nvSpPr>
        <p:spPr>
          <a:xfrm rot="16200000">
            <a:off x="8667608" y="435857"/>
            <a:ext cx="291537" cy="222277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3F983C1-395F-3C60-C404-5676E59B8473}"/>
              </a:ext>
            </a:extLst>
          </p:cNvPr>
          <p:cNvSpPr txBox="1"/>
          <p:nvPr/>
        </p:nvSpPr>
        <p:spPr>
          <a:xfrm>
            <a:off x="7898963" y="949579"/>
            <a:ext cx="158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Captures K(T)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9F7D6D7-E693-BE95-D627-90893EB94657}"/>
              </a:ext>
            </a:extLst>
          </p:cNvPr>
          <p:cNvSpPr txBox="1"/>
          <p:nvPr/>
        </p:nvSpPr>
        <p:spPr>
          <a:xfrm>
            <a:off x="10995602" y="949579"/>
            <a:ext cx="11963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Max use temp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15DBC0-0AB0-A837-BDD3-240E55810F82}"/>
              </a:ext>
            </a:extLst>
          </p:cNvPr>
          <p:cNvSpPr txBox="1"/>
          <p:nvPr/>
        </p:nvSpPr>
        <p:spPr>
          <a:xfrm>
            <a:off x="1540878" y="3059668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E(T)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22779E-0F4E-2584-B52E-67D25D8CD809}"/>
              </a:ext>
            </a:extLst>
          </p:cNvPr>
          <p:cNvSpPr txBox="1"/>
          <p:nvPr/>
        </p:nvSpPr>
        <p:spPr>
          <a:xfrm>
            <a:off x="5747805" y="2956306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Y(T)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8F3E0C-72D5-CC2B-09F4-E8F730FCDA0B}"/>
              </a:ext>
            </a:extLst>
          </p:cNvPr>
          <p:cNvSpPr txBox="1"/>
          <p:nvPr/>
        </p:nvSpPr>
        <p:spPr>
          <a:xfrm>
            <a:off x="9711608" y="2875002"/>
            <a:ext cx="580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K(T)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2A7799-E665-0508-BE78-D4901CF48F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2" y="1775947"/>
            <a:ext cx="12103856" cy="158077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13809F-4498-5EAF-F9EA-F94B0360D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2" y="3647813"/>
            <a:ext cx="3654614" cy="2734878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BCCB6B6-FFB1-5071-636F-C3A8D22E4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9255" y="3620448"/>
            <a:ext cx="3833136" cy="285478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ABFA5E3-FCE2-CF50-B0C4-9FE5951987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2903" y="3706549"/>
            <a:ext cx="3649097" cy="27489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00D2D26-B40A-E28E-423D-3A364FD24728}"/>
              </a:ext>
            </a:extLst>
          </p:cNvPr>
          <p:cNvSpPr txBox="1"/>
          <p:nvPr/>
        </p:nvSpPr>
        <p:spPr>
          <a:xfrm>
            <a:off x="1205909" y="3394218"/>
            <a:ext cx="158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Captures E(T)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88D4E65-5114-DE2F-5AE4-ED27E3FD0BDE}"/>
              </a:ext>
            </a:extLst>
          </p:cNvPr>
          <p:cNvSpPr txBox="1"/>
          <p:nvPr/>
        </p:nvSpPr>
        <p:spPr>
          <a:xfrm>
            <a:off x="5239332" y="3356724"/>
            <a:ext cx="158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Captures Y(T)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91C929C-3CDD-462E-1684-A2022C0898F0}"/>
              </a:ext>
            </a:extLst>
          </p:cNvPr>
          <p:cNvSpPr txBox="1"/>
          <p:nvPr/>
        </p:nvSpPr>
        <p:spPr>
          <a:xfrm>
            <a:off x="9924762" y="3368145"/>
            <a:ext cx="158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Captures K(T)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EBA44B-D5D6-03D0-6327-A6C9D7C2EFEB}"/>
              </a:ext>
            </a:extLst>
          </p:cNvPr>
          <p:cNvSpPr txBox="1"/>
          <p:nvPr/>
        </p:nvSpPr>
        <p:spPr>
          <a:xfrm>
            <a:off x="781742" y="6441123"/>
            <a:ext cx="9932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A steep drop in E and Y dissuades the optimizer from using some materials at high temperatures</a:t>
            </a:r>
          </a:p>
        </p:txBody>
      </p:sp>
    </p:spTree>
    <p:extLst>
      <p:ext uri="{BB962C8B-B14F-4D97-AF65-F5344CB8AC3E}">
        <p14:creationId xmlns:p14="http://schemas.microsoft.com/office/powerpoint/2010/main" val="13396676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AFA08-09AB-0730-4B62-80D6DF181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9E6A686-1423-F9E8-FA50-5BD76CD0E1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E6D629A3-E080-0512-7AA9-6E2990D4B2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Latent Space Accuracy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BC7E963-4A72-D9D0-E235-ECC14336A0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989764"/>
            <a:ext cx="5506883" cy="574187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AA96BCA-0943-40C9-9D78-D4B6129A4AAD}"/>
              </a:ext>
            </a:extLst>
          </p:cNvPr>
          <p:cNvSpPr txBox="1"/>
          <p:nvPr/>
        </p:nvSpPr>
        <p:spPr>
          <a:xfrm>
            <a:off x="6998181" y="2938302"/>
            <a:ext cx="33142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All attribute reconstruction errors are less than 0.1%</a:t>
            </a:r>
          </a:p>
        </p:txBody>
      </p:sp>
    </p:spTree>
    <p:extLst>
      <p:ext uri="{BB962C8B-B14F-4D97-AF65-F5344CB8AC3E}">
        <p14:creationId xmlns:p14="http://schemas.microsoft.com/office/powerpoint/2010/main" val="13540793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8C716-A279-FE58-C315-E8F688C67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1DC64E-D59B-B022-5E59-2DAF65548B4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66AF962D-7AD7-0F67-D54C-64AC542BE9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Sample Latent Spaces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57D66F-B187-024F-CE3B-38B3025B62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214" y="1362181"/>
            <a:ext cx="6326465" cy="51402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0B26563-04CD-FF0C-6110-03FEB2294280}"/>
              </a:ext>
            </a:extLst>
          </p:cNvPr>
          <p:cNvSpPr txBox="1"/>
          <p:nvPr/>
        </p:nvSpPr>
        <p:spPr>
          <a:xfrm>
            <a:off x="3146205" y="1070240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E0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71EF97D-71F2-0C65-8B22-E357F0D55C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9679" y="1362181"/>
            <a:ext cx="5732321" cy="484616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679D8DD-F5ED-9395-7CD0-613317794465}"/>
              </a:ext>
            </a:extLst>
          </p:cNvPr>
          <p:cNvSpPr txBox="1"/>
          <p:nvPr/>
        </p:nvSpPr>
        <p:spPr>
          <a:xfrm>
            <a:off x="8909211" y="1131348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E1</a:t>
            </a:r>
          </a:p>
        </p:txBody>
      </p:sp>
    </p:spTree>
    <p:extLst>
      <p:ext uri="{BB962C8B-B14F-4D97-AF65-F5344CB8AC3E}">
        <p14:creationId xmlns:p14="http://schemas.microsoft.com/office/powerpoint/2010/main" val="1864581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7251-FD65-CF96-53AA-76D502701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66B6DD-5118-41C8-E1CC-5AAD2BC4E1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3DFEC319-A7D3-F90A-265C-4E07813FB1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5a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7F105B-DE88-CE40-8FB9-4F898B88E619}"/>
              </a:ext>
            </a:extLst>
          </p:cNvPr>
          <p:cNvSpPr txBox="1"/>
          <p:nvPr/>
        </p:nvSpPr>
        <p:spPr>
          <a:xfrm>
            <a:off x="280685" y="1330201"/>
            <a:ext cx="16770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Linear thermal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98E942-6ADF-4E77-06A8-C4E4CB71DAD1}"/>
              </a:ext>
            </a:extLst>
          </p:cNvPr>
          <p:cNvSpPr txBox="1"/>
          <p:nvPr/>
        </p:nvSpPr>
        <p:spPr>
          <a:xfrm>
            <a:off x="280685" y="1037150"/>
            <a:ext cx="8319303" cy="267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200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MMTOTempDependentExamples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BliskSection_Compliance_MassCost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B49620D-81F9-85CC-5B32-7E38635493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375" y="2113786"/>
            <a:ext cx="3183038" cy="233484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D022C4C-ADCA-6454-BE78-25D90ABC65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996" y="4966639"/>
            <a:ext cx="5349704" cy="119644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11655AC-A191-762A-F534-67D441C7A6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996" y="1959029"/>
            <a:ext cx="3945529" cy="271222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A57D98B-2362-BD19-E478-22F4DB1184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5036" y="2010409"/>
            <a:ext cx="3838337" cy="260946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129ED78-EDB8-FAF2-65C7-0067A331041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0879" y="4511256"/>
            <a:ext cx="3183039" cy="234674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D6F3D9F-2F00-BBA9-3C73-81880A4905A8}"/>
              </a:ext>
            </a:extLst>
          </p:cNvPr>
          <p:cNvSpPr txBox="1"/>
          <p:nvPr/>
        </p:nvSpPr>
        <p:spPr>
          <a:xfrm>
            <a:off x="902825" y="1863524"/>
            <a:ext cx="1874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Young’s modulus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D913C89-11A7-E09E-67EE-63F4FB60D95B}"/>
              </a:ext>
            </a:extLst>
          </p:cNvPr>
          <p:cNvSpPr txBox="1"/>
          <p:nvPr/>
        </p:nvSpPr>
        <p:spPr>
          <a:xfrm>
            <a:off x="9361994" y="1728457"/>
            <a:ext cx="1618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 Use Temp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27C177-3A1B-BD40-28A2-6DDBD3EA675C}"/>
              </a:ext>
            </a:extLst>
          </p:cNvPr>
          <p:cNvSpPr txBox="1"/>
          <p:nvPr/>
        </p:nvSpPr>
        <p:spPr>
          <a:xfrm>
            <a:off x="5155130" y="1774363"/>
            <a:ext cx="1438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Temperature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80904AD-16F8-9235-4AA1-D61458C26FF7}"/>
              </a:ext>
            </a:extLst>
          </p:cNvPr>
          <p:cNvSpPr txBox="1"/>
          <p:nvPr/>
        </p:nvSpPr>
        <p:spPr>
          <a:xfrm>
            <a:off x="5685100" y="5274370"/>
            <a:ext cx="30672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0.2% elements exceed temperature limit (additional filtering needed)</a:t>
            </a:r>
          </a:p>
        </p:txBody>
      </p:sp>
    </p:spTree>
    <p:extLst>
      <p:ext uri="{BB962C8B-B14F-4D97-AF65-F5344CB8AC3E}">
        <p14:creationId xmlns:p14="http://schemas.microsoft.com/office/powerpoint/2010/main" val="11740466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20926-E43A-C426-BABD-84F2FFD18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FED218-251E-7502-CF75-A4983F0E4C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1A7B5990-846F-BCE8-1113-C451659A41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5b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5A414E-6D77-E3B9-D429-7F3E8E4D0180}"/>
              </a:ext>
            </a:extLst>
          </p:cNvPr>
          <p:cNvSpPr txBox="1"/>
          <p:nvPr/>
        </p:nvSpPr>
        <p:spPr>
          <a:xfrm>
            <a:off x="280685" y="1330201"/>
            <a:ext cx="20938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highlight>
                  <a:srgbClr val="FFFF00"/>
                </a:highlight>
              </a:rPr>
              <a:t>NonLinear</a:t>
            </a:r>
            <a:r>
              <a:rPr lang="en-US" dirty="0">
                <a:highlight>
                  <a:srgbClr val="FFFF00"/>
                </a:highlight>
              </a:rPr>
              <a:t> thermal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CAA858-9806-CE4B-20D1-6F60BBDB2211}"/>
              </a:ext>
            </a:extLst>
          </p:cNvPr>
          <p:cNvSpPr txBox="1"/>
          <p:nvPr/>
        </p:nvSpPr>
        <p:spPr>
          <a:xfrm>
            <a:off x="280685" y="1037150"/>
            <a:ext cx="8319303" cy="267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200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MMTOTempDependentExamples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BliskSection_Compliance_MassCost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0AA497-B07E-3C9C-F2BA-B5E4F98EB349}"/>
              </a:ext>
            </a:extLst>
          </p:cNvPr>
          <p:cNvSpPr txBox="1"/>
          <p:nvPr/>
        </p:nvSpPr>
        <p:spPr>
          <a:xfrm>
            <a:off x="902825" y="1863524"/>
            <a:ext cx="1874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Young’s modulus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8C5E9D-5092-117B-E5DA-F1F66BF72AC7}"/>
              </a:ext>
            </a:extLst>
          </p:cNvPr>
          <p:cNvSpPr txBox="1"/>
          <p:nvPr/>
        </p:nvSpPr>
        <p:spPr>
          <a:xfrm>
            <a:off x="9382375" y="1838162"/>
            <a:ext cx="1618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 Use Temp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D1DDFC-05E7-94EB-9558-A3DCF3B8DC10}"/>
              </a:ext>
            </a:extLst>
          </p:cNvPr>
          <p:cNvSpPr txBox="1"/>
          <p:nvPr/>
        </p:nvSpPr>
        <p:spPr>
          <a:xfrm>
            <a:off x="5155130" y="1774363"/>
            <a:ext cx="1438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Temperature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C15286-C717-66F6-979F-216BA3971860}"/>
              </a:ext>
            </a:extLst>
          </p:cNvPr>
          <p:cNvSpPr txBox="1"/>
          <p:nvPr/>
        </p:nvSpPr>
        <p:spPr>
          <a:xfrm>
            <a:off x="8463667" y="1128032"/>
            <a:ext cx="36974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0.2% elements exceed temperature limit (additional filtering needed)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E04258-C4F8-2F01-1CE9-C1E0707704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988" y="2201155"/>
            <a:ext cx="3183039" cy="22264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6D8394-9B93-D752-4F8D-216BB20518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685" y="4970774"/>
            <a:ext cx="5326842" cy="12269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78F6A04-6A75-36E5-9D6B-F097C83F7A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039" y="2258783"/>
            <a:ext cx="3804977" cy="267797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946DC00-6D5A-0ED8-2792-5400537201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8881" y="2143695"/>
            <a:ext cx="3609683" cy="277623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76306AC-9E68-7441-E89D-396F9E1ED4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9988" y="4294298"/>
            <a:ext cx="3501989" cy="256370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19093C6-238C-7668-A03D-2BCC7093BCE5}"/>
              </a:ext>
            </a:extLst>
          </p:cNvPr>
          <p:cNvSpPr txBox="1"/>
          <p:nvPr/>
        </p:nvSpPr>
        <p:spPr>
          <a:xfrm>
            <a:off x="167188" y="6259403"/>
            <a:ext cx="65587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Non-linear MMTO with 130,000 degrees of freedom in 22 mins   </a:t>
            </a:r>
          </a:p>
        </p:txBody>
      </p:sp>
    </p:spTree>
    <p:extLst>
      <p:ext uri="{BB962C8B-B14F-4D97-AF65-F5344CB8AC3E}">
        <p14:creationId xmlns:p14="http://schemas.microsoft.com/office/powerpoint/2010/main" val="1454572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2925</TotalTime>
  <Words>393</Words>
  <Application>Microsoft Office PowerPoint</Application>
  <PresentationFormat>Widescreen</PresentationFormat>
  <Paragraphs>89</Paragraphs>
  <Slides>13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Aptos Display</vt:lpstr>
      <vt:lpstr>Arial</vt:lpstr>
      <vt:lpstr>Consolas</vt:lpstr>
      <vt:lpstr>Microsoft Sans Serif</vt:lpstr>
      <vt:lpstr>Tahoma</vt:lpstr>
      <vt:lpstr>Office Theme</vt:lpstr>
      <vt:lpstr>Results and observations for temperature-dependent MMTO (both linear and non-linear scenarios)  See MMTO_TempDependent_main.py</vt:lpstr>
      <vt:lpstr>Material: DataVaryingTemperature/3MaterialsTempDependent.xlsx</vt:lpstr>
      <vt:lpstr>Latent Space Accuracy</vt:lpstr>
      <vt:lpstr>Sample Latent Spaces</vt:lpstr>
      <vt:lpstr>Example 1a</vt:lpstr>
      <vt:lpstr>Example 1b</vt:lpstr>
      <vt:lpstr>Example 2a</vt:lpstr>
      <vt:lpstr>Example 2b</vt:lpstr>
      <vt:lpstr>Material: DataVaryingTemperature/6MaterialsTempDependent.xlsx</vt:lpstr>
      <vt:lpstr>Latent Space Accuracy</vt:lpstr>
      <vt:lpstr>Sample Latent Spaces</vt:lpstr>
      <vt:lpstr>Example 5a</vt:lpstr>
      <vt:lpstr>Example 5b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Gaurav Girish Deodhare</dc:creator>
  <cp:lastModifiedBy>Krishnan Suresh</cp:lastModifiedBy>
  <cp:revision>327</cp:revision>
  <dcterms:created xsi:type="dcterms:W3CDTF">2025-08-22T00:14:33Z</dcterms:created>
  <dcterms:modified xsi:type="dcterms:W3CDTF">2025-10-23T10:49:00Z</dcterms:modified>
</cp:coreProperties>
</file>